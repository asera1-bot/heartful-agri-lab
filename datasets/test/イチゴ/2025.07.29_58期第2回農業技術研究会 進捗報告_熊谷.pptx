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710" r:id="rId2"/>
    <p:sldMasterId id="2147483696" r:id="rId3"/>
    <p:sldMasterId id="2147483684" r:id="rId4"/>
  </p:sldMasterIdLst>
  <p:notesMasterIdLst>
    <p:notesMasterId r:id="rId30"/>
  </p:notesMasterIdLst>
  <p:sldIdLst>
    <p:sldId id="1012" r:id="rId5"/>
    <p:sldId id="1056" r:id="rId6"/>
    <p:sldId id="1148" r:id="rId7"/>
    <p:sldId id="1125" r:id="rId8"/>
    <p:sldId id="1119" r:id="rId9"/>
    <p:sldId id="1112" r:id="rId10"/>
    <p:sldId id="1115" r:id="rId11"/>
    <p:sldId id="1167" r:id="rId12"/>
    <p:sldId id="1116" r:id="rId13"/>
    <p:sldId id="1182" r:id="rId14"/>
    <p:sldId id="1178" r:id="rId15"/>
    <p:sldId id="1174" r:id="rId16"/>
    <p:sldId id="1179" r:id="rId17"/>
    <p:sldId id="1180" r:id="rId18"/>
    <p:sldId id="1176" r:id="rId19"/>
    <p:sldId id="1172" r:id="rId20"/>
    <p:sldId id="1181" r:id="rId21"/>
    <p:sldId id="1191" r:id="rId22"/>
    <p:sldId id="1188" r:id="rId23"/>
    <p:sldId id="1190" r:id="rId24"/>
    <p:sldId id="1189" r:id="rId25"/>
    <p:sldId id="1187" r:id="rId26"/>
    <p:sldId id="1183" r:id="rId27"/>
    <p:sldId id="1184" r:id="rId28"/>
    <p:sldId id="1185" r:id="rId29"/>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1" userDrawn="1">
          <p15:clr>
            <a:srgbClr val="A4A3A4"/>
          </p15:clr>
        </p15:guide>
        <p15:guide id="3" pos="3908" userDrawn="1">
          <p15:clr>
            <a:srgbClr val="A4A3A4"/>
          </p15:clr>
        </p15:guide>
        <p15:guide id="4" pos="7469" userDrawn="1">
          <p15:clr>
            <a:srgbClr val="A4A3A4"/>
          </p15:clr>
        </p15:guide>
        <p15:guide id="5" orient="horz" pos="4020" userDrawn="1">
          <p15:clr>
            <a:srgbClr val="A4A3A4"/>
          </p15:clr>
        </p15:guide>
        <p15:guide id="6" orient="horz" pos="2160" userDrawn="1">
          <p15:clr>
            <a:srgbClr val="A4A3A4"/>
          </p15:clr>
        </p15:guide>
        <p15:guide id="7" orient="horz" pos="3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粂川 正一" initials="粂川" lastIdx="1" clrIdx="0">
    <p:extLst>
      <p:ext uri="{19B8F6BF-5375-455C-9EA6-DF929625EA0E}">
        <p15:presenceInfo xmlns:p15="http://schemas.microsoft.com/office/powerpoint/2012/main" userId="ed2949f57973e97a" providerId="Windows Live"/>
      </p:ext>
    </p:extLst>
  </p:cmAuthor>
  <p:cmAuthor id="2" name="20060096" initials="2" lastIdx="1" clrIdx="1">
    <p:extLst>
      <p:ext uri="{19B8F6BF-5375-455C-9EA6-DF929625EA0E}">
        <p15:presenceInfo xmlns:p15="http://schemas.microsoft.com/office/powerpoint/2012/main" userId="2006009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33CCFF"/>
    <a:srgbClr val="0000FF"/>
    <a:srgbClr val="0033CC"/>
    <a:srgbClr val="FFCCFF"/>
    <a:srgbClr val="FFFFCC"/>
    <a:srgbClr val="CCFFFF"/>
    <a:srgbClr val="FFFF00"/>
    <a:srgbClr val="F3FBF9"/>
    <a:srgbClr val="FF9933"/>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88564" autoAdjust="0"/>
  </p:normalViewPr>
  <p:slideViewPr>
    <p:cSldViewPr snapToGrid="0">
      <p:cViewPr varScale="1">
        <p:scale>
          <a:sx n="65" d="100"/>
          <a:sy n="65" d="100"/>
        </p:scale>
        <p:origin x="956" y="60"/>
      </p:cViewPr>
      <p:guideLst>
        <p:guide pos="211"/>
        <p:guide pos="3908"/>
        <p:guide pos="7469"/>
        <p:guide orient="horz" pos="4020"/>
        <p:guide orient="horz" pos="2160"/>
        <p:guide orient="horz" pos="34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5" y="0"/>
            <a:ext cx="2919413" cy="495300"/>
          </a:xfrm>
          <a:prstGeom prst="rect">
            <a:avLst/>
          </a:prstGeom>
        </p:spPr>
        <p:txBody>
          <a:bodyPr vert="horz" lIns="91395" tIns="45698" rIns="91395" bIns="45698" rtlCol="0"/>
          <a:lstStyle>
            <a:lvl1pPr algn="l">
              <a:defRPr sz="1100"/>
            </a:lvl1pPr>
          </a:lstStyle>
          <a:p>
            <a:endParaRPr kumimoji="1" lang="ja-JP" altLang="en-US"/>
          </a:p>
        </p:txBody>
      </p:sp>
      <p:sp>
        <p:nvSpPr>
          <p:cNvPr id="3" name="日付プレースホルダー 2"/>
          <p:cNvSpPr>
            <a:spLocks noGrp="1"/>
          </p:cNvSpPr>
          <p:nvPr>
            <p:ph type="dt" idx="1"/>
          </p:nvPr>
        </p:nvSpPr>
        <p:spPr>
          <a:xfrm>
            <a:off x="3814763" y="0"/>
            <a:ext cx="2919412" cy="495300"/>
          </a:xfrm>
          <a:prstGeom prst="rect">
            <a:avLst/>
          </a:prstGeom>
        </p:spPr>
        <p:txBody>
          <a:bodyPr vert="horz" lIns="91395" tIns="45698" rIns="91395" bIns="45698" rtlCol="0"/>
          <a:lstStyle>
            <a:lvl1pPr algn="r">
              <a:defRPr sz="1100"/>
            </a:lvl1pPr>
          </a:lstStyle>
          <a:p>
            <a:fld id="{30314286-E8E3-4CA8-8B56-180245896C80}" type="datetimeFigureOut">
              <a:rPr kumimoji="1" lang="ja-JP" altLang="en-US" smtClean="0"/>
              <a:t>2025/9/9</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395" tIns="45698" rIns="91395" bIns="45698" rtlCol="0" anchor="ctr"/>
          <a:lstStyle/>
          <a:p>
            <a:endParaRPr lang="ja-JP" altLang="en-US"/>
          </a:p>
        </p:txBody>
      </p:sp>
      <p:sp>
        <p:nvSpPr>
          <p:cNvPr id="5" name="ノート プレースホルダー 4"/>
          <p:cNvSpPr>
            <a:spLocks noGrp="1"/>
          </p:cNvSpPr>
          <p:nvPr>
            <p:ph type="body" sz="quarter" idx="3"/>
          </p:nvPr>
        </p:nvSpPr>
        <p:spPr>
          <a:xfrm>
            <a:off x="673101" y="4748213"/>
            <a:ext cx="5389563" cy="3884612"/>
          </a:xfrm>
          <a:prstGeom prst="rect">
            <a:avLst/>
          </a:prstGeom>
        </p:spPr>
        <p:txBody>
          <a:bodyPr vert="horz" lIns="91395" tIns="45698" rIns="91395" bIns="4569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5" y="9371014"/>
            <a:ext cx="2919413" cy="495300"/>
          </a:xfrm>
          <a:prstGeom prst="rect">
            <a:avLst/>
          </a:prstGeom>
        </p:spPr>
        <p:txBody>
          <a:bodyPr vert="horz" lIns="91395" tIns="45698" rIns="91395" bIns="45698" rtlCol="0" anchor="b"/>
          <a:lstStyle>
            <a:lvl1pPr algn="l">
              <a:defRPr sz="1100"/>
            </a:lvl1pPr>
          </a:lstStyle>
          <a:p>
            <a:endParaRPr kumimoji="1" lang="ja-JP" altLang="en-US"/>
          </a:p>
        </p:txBody>
      </p:sp>
      <p:sp>
        <p:nvSpPr>
          <p:cNvPr id="7" name="スライド番号プレースホルダー 6"/>
          <p:cNvSpPr>
            <a:spLocks noGrp="1"/>
          </p:cNvSpPr>
          <p:nvPr>
            <p:ph type="sldNum" sz="quarter" idx="5"/>
          </p:nvPr>
        </p:nvSpPr>
        <p:spPr>
          <a:xfrm>
            <a:off x="3814763" y="9371014"/>
            <a:ext cx="2919412" cy="495300"/>
          </a:xfrm>
          <a:prstGeom prst="rect">
            <a:avLst/>
          </a:prstGeom>
        </p:spPr>
        <p:txBody>
          <a:bodyPr vert="horz" lIns="91395" tIns="45698" rIns="91395" bIns="45698" rtlCol="0" anchor="b"/>
          <a:lstStyle>
            <a:lvl1pPr algn="r">
              <a:defRPr sz="1100"/>
            </a:lvl1pPr>
          </a:lstStyle>
          <a:p>
            <a:fld id="{42AC65BB-4FB5-45A4-915A-17A01492D8C9}" type="slidenum">
              <a:rPr kumimoji="1" lang="ja-JP" altLang="en-US" smtClean="0"/>
              <a:t>‹#›</a:t>
            </a:fld>
            <a:endParaRPr kumimoji="1" lang="ja-JP" altLang="en-US"/>
          </a:p>
        </p:txBody>
      </p:sp>
    </p:spTree>
    <p:extLst>
      <p:ext uri="{BB962C8B-B14F-4D97-AF65-F5344CB8AC3E}">
        <p14:creationId xmlns:p14="http://schemas.microsoft.com/office/powerpoint/2010/main" val="10093640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1</a:t>
            </a:fld>
            <a:endParaRPr kumimoji="1" lang="ja-JP" altLang="en-US"/>
          </a:p>
        </p:txBody>
      </p:sp>
    </p:spTree>
    <p:extLst>
      <p:ext uri="{BB962C8B-B14F-4D97-AF65-F5344CB8AC3E}">
        <p14:creationId xmlns:p14="http://schemas.microsoft.com/office/powerpoint/2010/main" val="834696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2</a:t>
            </a:fld>
            <a:endParaRPr kumimoji="1" lang="ja-JP" altLang="en-US"/>
          </a:p>
        </p:txBody>
      </p:sp>
    </p:spTree>
    <p:extLst>
      <p:ext uri="{BB962C8B-B14F-4D97-AF65-F5344CB8AC3E}">
        <p14:creationId xmlns:p14="http://schemas.microsoft.com/office/powerpoint/2010/main" val="1954015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3</a:t>
            </a:fld>
            <a:endParaRPr kumimoji="1" lang="ja-JP" altLang="en-US"/>
          </a:p>
        </p:txBody>
      </p:sp>
    </p:spTree>
    <p:extLst>
      <p:ext uri="{BB962C8B-B14F-4D97-AF65-F5344CB8AC3E}">
        <p14:creationId xmlns:p14="http://schemas.microsoft.com/office/powerpoint/2010/main" val="668161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4</a:t>
            </a:fld>
            <a:endParaRPr kumimoji="1" lang="ja-JP" altLang="en-US"/>
          </a:p>
        </p:txBody>
      </p:sp>
    </p:spTree>
    <p:extLst>
      <p:ext uri="{BB962C8B-B14F-4D97-AF65-F5344CB8AC3E}">
        <p14:creationId xmlns:p14="http://schemas.microsoft.com/office/powerpoint/2010/main" val="840465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5</a:t>
            </a:fld>
            <a:endParaRPr kumimoji="1" lang="ja-JP" altLang="en-US"/>
          </a:p>
        </p:txBody>
      </p:sp>
    </p:spTree>
    <p:extLst>
      <p:ext uri="{BB962C8B-B14F-4D97-AF65-F5344CB8AC3E}">
        <p14:creationId xmlns:p14="http://schemas.microsoft.com/office/powerpoint/2010/main" val="84438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6</a:t>
            </a:fld>
            <a:endParaRPr kumimoji="1" lang="ja-JP" altLang="en-US"/>
          </a:p>
        </p:txBody>
      </p:sp>
    </p:spTree>
    <p:extLst>
      <p:ext uri="{BB962C8B-B14F-4D97-AF65-F5344CB8AC3E}">
        <p14:creationId xmlns:p14="http://schemas.microsoft.com/office/powerpoint/2010/main" val="2013803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AC65BB-4FB5-45A4-915A-17A01492D8C9}" type="slidenum">
              <a:rPr kumimoji="1" lang="ja-JP" altLang="en-US" smtClean="0"/>
              <a:t>7</a:t>
            </a:fld>
            <a:endParaRPr kumimoji="1" lang="ja-JP" altLang="en-US"/>
          </a:p>
        </p:txBody>
      </p:sp>
    </p:spTree>
    <p:extLst>
      <p:ext uri="{BB962C8B-B14F-4D97-AF65-F5344CB8AC3E}">
        <p14:creationId xmlns:p14="http://schemas.microsoft.com/office/powerpoint/2010/main" val="3137387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2AC65BB-4FB5-45A4-915A-17A01492D8C9}" type="slidenum">
              <a:rPr kumimoji="1" lang="ja-JP" altLang="en-US" smtClean="0"/>
              <a:t>8</a:t>
            </a:fld>
            <a:endParaRPr kumimoji="1" lang="ja-JP" altLang="en-US"/>
          </a:p>
        </p:txBody>
      </p:sp>
    </p:spTree>
    <p:extLst>
      <p:ext uri="{BB962C8B-B14F-4D97-AF65-F5344CB8AC3E}">
        <p14:creationId xmlns:p14="http://schemas.microsoft.com/office/powerpoint/2010/main" val="3518391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9</a:t>
            </a:fld>
            <a:endParaRPr kumimoji="1" lang="ja-JP" altLang="en-US"/>
          </a:p>
        </p:txBody>
      </p:sp>
    </p:spTree>
    <p:extLst>
      <p:ext uri="{BB962C8B-B14F-4D97-AF65-F5344CB8AC3E}">
        <p14:creationId xmlns:p14="http://schemas.microsoft.com/office/powerpoint/2010/main" val="33562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40E84-F905-E58D-3493-D5752090B1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8E222E-687F-F997-6267-D1B6EA2749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DAB6F5-E198-CB1E-100B-147D10958F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0EA8BA-9808-4E5E-B767-5A789FBF7BF5}"/>
              </a:ext>
            </a:extLst>
          </p:cNvPr>
          <p:cNvSpPr>
            <a:spLocks noGrp="1"/>
          </p:cNvSpPr>
          <p:nvPr>
            <p:ph type="sldNum" sz="quarter" idx="5"/>
          </p:nvPr>
        </p:nvSpPr>
        <p:spPr/>
        <p:txBody>
          <a:bodyPr/>
          <a:lstStyle/>
          <a:p>
            <a:fld id="{42AC65BB-4FB5-45A4-915A-17A01492D8C9}" type="slidenum">
              <a:rPr kumimoji="1" lang="ja-JP" altLang="en-US" smtClean="0"/>
              <a:t>10</a:t>
            </a:fld>
            <a:endParaRPr kumimoji="1" lang="ja-JP" altLang="en-US"/>
          </a:p>
        </p:txBody>
      </p:sp>
    </p:spTree>
    <p:extLst>
      <p:ext uri="{BB962C8B-B14F-4D97-AF65-F5344CB8AC3E}">
        <p14:creationId xmlns:p14="http://schemas.microsoft.com/office/powerpoint/2010/main" val="3929927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C2EC7-829C-03D2-F67E-59B61E050E1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A3A575-26AC-167E-A5E2-05A2FF9635C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F9227F-6D16-9E14-29C8-8BDFD86E9A4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88E2301-4BD1-45B2-35F1-922017AA8B19}"/>
              </a:ext>
            </a:extLst>
          </p:cNvPr>
          <p:cNvSpPr>
            <a:spLocks noGrp="1"/>
          </p:cNvSpPr>
          <p:nvPr>
            <p:ph type="sldNum" sz="quarter" idx="5"/>
          </p:nvPr>
        </p:nvSpPr>
        <p:spPr/>
        <p:txBody>
          <a:bodyPr/>
          <a:lstStyle/>
          <a:p>
            <a:fld id="{42AC65BB-4FB5-45A4-915A-17A01492D8C9}" type="slidenum">
              <a:rPr kumimoji="1" lang="ja-JP" altLang="en-US" smtClean="0"/>
              <a:t>11</a:t>
            </a:fld>
            <a:endParaRPr kumimoji="1" lang="ja-JP" altLang="en-US"/>
          </a:p>
        </p:txBody>
      </p:sp>
    </p:spTree>
    <p:extLst>
      <p:ext uri="{BB962C8B-B14F-4D97-AF65-F5344CB8AC3E}">
        <p14:creationId xmlns:p14="http://schemas.microsoft.com/office/powerpoint/2010/main" val="3686974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9F6EC-7475-4352-0E94-25AD4E8DE6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B01928-EF8F-A109-2A19-D6D302C62E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1D6A6CD-B50E-F362-33B6-D2616766F39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5559410-E4A2-268E-C082-646515BF34E2}"/>
              </a:ext>
            </a:extLst>
          </p:cNvPr>
          <p:cNvSpPr>
            <a:spLocks noGrp="1"/>
          </p:cNvSpPr>
          <p:nvPr>
            <p:ph type="sldNum" sz="quarter" idx="5"/>
          </p:nvPr>
        </p:nvSpPr>
        <p:spPr/>
        <p:txBody>
          <a:bodyPr/>
          <a:lstStyle/>
          <a:p>
            <a:fld id="{42AC65BB-4FB5-45A4-915A-17A01492D8C9}" type="slidenum">
              <a:rPr kumimoji="1" lang="ja-JP" altLang="en-US" smtClean="0"/>
              <a:t>12</a:t>
            </a:fld>
            <a:endParaRPr kumimoji="1" lang="ja-JP" altLang="en-US"/>
          </a:p>
        </p:txBody>
      </p:sp>
    </p:spTree>
    <p:extLst>
      <p:ext uri="{BB962C8B-B14F-4D97-AF65-F5344CB8AC3E}">
        <p14:creationId xmlns:p14="http://schemas.microsoft.com/office/powerpoint/2010/main" val="3791260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0EED-6566-38ED-751B-5451D35FCE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A7FC2E-A5EF-A669-0D67-39B8AECBDC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042E18-12D0-53A5-54EC-9025785EC52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28466EF-DB42-A64B-97CF-C16B51047231}"/>
              </a:ext>
            </a:extLst>
          </p:cNvPr>
          <p:cNvSpPr>
            <a:spLocks noGrp="1"/>
          </p:cNvSpPr>
          <p:nvPr>
            <p:ph type="sldNum" sz="quarter" idx="5"/>
          </p:nvPr>
        </p:nvSpPr>
        <p:spPr/>
        <p:txBody>
          <a:bodyPr/>
          <a:lstStyle/>
          <a:p>
            <a:fld id="{42AC65BB-4FB5-45A4-915A-17A01492D8C9}" type="slidenum">
              <a:rPr kumimoji="1" lang="ja-JP" altLang="en-US" smtClean="0"/>
              <a:t>13</a:t>
            </a:fld>
            <a:endParaRPr kumimoji="1" lang="ja-JP" altLang="en-US"/>
          </a:p>
        </p:txBody>
      </p:sp>
    </p:spTree>
    <p:extLst>
      <p:ext uri="{BB962C8B-B14F-4D97-AF65-F5344CB8AC3E}">
        <p14:creationId xmlns:p14="http://schemas.microsoft.com/office/powerpoint/2010/main" val="503325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F1EB5-0F13-15A0-EB16-C6B7A9EA3A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F5DC19-A2F2-3553-1D3D-E43B1B2ABA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3B362B-6531-0FF4-D6F0-3F176F10ECA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3D091AF-7B5F-8A0D-85D3-6E3740264EB8}"/>
              </a:ext>
            </a:extLst>
          </p:cNvPr>
          <p:cNvSpPr>
            <a:spLocks noGrp="1"/>
          </p:cNvSpPr>
          <p:nvPr>
            <p:ph type="sldNum" sz="quarter" idx="5"/>
          </p:nvPr>
        </p:nvSpPr>
        <p:spPr/>
        <p:txBody>
          <a:bodyPr/>
          <a:lstStyle/>
          <a:p>
            <a:fld id="{42AC65BB-4FB5-45A4-915A-17A01492D8C9}" type="slidenum">
              <a:rPr kumimoji="1" lang="ja-JP" altLang="en-US" smtClean="0"/>
              <a:t>14</a:t>
            </a:fld>
            <a:endParaRPr kumimoji="1" lang="ja-JP" altLang="en-US"/>
          </a:p>
        </p:txBody>
      </p:sp>
    </p:spTree>
    <p:extLst>
      <p:ext uri="{BB962C8B-B14F-4D97-AF65-F5344CB8AC3E}">
        <p14:creationId xmlns:p14="http://schemas.microsoft.com/office/powerpoint/2010/main" val="1788800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62300-6976-437B-DDB8-D6C735085E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2C4A8A-D8D3-1869-73F8-800CD6477E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8A0A25-E548-22A3-01D9-D575C6E644C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A876B85-F6AC-8495-1E23-925F3F1EBEB0}"/>
              </a:ext>
            </a:extLst>
          </p:cNvPr>
          <p:cNvSpPr>
            <a:spLocks noGrp="1"/>
          </p:cNvSpPr>
          <p:nvPr>
            <p:ph type="sldNum" sz="quarter" idx="5"/>
          </p:nvPr>
        </p:nvSpPr>
        <p:spPr/>
        <p:txBody>
          <a:bodyPr/>
          <a:lstStyle/>
          <a:p>
            <a:fld id="{42AC65BB-4FB5-45A4-915A-17A01492D8C9}" type="slidenum">
              <a:rPr kumimoji="1" lang="ja-JP" altLang="en-US" smtClean="0"/>
              <a:t>15</a:t>
            </a:fld>
            <a:endParaRPr kumimoji="1" lang="ja-JP" altLang="en-US"/>
          </a:p>
        </p:txBody>
      </p:sp>
    </p:spTree>
    <p:extLst>
      <p:ext uri="{BB962C8B-B14F-4D97-AF65-F5344CB8AC3E}">
        <p14:creationId xmlns:p14="http://schemas.microsoft.com/office/powerpoint/2010/main" val="1201921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2AC65BB-4FB5-45A4-915A-17A01492D8C9}" type="slidenum">
              <a:rPr kumimoji="1" lang="ja-JP" altLang="en-US" smtClean="0"/>
              <a:t>16</a:t>
            </a:fld>
            <a:endParaRPr kumimoji="1" lang="ja-JP" altLang="en-US"/>
          </a:p>
        </p:txBody>
      </p:sp>
    </p:spTree>
    <p:extLst>
      <p:ext uri="{BB962C8B-B14F-4D97-AF65-F5344CB8AC3E}">
        <p14:creationId xmlns:p14="http://schemas.microsoft.com/office/powerpoint/2010/main" val="1437942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133C0-94F2-2181-4DC7-A217A45965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D00BD71-B120-E707-1649-61A6CF2DE81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7D5776-FBFB-28CA-570B-38603C3C017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C982D8-149C-1FC6-7D87-89C37077F775}"/>
              </a:ext>
            </a:extLst>
          </p:cNvPr>
          <p:cNvSpPr>
            <a:spLocks noGrp="1"/>
          </p:cNvSpPr>
          <p:nvPr>
            <p:ph type="sldNum" sz="quarter" idx="5"/>
          </p:nvPr>
        </p:nvSpPr>
        <p:spPr/>
        <p:txBody>
          <a:bodyPr/>
          <a:lstStyle/>
          <a:p>
            <a:fld id="{42AC65BB-4FB5-45A4-915A-17A01492D8C9}" type="slidenum">
              <a:rPr kumimoji="1" lang="ja-JP" altLang="en-US" smtClean="0"/>
              <a:t>17</a:t>
            </a:fld>
            <a:endParaRPr kumimoji="1" lang="ja-JP" altLang="en-US"/>
          </a:p>
        </p:txBody>
      </p:sp>
    </p:spTree>
    <p:extLst>
      <p:ext uri="{BB962C8B-B14F-4D97-AF65-F5344CB8AC3E}">
        <p14:creationId xmlns:p14="http://schemas.microsoft.com/office/powerpoint/2010/main" val="3426632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FF727-A10C-0ECE-CB46-6DADF91EC2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A78D4A-8693-0911-6602-A296001C30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C233415-D1AB-A410-8B12-59011A8861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0BDCCB2-AD4A-2EAF-7876-3BDA2B72A1CE}"/>
              </a:ext>
            </a:extLst>
          </p:cNvPr>
          <p:cNvSpPr>
            <a:spLocks noGrp="1"/>
          </p:cNvSpPr>
          <p:nvPr>
            <p:ph type="sldNum" sz="quarter" idx="5"/>
          </p:nvPr>
        </p:nvSpPr>
        <p:spPr/>
        <p:txBody>
          <a:bodyPr/>
          <a:lstStyle/>
          <a:p>
            <a:fld id="{42AC65BB-4FB5-45A4-915A-17A01492D8C9}" type="slidenum">
              <a:rPr kumimoji="1" lang="ja-JP" altLang="en-US" smtClean="0"/>
              <a:t>18</a:t>
            </a:fld>
            <a:endParaRPr kumimoji="1" lang="ja-JP" altLang="en-US"/>
          </a:p>
        </p:txBody>
      </p:sp>
    </p:spTree>
    <p:extLst>
      <p:ext uri="{BB962C8B-B14F-4D97-AF65-F5344CB8AC3E}">
        <p14:creationId xmlns:p14="http://schemas.microsoft.com/office/powerpoint/2010/main" val="15350386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2148F-923A-68BF-9406-9BBD4B6758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0EF38A3-4272-D000-9C9A-AFD2BB34C2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CF5F99-3246-ADAB-691E-4BC3246251D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3EC5DBC-AA18-295F-186E-D70AB74ECFAB}"/>
              </a:ext>
            </a:extLst>
          </p:cNvPr>
          <p:cNvSpPr>
            <a:spLocks noGrp="1"/>
          </p:cNvSpPr>
          <p:nvPr>
            <p:ph type="sldNum" sz="quarter" idx="5"/>
          </p:nvPr>
        </p:nvSpPr>
        <p:spPr/>
        <p:txBody>
          <a:bodyPr/>
          <a:lstStyle/>
          <a:p>
            <a:fld id="{42AC65BB-4FB5-45A4-915A-17A01492D8C9}" type="slidenum">
              <a:rPr kumimoji="1" lang="ja-JP" altLang="en-US" smtClean="0"/>
              <a:t>19</a:t>
            </a:fld>
            <a:endParaRPr kumimoji="1" lang="ja-JP" altLang="en-US"/>
          </a:p>
        </p:txBody>
      </p:sp>
    </p:spTree>
    <p:extLst>
      <p:ext uri="{BB962C8B-B14F-4D97-AF65-F5344CB8AC3E}">
        <p14:creationId xmlns:p14="http://schemas.microsoft.com/office/powerpoint/2010/main" val="2829691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B8CBC-3261-602E-4AF5-F0CCB6E60D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8A7258-8A8C-CD9A-3FAF-788695D685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E83B3E-5845-D5CD-101B-0B9915E535F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6168D3F-3645-C70D-ABE7-BEDE257C8D52}"/>
              </a:ext>
            </a:extLst>
          </p:cNvPr>
          <p:cNvSpPr>
            <a:spLocks noGrp="1"/>
          </p:cNvSpPr>
          <p:nvPr>
            <p:ph type="sldNum" sz="quarter" idx="5"/>
          </p:nvPr>
        </p:nvSpPr>
        <p:spPr/>
        <p:txBody>
          <a:bodyPr/>
          <a:lstStyle/>
          <a:p>
            <a:fld id="{42AC65BB-4FB5-45A4-915A-17A01492D8C9}" type="slidenum">
              <a:rPr kumimoji="1" lang="ja-JP" altLang="en-US" smtClean="0"/>
              <a:t>20</a:t>
            </a:fld>
            <a:endParaRPr kumimoji="1" lang="ja-JP" altLang="en-US"/>
          </a:p>
        </p:txBody>
      </p:sp>
    </p:spTree>
    <p:extLst>
      <p:ext uri="{BB962C8B-B14F-4D97-AF65-F5344CB8AC3E}">
        <p14:creationId xmlns:p14="http://schemas.microsoft.com/office/powerpoint/2010/main" val="2576114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A2FC5-E261-EFC4-B755-FC0D62C216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0F448-25D2-DE05-D630-FD63982300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AE970D-3259-F5CF-A468-22D3C8365BE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097A8BE-56C5-F97A-CFE6-2E442FEF2428}"/>
              </a:ext>
            </a:extLst>
          </p:cNvPr>
          <p:cNvSpPr>
            <a:spLocks noGrp="1"/>
          </p:cNvSpPr>
          <p:nvPr>
            <p:ph type="sldNum" sz="quarter" idx="5"/>
          </p:nvPr>
        </p:nvSpPr>
        <p:spPr/>
        <p:txBody>
          <a:bodyPr/>
          <a:lstStyle/>
          <a:p>
            <a:fld id="{42AC65BB-4FB5-45A4-915A-17A01492D8C9}" type="slidenum">
              <a:rPr kumimoji="1" lang="ja-JP" altLang="en-US" smtClean="0"/>
              <a:t>21</a:t>
            </a:fld>
            <a:endParaRPr kumimoji="1" lang="ja-JP" altLang="en-US"/>
          </a:p>
        </p:txBody>
      </p:sp>
    </p:spTree>
    <p:extLst>
      <p:ext uri="{BB962C8B-B14F-4D97-AF65-F5344CB8AC3E}">
        <p14:creationId xmlns:p14="http://schemas.microsoft.com/office/powerpoint/2010/main" val="3596105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9EC9-D894-ED31-25B9-307B4DA74E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B2827E-E502-D844-C414-69332892A05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F2F84B-0CE4-786E-0115-21834C78AF0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8E4586-9FEB-7CCC-6DC5-80778F159296}"/>
              </a:ext>
            </a:extLst>
          </p:cNvPr>
          <p:cNvSpPr>
            <a:spLocks noGrp="1"/>
          </p:cNvSpPr>
          <p:nvPr>
            <p:ph type="sldNum" sz="quarter" idx="5"/>
          </p:nvPr>
        </p:nvSpPr>
        <p:spPr/>
        <p:txBody>
          <a:bodyPr/>
          <a:lstStyle/>
          <a:p>
            <a:fld id="{42AC65BB-4FB5-45A4-915A-17A01492D8C9}" type="slidenum">
              <a:rPr kumimoji="1" lang="ja-JP" altLang="en-US" smtClean="0"/>
              <a:t>22</a:t>
            </a:fld>
            <a:endParaRPr kumimoji="1" lang="ja-JP" altLang="en-US"/>
          </a:p>
        </p:txBody>
      </p:sp>
    </p:spTree>
    <p:extLst>
      <p:ext uri="{BB962C8B-B14F-4D97-AF65-F5344CB8AC3E}">
        <p14:creationId xmlns:p14="http://schemas.microsoft.com/office/powerpoint/2010/main" val="3520892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76E9-1F03-1516-AED3-9BD1A69A64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A6317F-0A77-9E98-D32B-85A3F33DBF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105297A-6E62-18A3-E528-46F5DA6A784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3DA2E3-A577-CE1D-EF34-4DB73F70DCB5}"/>
              </a:ext>
            </a:extLst>
          </p:cNvPr>
          <p:cNvSpPr>
            <a:spLocks noGrp="1"/>
          </p:cNvSpPr>
          <p:nvPr>
            <p:ph type="sldNum" sz="quarter" idx="5"/>
          </p:nvPr>
        </p:nvSpPr>
        <p:spPr/>
        <p:txBody>
          <a:bodyPr/>
          <a:lstStyle/>
          <a:p>
            <a:fld id="{42AC65BB-4FB5-45A4-915A-17A01492D8C9}" type="slidenum">
              <a:rPr kumimoji="1" lang="ja-JP" altLang="en-US" smtClean="0"/>
              <a:t>23</a:t>
            </a:fld>
            <a:endParaRPr kumimoji="1" lang="ja-JP" altLang="en-US"/>
          </a:p>
        </p:txBody>
      </p:sp>
    </p:spTree>
    <p:extLst>
      <p:ext uri="{BB962C8B-B14F-4D97-AF65-F5344CB8AC3E}">
        <p14:creationId xmlns:p14="http://schemas.microsoft.com/office/powerpoint/2010/main" val="14932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2722-81E3-8882-BF12-1F8999634C8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5802E-87E1-93E1-31BB-52D7BC0FF8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AC6A8F-1D71-B765-2CD0-09BB3FCB2C1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8004299-A368-BEDB-29D5-DC9D6A9A23FD}"/>
              </a:ext>
            </a:extLst>
          </p:cNvPr>
          <p:cNvSpPr>
            <a:spLocks noGrp="1"/>
          </p:cNvSpPr>
          <p:nvPr>
            <p:ph type="sldNum" sz="quarter" idx="5"/>
          </p:nvPr>
        </p:nvSpPr>
        <p:spPr/>
        <p:txBody>
          <a:bodyPr/>
          <a:lstStyle/>
          <a:p>
            <a:fld id="{42AC65BB-4FB5-45A4-915A-17A01492D8C9}" type="slidenum">
              <a:rPr kumimoji="1" lang="ja-JP" altLang="en-US" smtClean="0"/>
              <a:t>24</a:t>
            </a:fld>
            <a:endParaRPr kumimoji="1" lang="ja-JP" altLang="en-US"/>
          </a:p>
        </p:txBody>
      </p:sp>
    </p:spTree>
    <p:extLst>
      <p:ext uri="{BB962C8B-B14F-4D97-AF65-F5344CB8AC3E}">
        <p14:creationId xmlns:p14="http://schemas.microsoft.com/office/powerpoint/2010/main" val="38801300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7BA8A-D7C2-1C01-DC63-F2CA5F60E4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F57EDD-452E-B736-E78D-ED85975646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BC3FED-BAA8-34D2-6498-CC749174F64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DAA279D-1BFE-A5E9-E3D2-E8892663BC82}"/>
              </a:ext>
            </a:extLst>
          </p:cNvPr>
          <p:cNvSpPr>
            <a:spLocks noGrp="1"/>
          </p:cNvSpPr>
          <p:nvPr>
            <p:ph type="sldNum" sz="quarter" idx="5"/>
          </p:nvPr>
        </p:nvSpPr>
        <p:spPr/>
        <p:txBody>
          <a:bodyPr/>
          <a:lstStyle/>
          <a:p>
            <a:fld id="{42AC65BB-4FB5-45A4-915A-17A01492D8C9}" type="slidenum">
              <a:rPr kumimoji="1" lang="ja-JP" altLang="en-US" smtClean="0"/>
              <a:t>25</a:t>
            </a:fld>
            <a:endParaRPr kumimoji="1" lang="ja-JP" altLang="en-US"/>
          </a:p>
        </p:txBody>
      </p:sp>
    </p:spTree>
    <p:extLst>
      <p:ext uri="{BB962C8B-B14F-4D97-AF65-F5344CB8AC3E}">
        <p14:creationId xmlns:p14="http://schemas.microsoft.com/office/powerpoint/2010/main" val="570760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D3EA084-7AA0-427A-A499-3D76C65F32D7}" type="datetime1">
              <a:rPr kumimoji="1" lang="ja-JP" altLang="en-US" smtClean="0"/>
              <a:t>2025/9/9</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6" name="Slide Number Placeholder 5"/>
          <p:cNvSpPr>
            <a:spLocks noGrp="1"/>
          </p:cNvSpPr>
          <p:nvPr>
            <p:ph type="sldNum" sz="quarter" idx="12"/>
          </p:nvPr>
        </p:nvSpPr>
        <p:spPr/>
        <p:txBody>
          <a:bodyPr/>
          <a:lstStyle/>
          <a:p>
            <a:fld id="{F0033BD4-971A-440F-BC8B-CF4B709DE568}" type="slidenum">
              <a:rPr kumimoji="1" lang="ja-JP" altLang="en-US" smtClean="0"/>
              <a:t>‹#›</a:t>
            </a:fld>
            <a:endParaRPr kumimoji="1" lang="ja-JP" altLang="en-US" dirty="0"/>
          </a:p>
        </p:txBody>
      </p:sp>
    </p:spTree>
    <p:extLst>
      <p:ext uri="{BB962C8B-B14F-4D97-AF65-F5344CB8AC3E}">
        <p14:creationId xmlns:p14="http://schemas.microsoft.com/office/powerpoint/2010/main" val="1786224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4C2F8-03F2-4483-8EC1-3902E01CDEB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0804601-7730-4D3B-83F8-3FB70486373D}"/>
              </a:ext>
            </a:extLst>
          </p:cNvPr>
          <p:cNvSpPr>
            <a:spLocks noGrp="1"/>
          </p:cNvSpPr>
          <p:nvPr>
            <p:ph type="dt" sz="half" idx="10"/>
          </p:nvPr>
        </p:nvSpPr>
        <p:spPr/>
        <p:txBody>
          <a:bodyPr/>
          <a:lstStyle/>
          <a:p>
            <a:fld id="{EE77990C-9989-473E-91A6-54A6FC69D925}" type="datetime1">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DD214905-8F1A-42D8-A743-75E64A6026E9}"/>
              </a:ext>
            </a:extLst>
          </p:cNvPr>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5" name="スライド番号プレースホルダー 4">
            <a:extLst>
              <a:ext uri="{FF2B5EF4-FFF2-40B4-BE49-F238E27FC236}">
                <a16:creationId xmlns:a16="http://schemas.microsoft.com/office/drawing/2014/main" id="{9E7F3ED6-CA1F-43E2-A0B3-23CF1D4FF382}"/>
              </a:ext>
            </a:extLst>
          </p:cNvPr>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514045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F04CB49-3557-4864-8F20-06011716F832}" type="datetime1">
              <a:rPr kumimoji="1" lang="ja-JP" altLang="en-US" smtClean="0"/>
              <a:t>2025/9/9</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6" name="Slide Number Placeholder 5"/>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241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タイトルとコンテンツ">
    <p:bg>
      <p:bgPr>
        <a:solidFill>
          <a:schemeClr val="bg1"/>
        </a:solidFill>
        <a:effectLst/>
      </p:bgPr>
    </p:bg>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225A2530-8D10-447D-9879-E38CADECBE1E}"/>
              </a:ext>
            </a:extLst>
          </p:cNvPr>
          <p:cNvSpPr txBox="1"/>
          <p:nvPr userDrawn="1"/>
        </p:nvSpPr>
        <p:spPr>
          <a:xfrm>
            <a:off x="5867412" y="6378634"/>
            <a:ext cx="457176" cy="369332"/>
          </a:xfrm>
          <a:prstGeom prst="rect">
            <a:avLst/>
          </a:prstGeom>
          <a:noFill/>
        </p:spPr>
        <p:txBody>
          <a:bodyPr wrap="none" rtlCol="0">
            <a:spAutoFit/>
          </a:bodyPr>
          <a:lstStyle/>
          <a:p>
            <a:fld id="{CD040ED9-558F-475F-B8ED-790B21E0AC8E}" type="slidenum">
              <a:rPr kumimoji="1" lang="ja-JP" altLang="en-US" smtClean="0"/>
              <a:t>‹#›</a:t>
            </a:fld>
            <a:endParaRPr kumimoji="1" lang="ja-JP" altLang="en-US" dirty="0"/>
          </a:p>
        </p:txBody>
      </p:sp>
      <p:sp>
        <p:nvSpPr>
          <p:cNvPr id="2" name="タイトル 1">
            <a:extLst>
              <a:ext uri="{FF2B5EF4-FFF2-40B4-BE49-F238E27FC236}">
                <a16:creationId xmlns:a16="http://schemas.microsoft.com/office/drawing/2014/main" id="{D5FF230D-D22F-4B36-87C6-CB81A132BE6D}"/>
              </a:ext>
            </a:extLst>
          </p:cNvPr>
          <p:cNvSpPr>
            <a:spLocks noGrp="1"/>
          </p:cNvSpPr>
          <p:nvPr>
            <p:ph type="title"/>
          </p:nvPr>
        </p:nvSpPr>
        <p:spPr>
          <a:xfrm>
            <a:off x="1097280" y="657748"/>
            <a:ext cx="4164923" cy="420115"/>
          </a:xfrm>
        </p:spPr>
        <p:txBody>
          <a:bodyPr wrap="none">
            <a:spAutoFit/>
          </a:bodyPr>
          <a:lstStyle>
            <a:lvl1pPr>
              <a:defRPr sz="2400">
                <a:solidFill>
                  <a:srgbClr val="00B050"/>
                </a:solidFill>
              </a:defRPr>
            </a:lvl1pPr>
          </a:lstStyle>
          <a:p>
            <a:r>
              <a:rPr kumimoji="1" lang="ja-JP" altLang="en-US" dirty="0"/>
              <a:t>マスター タイトルの書式設定</a:t>
            </a:r>
          </a:p>
        </p:txBody>
      </p:sp>
      <p:cxnSp>
        <p:nvCxnSpPr>
          <p:cNvPr id="7" name="直線コネクタ 6">
            <a:extLst>
              <a:ext uri="{FF2B5EF4-FFF2-40B4-BE49-F238E27FC236}">
                <a16:creationId xmlns:a16="http://schemas.microsoft.com/office/drawing/2014/main" id="{C49BDC5D-F82B-4AF4-A6F7-4B1CE31E9313}"/>
              </a:ext>
            </a:extLst>
          </p:cNvPr>
          <p:cNvCxnSpPr/>
          <p:nvPr userDrawn="1"/>
        </p:nvCxnSpPr>
        <p:spPr>
          <a:xfrm>
            <a:off x="159544" y="998439"/>
            <a:ext cx="11872912"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51F9C26D-90DA-47D4-BF70-26DB4B637686}"/>
              </a:ext>
            </a:extLst>
          </p:cNvPr>
          <p:cNvSpPr txBox="1"/>
          <p:nvPr userDrawn="1"/>
        </p:nvSpPr>
        <p:spPr>
          <a:xfrm>
            <a:off x="9741234" y="6378634"/>
            <a:ext cx="1800493" cy="369332"/>
          </a:xfrm>
          <a:prstGeom prst="rect">
            <a:avLst/>
          </a:prstGeom>
          <a:noFill/>
        </p:spPr>
        <p:txBody>
          <a:bodyPr wrap="none" rtlCol="0">
            <a:spAutoFit/>
          </a:bodyPr>
          <a:lstStyle/>
          <a:p>
            <a:pPr algn="ctr"/>
            <a:r>
              <a:rPr kumimoji="1" lang="ja-JP" altLang="en-US" sz="1800" dirty="0">
                <a:solidFill>
                  <a:schemeClr val="tx1">
                    <a:alpha val="40000"/>
                  </a:schemeClr>
                </a:solidFill>
              </a:rPr>
              <a:t>はーとふる農園</a:t>
            </a:r>
          </a:p>
        </p:txBody>
      </p:sp>
    </p:spTree>
    <p:extLst>
      <p:ext uri="{BB962C8B-B14F-4D97-AF65-F5344CB8AC3E}">
        <p14:creationId xmlns:p14="http://schemas.microsoft.com/office/powerpoint/2010/main" val="1073234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625665-D827-48F2-BA5B-783E757D696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1FCCC0D-8CC2-4D8A-9D16-EE86282F7F0A}"/>
              </a:ext>
            </a:extLst>
          </p:cNvPr>
          <p:cNvSpPr>
            <a:spLocks noGrp="1"/>
          </p:cNvSpPr>
          <p:nvPr>
            <p:ph type="dt" sz="half" idx="10"/>
          </p:nvPr>
        </p:nvSpPr>
        <p:spPr/>
        <p:txBody>
          <a:bodyPr/>
          <a:lstStyle/>
          <a:p>
            <a:fld id="{EE77990C-9989-473E-91A6-54A6FC69D925}" type="datetime1">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EFFE7558-25E0-4A8A-9D28-C707755011AA}"/>
              </a:ext>
            </a:extLst>
          </p:cNvPr>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5" name="スライド番号プレースホルダー 4">
            <a:extLst>
              <a:ext uri="{FF2B5EF4-FFF2-40B4-BE49-F238E27FC236}">
                <a16:creationId xmlns:a16="http://schemas.microsoft.com/office/drawing/2014/main" id="{F8101619-4D3E-426C-8E66-E5CBC320629C}"/>
              </a:ext>
            </a:extLst>
          </p:cNvPr>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3326183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898367-64E1-43F2-8DF5-34159440843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60A3D23-C2BF-4F08-8D85-1D5E5EFAC666}"/>
              </a:ext>
            </a:extLst>
          </p:cNvPr>
          <p:cNvSpPr>
            <a:spLocks noGrp="1"/>
          </p:cNvSpPr>
          <p:nvPr>
            <p:ph type="dt" sz="half" idx="10"/>
          </p:nvPr>
        </p:nvSpPr>
        <p:spPr/>
        <p:txBody>
          <a:bodyPr/>
          <a:lstStyle/>
          <a:p>
            <a:fld id="{EE77990C-9989-473E-91A6-54A6FC69D925}" type="datetime1">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38BCA972-F593-43D8-95D9-03ABCA77A1E9}"/>
              </a:ext>
            </a:extLst>
          </p:cNvPr>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5" name="スライド番号プレースホルダー 4">
            <a:extLst>
              <a:ext uri="{FF2B5EF4-FFF2-40B4-BE49-F238E27FC236}">
                <a16:creationId xmlns:a16="http://schemas.microsoft.com/office/drawing/2014/main" id="{A3FFF6D7-B2B4-4A49-9AED-2B9E436F7BBA}"/>
              </a:ext>
            </a:extLst>
          </p:cNvPr>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3913399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88B094-1884-4990-8504-1FD62972B28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35182F3-B070-4F0C-BCCE-355A835CAB42}"/>
              </a:ext>
            </a:extLst>
          </p:cNvPr>
          <p:cNvSpPr>
            <a:spLocks noGrp="1"/>
          </p:cNvSpPr>
          <p:nvPr>
            <p:ph type="dt" sz="half" idx="10"/>
          </p:nvPr>
        </p:nvSpPr>
        <p:spPr/>
        <p:txBody>
          <a:bodyPr/>
          <a:lstStyle/>
          <a:p>
            <a:fld id="{EE77990C-9989-473E-91A6-54A6FC69D925}" type="datetime1">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939539CA-B81C-4388-BBEF-689955A70CBD}"/>
              </a:ext>
            </a:extLst>
          </p:cNvPr>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5" name="スライド番号プレースホルダー 4">
            <a:extLst>
              <a:ext uri="{FF2B5EF4-FFF2-40B4-BE49-F238E27FC236}">
                <a16:creationId xmlns:a16="http://schemas.microsoft.com/office/drawing/2014/main" id="{63655418-5DC5-411D-AAD2-94F37E8D92C4}"/>
              </a:ext>
            </a:extLst>
          </p:cNvPr>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25702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90048"/>
            <a:ext cx="10058400" cy="10209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80" y="1179320"/>
            <a:ext cx="4937760" cy="4689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179320"/>
            <a:ext cx="4937760" cy="4689775"/>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00AB2B41-6E00-4FD3-B0FD-F5C1163D8CA9}" type="datetime1">
              <a:rPr kumimoji="1" lang="ja-JP" altLang="en-US" smtClean="0"/>
              <a:t>2025/9/9</a:t>
            </a:fld>
            <a:endParaRPr kumimoji="1" lang="ja-JP" altLang="en-US"/>
          </a:p>
        </p:txBody>
      </p:sp>
      <p:sp>
        <p:nvSpPr>
          <p:cNvPr id="6" name="Footer Placeholder 5"/>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7" name="Slide Number Placeholder 6"/>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038398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85458"/>
            <a:ext cx="10058400" cy="101695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153839"/>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1097280" y="1941552"/>
            <a:ext cx="4937760" cy="429687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6217920" y="1153839"/>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1941552"/>
            <a:ext cx="4937760" cy="429687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6B287B9-C83D-40E6-8E37-3F8C8B7F79C7}" type="datetime1">
              <a:rPr kumimoji="1" lang="ja-JP" altLang="en-US" smtClean="0"/>
              <a:t>2025/9/9</a:t>
            </a:fld>
            <a:endParaRPr kumimoji="1" lang="ja-JP" altLang="en-US"/>
          </a:p>
        </p:txBody>
      </p:sp>
      <p:sp>
        <p:nvSpPr>
          <p:cNvPr id="8" name="Footer Placeholder 7"/>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9" name="Slide Number Placeholder 8"/>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3766981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AE7CD85-9F20-4E9A-8C1A-E9483DF2AD28}" type="datetime1">
              <a:rPr kumimoji="1" lang="ja-JP" altLang="en-US" smtClean="0"/>
              <a:t>2025/9/9</a:t>
            </a:fld>
            <a:endParaRPr kumimoji="1" lang="ja-JP" altLang="en-US"/>
          </a:p>
        </p:txBody>
      </p:sp>
      <p:sp>
        <p:nvSpPr>
          <p:cNvPr id="4" name="Footer Placeholder 3"/>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5" name="Slide Number Placeholder 4"/>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687711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5F85798-B928-4BEC-B462-D1063FCA3F61}" type="datetime1">
              <a:rPr kumimoji="1" lang="ja-JP" altLang="en-US" smtClean="0"/>
              <a:t>2025/9/9</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kumimoji="1" lang="en-US" altLang="ja-JP"/>
              <a:t>Copyright © 2017Nikken Lease Kogyo Co,LTD. All Rights Reserved.</a:t>
            </a:r>
            <a:endParaRPr kumimoji="1" lang="ja-JP" altLang="en-US"/>
          </a:p>
        </p:txBody>
      </p:sp>
      <p:sp>
        <p:nvSpPr>
          <p:cNvPr id="9" name="Slide Number Placeholder 8"/>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300964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945987F-585C-436B-8E8A-E7556E0E537B}" type="datetime1">
              <a:rPr kumimoji="1" lang="ja-JP" altLang="en-US" smtClean="0"/>
              <a:t>2025/9/9</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kumimoji="1" lang="en-US" altLang="ja-JP"/>
              <a:t>Copyright © 2017Nikken Lease Kogyo Co,LTD. All Rights Reserved.</a:t>
            </a:r>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322331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5411AC2-2F4C-4C3B-B811-DA26E8C45885}" type="datetime1">
              <a:rPr kumimoji="1" lang="ja-JP" altLang="en-US" smtClean="0"/>
              <a:t>2025/9/9</a:t>
            </a:fld>
            <a:endParaRPr kumimoji="1" lang="ja-JP" altLang="en-US"/>
          </a:p>
        </p:txBody>
      </p:sp>
      <p:sp>
        <p:nvSpPr>
          <p:cNvPr id="6" name="Footer Placeholder 5"/>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7" name="Slide Number Placeholder 6"/>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904096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A825AE4-8C10-4EE3-939A-6F617778F22E}" type="datetime1">
              <a:rPr kumimoji="1" lang="ja-JP" altLang="en-US" smtClean="0"/>
              <a:t>2025/9/9</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6" name="Slide Number Placeholder 5"/>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2489419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31715E3-78C0-4952-AC80-75D8A6FCF4AE}" type="datetime1">
              <a:rPr kumimoji="1" lang="ja-JP" altLang="en-US" smtClean="0"/>
              <a:t>2025/9/9</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 © 2017Nikken Lease Kogyo Co,LTD. All Rights Reserved.</a:t>
            </a:r>
            <a:endParaRPr kumimoji="1" lang="ja-JP" altLang="en-US"/>
          </a:p>
        </p:txBody>
      </p:sp>
      <p:sp>
        <p:nvSpPr>
          <p:cNvPr id="6" name="Slide Number Placeholder 5"/>
          <p:cNvSpPr>
            <a:spLocks noGrp="1"/>
          </p:cNvSpPr>
          <p:nvPr>
            <p:ph type="sldNum" sz="quarter" idx="12"/>
          </p:nvPr>
        </p:nvSpPr>
        <p:spPr/>
        <p:txBody>
          <a:bodyPr/>
          <a:lstStyle/>
          <a:p>
            <a:fld id="{F0033BD4-971A-440F-BC8B-CF4B709DE568}" type="slidenum">
              <a:rPr kumimoji="1" lang="ja-JP" altLang="en-US" smtClean="0"/>
              <a:t>‹#›</a:t>
            </a:fld>
            <a:endParaRPr kumimoji="1" lang="ja-JP" altLang="en-US"/>
          </a:p>
        </p:txBody>
      </p:sp>
    </p:spTree>
    <p:extLst>
      <p:ext uri="{BB962C8B-B14F-4D97-AF65-F5344CB8AC3E}">
        <p14:creationId xmlns:p14="http://schemas.microsoft.com/office/powerpoint/2010/main" val="1103041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79C36C-74F9-4A5C-B874-C4BC61FBD1B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C2CEF4D-9582-4F0A-991E-D53C1A313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54D6288-ADE3-411C-898B-876E2B29558E}"/>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3A35AC7A-2FA4-4658-BBCB-4DCEE7280E2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217E850-65F1-4ED0-A7B9-A2CC8C85068C}"/>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3299998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8477A-EA9A-42AA-9256-0E494822EE6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05D9CB2-D645-4F1B-93D5-FA67E50A4BE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90AC8F-5966-448D-85FB-30AEE88BDD83}"/>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02A51C95-022E-4AC6-9DC6-A95BD123D6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B6326C-D2F4-4D4F-8F92-219C154DDD3B}"/>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1990664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591717-8E51-4574-97EF-FD68A9886C2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82D7A9-F4C8-4A00-9F9B-4A3074CF5C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ED0D788-3B73-4078-9F7E-11485FB5F18E}"/>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213E5053-816E-4973-86B2-FC109DD156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0361783-B15B-4F3D-822A-1CA0553FCEE1}"/>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3708940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300C98-1884-4C98-9AFD-EEBAF1DA735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CAA744E-2326-4E85-8235-804C162A0F1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6322585-0923-4FCA-BCF0-9725DCCC4F2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7344596-4590-4380-8096-40114AB0774E}"/>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F2EA23E6-34D3-4DF8-9644-309162E6B9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FBD133C-0D93-45B6-AB6C-E6DC4A31A7EA}"/>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32029879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3A7F71-FC5C-46C0-84DC-3EBEB614457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D1ADEC-2AE1-4B2F-8C85-B5C924C134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3EC4249-EA47-4D58-918F-9DC691DD7EA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CF1EE05-6BAE-4DEA-86FD-9266FF651F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20F3583-B3D2-4D01-A753-B03D923982B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7FBC146-F642-45A0-8301-4A3BF1F80531}"/>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8" name="フッター プレースホルダー 7">
            <a:extLst>
              <a:ext uri="{FF2B5EF4-FFF2-40B4-BE49-F238E27FC236}">
                <a16:creationId xmlns:a16="http://schemas.microsoft.com/office/drawing/2014/main" id="{EECC3C7E-5DDA-4B55-A9C6-8AF3085FCE1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8DA7DB2-70E1-4EA8-89AA-F00984F90B15}"/>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34387607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F9B391-B4C1-411A-8B95-73560BCC887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C0E7CC8-57DC-443B-9086-2D9FF76DA71A}"/>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372EBEE8-EC0E-4A33-AC82-B339EAD0DF6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6B1970E-DB9A-493B-BDD5-601C1663E488}"/>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2446166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B1CEFC7-B141-4152-9E9E-9F030C98744A}"/>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3" name="フッター プレースホルダー 2">
            <a:extLst>
              <a:ext uri="{FF2B5EF4-FFF2-40B4-BE49-F238E27FC236}">
                <a16:creationId xmlns:a16="http://schemas.microsoft.com/office/drawing/2014/main" id="{2A12CAFB-6444-4AD8-8CCF-E92F897E7D9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F677BB9-F514-49E3-BD08-3771682FDF57}"/>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2438827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38FBA-8566-418F-9BA2-9133FCA2FE8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30BDE48-B5AB-4978-8A3C-FC58FBEA6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C9F0362-30B6-4074-B5B6-7371D94293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8CFE018-6F21-43E3-B12B-3E36CB867591}"/>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5A2C8FB3-AD35-416C-A82D-FAA835A0AA7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CA5753A-BA84-4E42-B417-65E3A216A9DA}"/>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1657643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883592-072F-4344-A5EC-7F508CB930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D962A31-58F1-4E91-B310-50C948017E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BD42986-08ED-4741-95B4-8898FAB2C2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F5FB502-219A-4703-9935-A6CDEC873364}"/>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FD5AC75A-4204-487A-A278-147785CA1D4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E452CC-E0CB-44C4-A803-995D43EAEB29}"/>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2703990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9D0A67-64E1-4AC4-81D9-6D05F4B6935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8B01A81-5407-4FEF-8C28-7045A3A28A5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24040E-112B-45B5-B963-8CCF8A54E124}"/>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CE23BF11-620A-4789-8D58-51AFE7F454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FAB02F-93D6-4FCC-9E18-1390AC7323ED}"/>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1830345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A85179A-AA89-4527-A626-38467BAD67D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A6FB2FD-C3FA-4755-B151-540590B271F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CF28EB5-3750-4484-96E7-067A89AE32E9}"/>
              </a:ext>
            </a:extLst>
          </p:cNvPr>
          <p:cNvSpPr>
            <a:spLocks noGrp="1"/>
          </p:cNvSpPr>
          <p:nvPr>
            <p:ph type="dt" sz="half" idx="10"/>
          </p:nvPr>
        </p:nvSpPr>
        <p:spPr>
          <a:xfrm>
            <a:off x="838200" y="6356350"/>
            <a:ext cx="2743200" cy="365125"/>
          </a:xfrm>
          <a:prstGeom prst="rect">
            <a:avLst/>
          </a:prstGeom>
        </p:spPr>
        <p:txBody>
          <a:bodyPr/>
          <a:lstStyle/>
          <a:p>
            <a:fld id="{E9B56E34-B725-4A51-86F1-72EF1332953A}"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700C4ECB-879E-46F7-A8CA-90EF8C664A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73D766C-E83B-475A-91B4-8AFAF3B580E6}"/>
              </a:ext>
            </a:extLst>
          </p:cNvPr>
          <p:cNvSpPr>
            <a:spLocks noGrp="1"/>
          </p:cNvSpPr>
          <p:nvPr>
            <p:ph type="sldNum" sz="quarter" idx="12"/>
          </p:nvPr>
        </p:nvSpPr>
        <p:spPr/>
        <p:txBody>
          <a:body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1585037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CA397-33C9-4CFB-BF08-A9FBFA1504E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8E4AEFC-603B-4ACC-B856-D47E1F177A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A72829E-5EF3-45C7-9C06-F664E7E61B1D}"/>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DDD2B361-2820-47D6-86F7-5A7F899A70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AB5626-CB4A-4716-AD7D-E69972D85D09}"/>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16093189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7B9D8-26F5-438E-9871-F068C1A211F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1D0C59F-1C39-4CBA-AF16-6CC970DD8B7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7C11BE-0452-4F58-88B0-AE87DD5B6709}"/>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2D62412F-66C1-4A99-949A-F279FF3FEEF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CBFC81-D30E-4025-B83B-904A5AC2CD05}"/>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38369121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DD5A99-BA85-4E3F-A315-36C95F96613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151E767-63F1-4C8D-890B-8FC54A6AC7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EEDA3AA-5CDF-4B7F-A215-E48D82D66316}"/>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E8B2363F-9B32-46E9-A044-77F09A71C19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EF0EF2-BC3A-42BD-8FC0-3C02C6C9968F}"/>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38454574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A610B9-A0D2-4E57-AA63-FF46D3BEA03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41AFC8-55EB-42AA-B5DF-390465A035D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42D11FD-E712-4BA0-9D63-429E1DF2E5F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AE3C7D-A079-4524-AB54-2DEF95E91CC2}"/>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F568B0BA-07EA-435E-96AB-C6FC7F662F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CEFC77-1ABF-437E-AB17-3AFAFABE315C}"/>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40786709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BC6A14-C3D8-4425-96A8-8DE816F7C6B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19594C-F59D-4310-829B-4FD395CC31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D5102A6-70D7-4DA5-A84A-14BB1105AD9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48744EE-FBCF-4C7A-9B2B-096E1E1F5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93EC6DE-C24E-42D7-83D9-9BDD35E086E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56A4D33-32ED-498F-8816-A9378E3086E9}"/>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8" name="フッター プレースホルダー 7">
            <a:extLst>
              <a:ext uri="{FF2B5EF4-FFF2-40B4-BE49-F238E27FC236}">
                <a16:creationId xmlns:a16="http://schemas.microsoft.com/office/drawing/2014/main" id="{76BF2871-DA9A-47A7-A68B-BF8A833A2FE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C87A431-3804-4EEB-BA9C-65918149DD6A}"/>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23221538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1F10F4-A6EE-4BA1-8E9B-DE21824FEB7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6FB4150-9F9F-4D48-8A21-386683380827}"/>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86E0E4C6-F0AA-485E-A5E0-462637C0BDC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4FA29A-B7BF-4E64-9F62-272FDD35413C}"/>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3968888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E22F07A-3DF2-4ECB-AEFB-CE1466230BE0}"/>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3" name="フッター プレースホルダー 2">
            <a:extLst>
              <a:ext uri="{FF2B5EF4-FFF2-40B4-BE49-F238E27FC236}">
                <a16:creationId xmlns:a16="http://schemas.microsoft.com/office/drawing/2014/main" id="{CC16F718-C63B-4D30-BD33-85BBE5B3B48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DEC4F3-9FB7-46D2-834D-D0D27E0F8E26}"/>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36181004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4DE652-E9E9-4925-8920-E77E799BE98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DF8FCE-B959-47C1-A1DD-BDEABA7096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510BA7-3E8E-465B-840E-92BB971DA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90F3666-0C86-4F2D-A273-31AACB93CCAA}"/>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7828F561-28C0-495D-AE9A-150C666D66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D1DA47-DFC4-47D5-9657-3662D61A1858}"/>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16761011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B8DA9E-120A-42CE-8A0D-5DE58015EBB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A5C37F0-8DE4-4E44-BDD8-3C1D0560C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C1982C2-EFE5-46B7-AF0B-845845CEE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963E520-E271-4CC5-819C-5B7B52BAAD68}"/>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4F6328F8-3750-4B9A-AAE1-761CC54343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3CDB19-9FBB-43D8-9E70-F3904235F647}"/>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38766578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E568C6-6476-4A7F-8CFD-450FB454DCE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AB4A50D-0AFB-4358-B523-88361072B05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B8F6CE2-AF1F-4268-9219-58360AE93992}"/>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83AF1849-B24F-412C-BA86-D195E87D8E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2E2423-C2F8-41E9-B1B2-F02461D0557C}"/>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19771889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4C3C87C-86C2-48D0-AE82-C6C2F9AAE4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0E563A-A050-4DC8-99D3-E6F55184C34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A7725C-3893-4EAE-8CF5-93E699A3B5E9}"/>
              </a:ext>
            </a:extLst>
          </p:cNvPr>
          <p:cNvSpPr>
            <a:spLocks noGrp="1"/>
          </p:cNvSpPr>
          <p:nvPr>
            <p:ph type="dt" sz="half" idx="10"/>
          </p:nvPr>
        </p:nvSpPr>
        <p:spPr/>
        <p:txBody>
          <a:body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0A38EC7A-820C-4616-9991-000C7F6D81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7B91F5-7714-419C-AF95-9AF63EB62AEF}"/>
              </a:ext>
            </a:extLst>
          </p:cNvPr>
          <p:cNvSpPr>
            <a:spLocks noGrp="1"/>
          </p:cNvSpPr>
          <p:nvPr>
            <p:ph type="sldNum" sz="quarter" idx="12"/>
          </p:nvPr>
        </p:nvSpPr>
        <p:spPr/>
        <p:txBody>
          <a:body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26823153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EC72DF-EE3F-4C06-8F4D-E7850452DA9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87A49A4-7CF3-41EB-AEFA-D79BB7547A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17B4C5-E37D-4559-A74C-A2B9F468A697}"/>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AEEBE110-259D-4871-89DC-5016FDE47B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B24657-22E8-4D7B-B13F-05B7DFF8F4A5}"/>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42662440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EED421-51A2-482D-8F4E-835E5B7FF4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8FA9079-8C25-4C0E-AEA5-3DD5E02D547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71A208-B15C-4783-85D6-AE2DB2150150}"/>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5BD7061F-A9F6-44CD-A61F-C1DCEA80D2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F6CCBB-193E-4591-B609-6B4E0C69C7EA}"/>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20169533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A49E9A-6C06-425F-884B-F4A9D7F462F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BA52F3-373A-4846-952E-1B5D3503F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DCEC4A5-BCF7-4041-979F-3D84E410CC7B}"/>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482A1FF9-2C8F-4546-B8B2-E213820C13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6FF704-956D-41E6-B0A6-3E07152B4DF1}"/>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38472720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F2E0EC-9C91-4846-8166-E5628399764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5F2682-2F6C-489E-9BC4-6CB40246057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F0817CA-D71D-45D5-9AC6-1D98CA88135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AE614E2-1DF6-49F1-B1C7-581699846907}"/>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4E28E6F7-722F-4C98-A044-C862E61D20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9FDEB9A-4481-4335-A58C-7C038A69C7A3}"/>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1056296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67A434-8937-4802-864D-AF84658F4EB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10756CD-9289-4EC0-90F2-1FF3B099D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882E3E5-5924-4EFA-BE29-F61A387FF23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1895FAB-3E66-4E80-B34A-CBE4FDDDC9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8B8EC85-CCCA-47EB-9077-A2D50471AAE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E2D74FD-2D59-4EB9-920E-6513776E42AC}"/>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8" name="フッター プレースホルダー 7">
            <a:extLst>
              <a:ext uri="{FF2B5EF4-FFF2-40B4-BE49-F238E27FC236}">
                <a16:creationId xmlns:a16="http://schemas.microsoft.com/office/drawing/2014/main" id="{C61BED3A-2ED0-4E4D-ADA3-A9462F47A47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BB1000-7592-4392-92B3-A9C6CF69FD81}"/>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20002519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438377-F852-4625-9455-DA9031BF20D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8796B06-7B3E-49A1-BB97-1AFC8539C39C}"/>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4" name="フッター プレースホルダー 3">
            <a:extLst>
              <a:ext uri="{FF2B5EF4-FFF2-40B4-BE49-F238E27FC236}">
                <a16:creationId xmlns:a16="http://schemas.microsoft.com/office/drawing/2014/main" id="{EB9C0127-D098-4CA1-92A0-B1120DD5447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77DE4A4-0CB9-41FA-B329-32C9FF0A41DC}"/>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4378494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79F2C73-8EED-4AA2-A2CA-7A300471760B}"/>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3" name="フッター プレースホルダー 2">
            <a:extLst>
              <a:ext uri="{FF2B5EF4-FFF2-40B4-BE49-F238E27FC236}">
                <a16:creationId xmlns:a16="http://schemas.microsoft.com/office/drawing/2014/main" id="{254715AD-BC71-46C3-AF66-66793D58E6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62046A0-77D1-4F57-8407-839CC7DBA123}"/>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36537371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6218FD-D85E-482B-BD56-AF38F8E62E0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133E9B7-671A-40F8-AEF6-B4F837BE7C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DDDA157-0541-4826-82BC-CAA1FB86A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477AC72-FA8D-45B7-818A-AF13F4F12FBD}"/>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E03AA3C5-4A01-4DAB-A685-2898B1904C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74DDF4-6B92-461E-AF92-EDAAFDC03D91}"/>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28218037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DBB2FE-FB28-481D-AAFC-C68B75B3D6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B812A0B-89D9-4C17-8C70-EEF433C29E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FF3834D-A496-4CEC-A88B-C8BE53B54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BFC0225-758E-4C0E-A61F-D4413C698AC7}"/>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6" name="フッター プレースホルダー 5">
            <a:extLst>
              <a:ext uri="{FF2B5EF4-FFF2-40B4-BE49-F238E27FC236}">
                <a16:creationId xmlns:a16="http://schemas.microsoft.com/office/drawing/2014/main" id="{57494096-0901-4FCB-B47B-AC5C25AE85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2B07E1D-2D01-4CE6-8E03-F7E94443D9C9}"/>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15558704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B34FB-F8D6-41DE-A5B0-E136C65CAE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7A9CD1E-B95D-4192-9478-0A25DF929A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BA443EB-38F5-46C8-8EA2-FBC644011028}"/>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C2A12BC8-24A1-4586-B0F6-5B03AF27A4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283337-3C3D-4F53-93D1-B6FAA1E7EE6B}"/>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4270091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4524219-1375-4872-81D4-04BBE7C3D8F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A84F1DD-6D6A-4FDE-A42A-D10183073E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90D5B0F-2B96-4F17-99FD-F42976ACDA9F}"/>
              </a:ext>
            </a:extLst>
          </p:cNvPr>
          <p:cNvSpPr>
            <a:spLocks noGrp="1"/>
          </p:cNvSpPr>
          <p:nvPr>
            <p:ph type="dt" sz="half" idx="10"/>
          </p:nvPr>
        </p:nvSpPr>
        <p:spPr/>
        <p:txBody>
          <a:body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EE3DFFE1-4780-47BB-B15E-1F2188DEF0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15CDD6-D6EA-45B5-9618-0EA9BB9B662C}"/>
              </a:ext>
            </a:extLst>
          </p:cNvPr>
          <p:cNvSpPr>
            <a:spLocks noGrp="1"/>
          </p:cNvSpPr>
          <p:nvPr>
            <p:ph type="sldNum" sz="quarter" idx="12"/>
          </p:nvPr>
        </p:nvSpPr>
        <p:spPr/>
        <p:txBody>
          <a:body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2270340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791260"/>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136848"/>
            <a:ext cx="10058400" cy="5085276"/>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E77990C-9989-473E-91A6-54A6FC69D925}" type="datetime1">
              <a:rPr kumimoji="1" lang="ja-JP" altLang="en-US" smtClean="0"/>
              <a:t>2025/9/9</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kumimoji="1" lang="en-US" altLang="ja-JP"/>
              <a:t>Copyright © 2017Nikken Lease Kogyo Co,LTD. All Rights Reserved.</a:t>
            </a:r>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0033BD4-971A-440F-BC8B-CF4B709DE568}" type="slidenum">
              <a:rPr kumimoji="1" lang="ja-JP" altLang="en-US" smtClean="0"/>
              <a:t>‹#›</a:t>
            </a:fld>
            <a:endParaRPr kumimoji="1" lang="ja-JP" altLang="en-US"/>
          </a:p>
        </p:txBody>
      </p:sp>
      <p:cxnSp>
        <p:nvCxnSpPr>
          <p:cNvPr id="10" name="Straight Connector 9"/>
          <p:cNvCxnSpPr/>
          <p:nvPr/>
        </p:nvCxnSpPr>
        <p:spPr>
          <a:xfrm>
            <a:off x="1142105" y="1077863"/>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2359680"/>
      </p:ext>
    </p:extLst>
  </p:cSld>
  <p:clrMap bg1="lt1" tx1="dk1" bg2="lt2" tx2="dk2" accent1="accent1" accent2="accent2" accent3="accent3" accent4="accent4" accent5="accent5" accent6="accent6" hlink="hlink" folHlink="folHlink"/>
  <p:sldLayoutIdLst>
    <p:sldLayoutId id="2147483673" r:id="rId1"/>
    <p:sldLayoutId id="2147483722" r:id="rId2"/>
    <p:sldLayoutId id="2147483675" r:id="rId3"/>
    <p:sldLayoutId id="2147483674" r:id="rId4"/>
    <p:sldLayoutId id="2147483723" r:id="rId5"/>
    <p:sldLayoutId id="2147483708" r:id="rId6"/>
    <p:sldLayoutId id="2147483709"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Lst>
  <p:hf hdr="0" ftr="0" dt="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3611A14-A063-4590-AA54-241B519343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460AC2C-1BA0-4F6A-A36F-C8777D32F2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ー 4">
            <a:extLst>
              <a:ext uri="{FF2B5EF4-FFF2-40B4-BE49-F238E27FC236}">
                <a16:creationId xmlns:a16="http://schemas.microsoft.com/office/drawing/2014/main" id="{1DAC1135-F2B4-483A-BBDB-0AEFD4D66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92F0CCE-EFF7-4FFA-96BF-C1127A84EA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B543A-AB02-4750-BEF6-72FCE38B53AC}" type="slidenum">
              <a:rPr kumimoji="1" lang="ja-JP" altLang="en-US" smtClean="0"/>
              <a:t>‹#›</a:t>
            </a:fld>
            <a:endParaRPr kumimoji="1" lang="ja-JP" altLang="en-US"/>
          </a:p>
        </p:txBody>
      </p:sp>
    </p:spTree>
    <p:extLst>
      <p:ext uri="{BB962C8B-B14F-4D97-AF65-F5344CB8AC3E}">
        <p14:creationId xmlns:p14="http://schemas.microsoft.com/office/powerpoint/2010/main" val="17824601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F36A36C-486B-40A3-AE13-46E2EC4114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98A889F-E57E-4086-A1E3-780792AE9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273192-644A-4341-82A7-F0EF8E5DB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52B58E-A4B6-4BC1-92F2-B931CBF6A839}"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BE38E897-D765-4249-8F4F-8B13FA16F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8640EA7-34FE-44A9-83E1-7F1BF1A842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D6E632-58F0-414F-8616-C6740449807A}" type="slidenum">
              <a:rPr kumimoji="1" lang="ja-JP" altLang="en-US" smtClean="0"/>
              <a:t>‹#›</a:t>
            </a:fld>
            <a:endParaRPr kumimoji="1" lang="ja-JP" altLang="en-US"/>
          </a:p>
        </p:txBody>
      </p:sp>
    </p:spTree>
    <p:extLst>
      <p:ext uri="{BB962C8B-B14F-4D97-AF65-F5344CB8AC3E}">
        <p14:creationId xmlns:p14="http://schemas.microsoft.com/office/powerpoint/2010/main" val="73987175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9623784-AF6D-4633-A547-6FFCD1E1E9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9854FF-084F-4AD3-AE9B-E9677A1002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FD3EA87-5511-4F05-9563-BBD21D25B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44B36-478A-408D-8FE4-842FF9993655}" type="datetimeFigureOut">
              <a:rPr kumimoji="1" lang="ja-JP" altLang="en-US" smtClean="0"/>
              <a:t>2025/9/9</a:t>
            </a:fld>
            <a:endParaRPr kumimoji="1" lang="ja-JP" altLang="en-US"/>
          </a:p>
        </p:txBody>
      </p:sp>
      <p:sp>
        <p:nvSpPr>
          <p:cNvPr id="5" name="フッター プレースホルダー 4">
            <a:extLst>
              <a:ext uri="{FF2B5EF4-FFF2-40B4-BE49-F238E27FC236}">
                <a16:creationId xmlns:a16="http://schemas.microsoft.com/office/drawing/2014/main" id="{8DAF4E06-6088-4A83-A86F-22A8B8985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23325E6-A414-42E0-B768-808443B73A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1DBDC-6959-42D8-942F-54223B04F43B}" type="slidenum">
              <a:rPr kumimoji="1" lang="ja-JP" altLang="en-US" smtClean="0"/>
              <a:t>‹#›</a:t>
            </a:fld>
            <a:endParaRPr kumimoji="1" lang="ja-JP" altLang="en-US"/>
          </a:p>
        </p:txBody>
      </p:sp>
    </p:spTree>
    <p:extLst>
      <p:ext uri="{BB962C8B-B14F-4D97-AF65-F5344CB8AC3E}">
        <p14:creationId xmlns:p14="http://schemas.microsoft.com/office/powerpoint/2010/main" val="38336380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0.jpeg"/><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D1B26F0-D87D-4404-A567-F1E1B48571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297"/>
            <a:ext cx="12192000" cy="6828916"/>
          </a:xfrm>
          <a:prstGeom prst="rect">
            <a:avLst/>
          </a:prstGeom>
          <a:effectLst>
            <a:softEdge rad="31750"/>
          </a:effectLst>
        </p:spPr>
      </p:pic>
      <p:sp>
        <p:nvSpPr>
          <p:cNvPr id="11" name="テキスト ボックス 10">
            <a:extLst>
              <a:ext uri="{FF2B5EF4-FFF2-40B4-BE49-F238E27FC236}">
                <a16:creationId xmlns:a16="http://schemas.microsoft.com/office/drawing/2014/main" id="{F1EEF73A-9DE1-4279-874B-41708D2E1C8B}"/>
              </a:ext>
            </a:extLst>
          </p:cNvPr>
          <p:cNvSpPr txBox="1"/>
          <p:nvPr/>
        </p:nvSpPr>
        <p:spPr>
          <a:xfrm>
            <a:off x="2133600" y="2111432"/>
            <a:ext cx="7582334" cy="2123658"/>
          </a:xfrm>
          <a:prstGeom prst="rect">
            <a:avLst/>
          </a:prstGeom>
          <a:solidFill>
            <a:schemeClr val="lt1">
              <a:alpha val="60000"/>
            </a:schemeClr>
          </a:solidFill>
          <a:ln>
            <a:noFill/>
          </a:ln>
          <a:effectLst>
            <a:softEdge rad="317500"/>
          </a:effectLst>
        </p:spPr>
        <p:style>
          <a:lnRef idx="2">
            <a:schemeClr val="dk1"/>
          </a:lnRef>
          <a:fillRef idx="1">
            <a:schemeClr val="lt1"/>
          </a:fillRef>
          <a:effectRef idx="0">
            <a:schemeClr val="dk1"/>
          </a:effectRef>
          <a:fontRef idx="minor">
            <a:schemeClr val="dk1"/>
          </a:fontRef>
        </p:style>
        <p:txBody>
          <a:bodyPr wrap="square">
            <a:spAutoFit/>
          </a:bodyPr>
          <a:lstStyle/>
          <a:p>
            <a:pPr algn="ctr"/>
            <a:r>
              <a:rPr lang="ja-JP" altLang="en-US" sz="6600" dirty="0">
                <a:solidFill>
                  <a:srgbClr val="0000FF"/>
                </a:solidFill>
                <a:latin typeface="+mn-ea"/>
              </a:rPr>
              <a:t>農業技術研究会</a:t>
            </a:r>
            <a:endParaRPr lang="en-US" altLang="ja-JP" sz="6600" dirty="0">
              <a:solidFill>
                <a:srgbClr val="0000FF"/>
              </a:solidFill>
              <a:latin typeface="+mn-ea"/>
            </a:endParaRPr>
          </a:p>
          <a:p>
            <a:pPr algn="ctr"/>
            <a:r>
              <a:rPr lang="ja-JP" altLang="en-US" sz="6600" dirty="0">
                <a:solidFill>
                  <a:srgbClr val="0000FF"/>
                </a:solidFill>
                <a:latin typeface="+mn-ea"/>
              </a:rPr>
              <a:t>進捗報告</a:t>
            </a:r>
            <a:endParaRPr lang="en-US" altLang="ja-JP" sz="6600" dirty="0">
              <a:solidFill>
                <a:srgbClr val="0000FF"/>
              </a:solidFill>
              <a:latin typeface="+mn-ea"/>
            </a:endParaRPr>
          </a:p>
        </p:txBody>
      </p:sp>
      <p:sp>
        <p:nvSpPr>
          <p:cNvPr id="2" name="テキスト ボックス 1"/>
          <p:cNvSpPr txBox="1"/>
          <p:nvPr/>
        </p:nvSpPr>
        <p:spPr>
          <a:xfrm>
            <a:off x="9789472" y="5832788"/>
            <a:ext cx="2331087" cy="923330"/>
          </a:xfrm>
          <a:prstGeom prst="rect">
            <a:avLst/>
          </a:prstGeom>
          <a:noFill/>
        </p:spPr>
        <p:txBody>
          <a:bodyPr wrap="none" rtlCol="0">
            <a:spAutoFit/>
          </a:bodyPr>
          <a:lstStyle/>
          <a:p>
            <a:pPr algn="r"/>
            <a:r>
              <a:rPr kumimoji="1" lang="en-US" altLang="ja-JP" dirty="0"/>
              <a:t>            2025</a:t>
            </a:r>
            <a:r>
              <a:rPr kumimoji="1" lang="ja-JP" altLang="en-US" dirty="0"/>
              <a:t>年</a:t>
            </a:r>
            <a:r>
              <a:rPr lang="en-US" altLang="ja-JP" dirty="0"/>
              <a:t>7</a:t>
            </a:r>
            <a:r>
              <a:rPr lang="ja-JP" altLang="en-US" dirty="0"/>
              <a:t>月</a:t>
            </a:r>
            <a:r>
              <a:rPr lang="en-US" altLang="ja-JP" dirty="0"/>
              <a:t>29</a:t>
            </a:r>
            <a:r>
              <a:rPr lang="ja-JP" altLang="en-US" dirty="0"/>
              <a:t>日</a:t>
            </a:r>
            <a:endParaRPr kumimoji="1" lang="en-US" altLang="ja-JP" dirty="0"/>
          </a:p>
          <a:p>
            <a:pPr algn="r"/>
            <a:r>
              <a:rPr lang="ja-JP" altLang="en-US" dirty="0"/>
              <a:t>はーとふる農園 熊谷</a:t>
            </a:r>
            <a:endParaRPr lang="en-US" altLang="ja-JP" dirty="0"/>
          </a:p>
          <a:p>
            <a:pPr algn="r"/>
            <a:r>
              <a:rPr lang="ja-JP" altLang="en-US" dirty="0"/>
              <a:t>林田和明</a:t>
            </a:r>
            <a:endParaRPr kumimoji="1" lang="ja-JP" altLang="en-US" dirty="0"/>
          </a:p>
        </p:txBody>
      </p:sp>
    </p:spTree>
    <p:extLst>
      <p:ext uri="{BB962C8B-B14F-4D97-AF65-F5344CB8AC3E}">
        <p14:creationId xmlns:p14="http://schemas.microsoft.com/office/powerpoint/2010/main" val="222746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4294967295"/>
          </p:nvPr>
        </p:nvSpPr>
        <p:spPr>
          <a:xfrm>
            <a:off x="9900458" y="6459785"/>
            <a:ext cx="1312025" cy="365125"/>
          </a:xfrm>
        </p:spPr>
        <p:txBody>
          <a:bodyPr/>
          <a:lstStyle/>
          <a:p>
            <a:fld id="{F0033BD4-971A-440F-BC8B-CF4B709DE568}" type="slidenum">
              <a:rPr kumimoji="1" lang="ja-JP" altLang="en-US" smtClean="0">
                <a:latin typeface="+mn-ea"/>
              </a:rPr>
              <a:t>2</a:t>
            </a:fld>
            <a:endParaRPr kumimoji="1" lang="ja-JP" altLang="en-US">
              <a:latin typeface="+mn-ea"/>
            </a:endParaRPr>
          </a:p>
        </p:txBody>
      </p:sp>
      <p:sp>
        <p:nvSpPr>
          <p:cNvPr id="5" name="タイトル 1"/>
          <p:cNvSpPr>
            <a:spLocks noGrp="1"/>
          </p:cNvSpPr>
          <p:nvPr>
            <p:ph type="title"/>
          </p:nvPr>
        </p:nvSpPr>
        <p:spPr>
          <a:xfrm>
            <a:off x="1097280" y="657748"/>
            <a:ext cx="2294218" cy="420115"/>
          </a:xfrm>
        </p:spPr>
        <p:txBody>
          <a:bodyPr/>
          <a:lstStyle/>
          <a:p>
            <a:r>
              <a:rPr lang="ja-JP" altLang="en-US" dirty="0">
                <a:latin typeface="メイリオ" panose="020B0604030504040204" pitchFamily="50" charset="-128"/>
              </a:rPr>
              <a:t>報告内容　目次</a:t>
            </a:r>
          </a:p>
        </p:txBody>
      </p:sp>
      <p:sp>
        <p:nvSpPr>
          <p:cNvPr id="6" name="テキスト ボックス 5"/>
          <p:cNvSpPr txBox="1"/>
          <p:nvPr/>
        </p:nvSpPr>
        <p:spPr>
          <a:xfrm>
            <a:off x="644563" y="1384728"/>
            <a:ext cx="11415165" cy="5021055"/>
          </a:xfrm>
          <a:prstGeom prst="rect">
            <a:avLst/>
          </a:prstGeom>
          <a:noFill/>
        </p:spPr>
        <p:txBody>
          <a:bodyPr wrap="square" rtlCol="0">
            <a:spAutoFit/>
          </a:bodyPr>
          <a:lstStyle/>
          <a:p>
            <a:pPr>
              <a:lnSpc>
                <a:spcPct val="150000"/>
              </a:lnSpc>
            </a:pPr>
            <a:r>
              <a:rPr kumimoji="1" lang="ja-JP" altLang="en-US" sz="2400" dirty="0"/>
              <a:t>１．栽培試験の目的</a:t>
            </a:r>
            <a:endParaRPr kumimoji="1" lang="en-US" altLang="ja-JP" sz="2400" dirty="0"/>
          </a:p>
          <a:p>
            <a:pPr>
              <a:lnSpc>
                <a:spcPct val="150000"/>
              </a:lnSpc>
            </a:pPr>
            <a:r>
              <a:rPr kumimoji="1" lang="ja-JP" altLang="en-US" sz="2400" dirty="0"/>
              <a:t>２．栽培品種</a:t>
            </a:r>
            <a:endParaRPr kumimoji="1" lang="en-US" altLang="ja-JP" sz="2400" dirty="0"/>
          </a:p>
          <a:p>
            <a:pPr>
              <a:lnSpc>
                <a:spcPct val="150000"/>
              </a:lnSpc>
            </a:pPr>
            <a:r>
              <a:rPr lang="ja-JP" altLang="en-US" sz="2400" dirty="0"/>
              <a:t>３</a:t>
            </a:r>
            <a:r>
              <a:rPr kumimoji="1" lang="ja-JP" altLang="en-US" sz="2400" dirty="0"/>
              <a:t>．栽培試験</a:t>
            </a:r>
            <a:r>
              <a:rPr lang="ja-JP" altLang="en-US" sz="2400" dirty="0"/>
              <a:t>スケジュール</a:t>
            </a:r>
            <a:endParaRPr lang="en-US" altLang="ja-JP" sz="2400" dirty="0"/>
          </a:p>
          <a:p>
            <a:pPr>
              <a:lnSpc>
                <a:spcPct val="150000"/>
              </a:lnSpc>
            </a:pPr>
            <a:r>
              <a:rPr lang="ja-JP" altLang="en-US" sz="2400" dirty="0"/>
              <a:t>４</a:t>
            </a:r>
            <a:r>
              <a:rPr kumimoji="1" lang="ja-JP" altLang="en-US" sz="2400" dirty="0"/>
              <a:t>．</a:t>
            </a:r>
            <a:r>
              <a:rPr lang="ja-JP" altLang="en-US" sz="2400" dirty="0"/>
              <a:t>進捗（結果でも可）・</a:t>
            </a:r>
            <a:r>
              <a:rPr kumimoji="1" lang="ja-JP" altLang="en-US" sz="2400" dirty="0"/>
              <a:t>課題・対策（課題と対策はまとめて考察でも可）</a:t>
            </a:r>
            <a:endParaRPr kumimoji="1" lang="en-US" altLang="ja-JP" sz="2400" dirty="0"/>
          </a:p>
          <a:p>
            <a:pPr>
              <a:lnSpc>
                <a:spcPct val="150000"/>
              </a:lnSpc>
            </a:pPr>
            <a:r>
              <a:rPr lang="ja-JP" altLang="en-US" sz="2400" dirty="0"/>
              <a:t>　　①トマト　②</a:t>
            </a:r>
            <a:r>
              <a:rPr kumimoji="1" lang="ja-JP" altLang="en-US" sz="2400" dirty="0"/>
              <a:t>イチゴ　③</a:t>
            </a:r>
            <a:r>
              <a:rPr kumimoji="1" lang="en-US" altLang="ja-JP" sz="2400" dirty="0"/>
              <a:t>etc.</a:t>
            </a:r>
            <a:endParaRPr kumimoji="1" lang="en-US" altLang="ja-JP" sz="3200" dirty="0"/>
          </a:p>
          <a:p>
            <a:pPr>
              <a:lnSpc>
                <a:spcPct val="150000"/>
              </a:lnSpc>
            </a:pPr>
            <a:r>
              <a:rPr kumimoji="1" lang="ja-JP" altLang="en-US" sz="2400" dirty="0"/>
              <a:t>５．</a:t>
            </a:r>
            <a:r>
              <a:rPr lang="en-US" altLang="ja-JP" sz="2400" dirty="0"/>
              <a:t>59</a:t>
            </a:r>
            <a:r>
              <a:rPr lang="ja-JP" altLang="en-US" sz="2400" dirty="0"/>
              <a:t>期の取り組み</a:t>
            </a:r>
            <a:endParaRPr lang="en-US" altLang="ja-JP" sz="2400" dirty="0"/>
          </a:p>
          <a:p>
            <a:pPr>
              <a:lnSpc>
                <a:spcPct val="150000"/>
              </a:lnSpc>
            </a:pPr>
            <a:r>
              <a:rPr lang="ja-JP" altLang="en-US" sz="2400" dirty="0"/>
              <a:t>　　・高回転高単価作物の模索</a:t>
            </a:r>
            <a:endParaRPr lang="en-US" altLang="ja-JP" sz="2400" dirty="0"/>
          </a:p>
          <a:p>
            <a:pPr>
              <a:lnSpc>
                <a:spcPct val="150000"/>
              </a:lnSpc>
            </a:pPr>
            <a:r>
              <a:rPr kumimoji="1" lang="ja-JP" altLang="en-US" sz="2400" dirty="0"/>
              <a:t>　　・就労者のやりがいの創造</a:t>
            </a:r>
            <a:endParaRPr kumimoji="1" lang="en-US" altLang="ja-JP" sz="2400" dirty="0"/>
          </a:p>
          <a:p>
            <a:pPr>
              <a:lnSpc>
                <a:spcPct val="150000"/>
              </a:lnSpc>
            </a:pPr>
            <a:r>
              <a:rPr lang="ja-JP" altLang="en-US" sz="2400" dirty="0"/>
              <a:t>　　・高品質を目指した作業手順書と指導</a:t>
            </a:r>
            <a:endParaRPr kumimoji="1" lang="en-US" altLang="ja-JP" sz="2400" dirty="0"/>
          </a:p>
        </p:txBody>
      </p:sp>
    </p:spTree>
    <p:extLst>
      <p:ext uri="{BB962C8B-B14F-4D97-AF65-F5344CB8AC3E}">
        <p14:creationId xmlns:p14="http://schemas.microsoft.com/office/powerpoint/2010/main" val="2281287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97280" y="657748"/>
            <a:ext cx="5370381" cy="420115"/>
          </a:xfrm>
        </p:spPr>
        <p:txBody>
          <a:bodyPr/>
          <a:lstStyle/>
          <a:p>
            <a:r>
              <a:rPr lang="ja-JP" altLang="en-US" dirty="0"/>
              <a:t>１．農業技術研究会 栽培試験の目的　</a:t>
            </a:r>
            <a:endParaRPr kumimoji="1" lang="ja-JP" altLang="en-US" dirty="0"/>
          </a:p>
        </p:txBody>
      </p:sp>
      <p:sp>
        <p:nvSpPr>
          <p:cNvPr id="16" name="テキスト ボックス 15"/>
          <p:cNvSpPr txBox="1"/>
          <p:nvPr/>
        </p:nvSpPr>
        <p:spPr>
          <a:xfrm>
            <a:off x="644562" y="1622853"/>
            <a:ext cx="11168497" cy="3682226"/>
          </a:xfrm>
          <a:prstGeom prst="rect">
            <a:avLst/>
          </a:prstGeom>
          <a:noFill/>
        </p:spPr>
        <p:txBody>
          <a:bodyPr wrap="square" rtlCol="0">
            <a:spAutoFit/>
          </a:bodyPr>
          <a:lstStyle/>
          <a:p>
            <a:pPr>
              <a:lnSpc>
                <a:spcPct val="200000"/>
              </a:lnSpc>
            </a:pPr>
            <a:r>
              <a:rPr kumimoji="1" lang="ja-JP" altLang="en-US" sz="2400" dirty="0"/>
              <a:t>１．オリジナル栽培法の確立（各農園で栽培法を研究）</a:t>
            </a:r>
            <a:endParaRPr kumimoji="1" lang="en-US" altLang="ja-JP" sz="2400" dirty="0"/>
          </a:p>
          <a:p>
            <a:pPr>
              <a:lnSpc>
                <a:spcPct val="200000"/>
              </a:lnSpc>
            </a:pPr>
            <a:r>
              <a:rPr lang="ja-JP" altLang="en-US" sz="2400" dirty="0"/>
              <a:t>２．ビニールハウスの特性を活かした栽培時期の確立</a:t>
            </a:r>
            <a:endParaRPr kumimoji="1" lang="en-US" altLang="ja-JP" sz="2400" dirty="0"/>
          </a:p>
          <a:p>
            <a:pPr>
              <a:lnSpc>
                <a:spcPct val="200000"/>
              </a:lnSpc>
            </a:pPr>
            <a:r>
              <a:rPr kumimoji="1" lang="ja-JP" altLang="en-US" sz="2400" dirty="0"/>
              <a:t>３．</a:t>
            </a:r>
            <a:r>
              <a:rPr kumimoji="1" lang="ja-JP" altLang="en-US" sz="2400" dirty="0" err="1"/>
              <a:t>障がい</a:t>
            </a:r>
            <a:r>
              <a:rPr kumimoji="1" lang="ja-JP" altLang="en-US" sz="2400" dirty="0"/>
              <a:t>者の特性を活かした</a:t>
            </a:r>
            <a:r>
              <a:rPr kumimoji="1" lang="ja-JP" altLang="en-US" sz="2400" dirty="0">
                <a:solidFill>
                  <a:srgbClr val="FF0000"/>
                </a:solidFill>
              </a:rPr>
              <a:t>高品質作物</a:t>
            </a:r>
            <a:r>
              <a:rPr kumimoji="1" lang="ja-JP" altLang="en-US" sz="2400" dirty="0"/>
              <a:t>の栽培</a:t>
            </a:r>
            <a:endParaRPr kumimoji="1" lang="en-US" altLang="ja-JP" sz="2400" dirty="0"/>
          </a:p>
          <a:p>
            <a:pPr>
              <a:lnSpc>
                <a:spcPct val="200000"/>
              </a:lnSpc>
            </a:pPr>
            <a:r>
              <a:rPr lang="ja-JP" altLang="en-US" sz="2400" dirty="0"/>
              <a:t>４．</a:t>
            </a:r>
            <a:r>
              <a:rPr lang="ja-JP" altLang="en-US" sz="2400" dirty="0" err="1"/>
              <a:t>障がい</a:t>
            </a:r>
            <a:r>
              <a:rPr lang="ja-JP" altLang="en-US" sz="2400" dirty="0"/>
              <a:t>者の特性を活かした</a:t>
            </a:r>
            <a:r>
              <a:rPr lang="ja-JP" altLang="en-US" sz="2400" dirty="0">
                <a:solidFill>
                  <a:srgbClr val="FF0000"/>
                </a:solidFill>
              </a:rPr>
              <a:t>付加価値作物</a:t>
            </a:r>
            <a:r>
              <a:rPr lang="ja-JP" altLang="en-US" sz="2400" dirty="0"/>
              <a:t>の開発</a:t>
            </a:r>
            <a:endParaRPr lang="en-US" altLang="ja-JP" sz="2400" dirty="0"/>
          </a:p>
          <a:p>
            <a:pPr>
              <a:lnSpc>
                <a:spcPct val="200000"/>
              </a:lnSpc>
            </a:pPr>
            <a:endParaRPr lang="en-US" altLang="ja-JP" sz="2400" dirty="0"/>
          </a:p>
        </p:txBody>
      </p:sp>
    </p:spTree>
    <p:extLst>
      <p:ext uri="{BB962C8B-B14F-4D97-AF65-F5344CB8AC3E}">
        <p14:creationId xmlns:p14="http://schemas.microsoft.com/office/powerpoint/2010/main" val="2269362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97280" y="671598"/>
            <a:ext cx="5006499" cy="406265"/>
          </a:xfrm>
        </p:spPr>
        <p:txBody>
          <a:bodyPr/>
          <a:lstStyle/>
          <a:p>
            <a:r>
              <a:rPr lang="ja-JP" altLang="en-US" dirty="0"/>
              <a:t>２．栽培品種・栽培方法・生育温度</a:t>
            </a:r>
            <a:endParaRPr kumimoji="1" lang="ja-JP" altLang="en-US" dirty="0"/>
          </a:p>
        </p:txBody>
      </p:sp>
      <p:graphicFrame>
        <p:nvGraphicFramePr>
          <p:cNvPr id="3" name="表 2"/>
          <p:cNvGraphicFramePr>
            <a:graphicFrameLocks noGrp="1"/>
          </p:cNvGraphicFramePr>
          <p:nvPr>
            <p:extLst>
              <p:ext uri="{D42A27DB-BD31-4B8C-83A1-F6EECF244321}">
                <p14:modId xmlns:p14="http://schemas.microsoft.com/office/powerpoint/2010/main" val="276926074"/>
              </p:ext>
            </p:extLst>
          </p:nvPr>
        </p:nvGraphicFramePr>
        <p:xfrm>
          <a:off x="328782" y="1207260"/>
          <a:ext cx="11298803" cy="3200837"/>
        </p:xfrm>
        <a:graphic>
          <a:graphicData uri="http://schemas.openxmlformats.org/drawingml/2006/table">
            <a:tbl>
              <a:tblPr firstRow="1" bandRow="1">
                <a:tableStyleId>{5C22544A-7EE6-4342-B048-85BDC9FD1C3A}</a:tableStyleId>
              </a:tblPr>
              <a:tblGrid>
                <a:gridCol w="905825">
                  <a:extLst>
                    <a:ext uri="{9D8B030D-6E8A-4147-A177-3AD203B41FA5}">
                      <a16:colId xmlns:a16="http://schemas.microsoft.com/office/drawing/2014/main" val="20000"/>
                    </a:ext>
                  </a:extLst>
                </a:gridCol>
                <a:gridCol w="2094726">
                  <a:extLst>
                    <a:ext uri="{9D8B030D-6E8A-4147-A177-3AD203B41FA5}">
                      <a16:colId xmlns:a16="http://schemas.microsoft.com/office/drawing/2014/main" val="20001"/>
                    </a:ext>
                  </a:extLst>
                </a:gridCol>
                <a:gridCol w="2887326">
                  <a:extLst>
                    <a:ext uri="{9D8B030D-6E8A-4147-A177-3AD203B41FA5}">
                      <a16:colId xmlns:a16="http://schemas.microsoft.com/office/drawing/2014/main" val="20002"/>
                    </a:ext>
                  </a:extLst>
                </a:gridCol>
                <a:gridCol w="2168644">
                  <a:extLst>
                    <a:ext uri="{9D8B030D-6E8A-4147-A177-3AD203B41FA5}">
                      <a16:colId xmlns:a16="http://schemas.microsoft.com/office/drawing/2014/main" val="20003"/>
                    </a:ext>
                  </a:extLst>
                </a:gridCol>
                <a:gridCol w="3242282">
                  <a:extLst>
                    <a:ext uri="{9D8B030D-6E8A-4147-A177-3AD203B41FA5}">
                      <a16:colId xmlns:a16="http://schemas.microsoft.com/office/drawing/2014/main" val="20005"/>
                    </a:ext>
                  </a:extLst>
                </a:gridCol>
              </a:tblGrid>
              <a:tr h="577679">
                <a:tc>
                  <a:txBody>
                    <a:bodyPr/>
                    <a:lstStyle/>
                    <a:p>
                      <a:pPr algn="ctr"/>
                      <a:endParaRPr kumimoji="1" lang="ja-JP" altLang="en-US" sz="1200" dirty="0">
                        <a:latin typeface="+mn-ea"/>
                        <a:ea typeface="+mn-ea"/>
                      </a:endParaRPr>
                    </a:p>
                  </a:txBody>
                  <a:tcPr vert="eaVert" anchor="ctr"/>
                </a:tc>
                <a:tc>
                  <a:txBody>
                    <a:bodyPr/>
                    <a:lstStyle/>
                    <a:p>
                      <a:pPr algn="ctr"/>
                      <a:r>
                        <a:rPr kumimoji="1" lang="ja-JP" altLang="en-US" sz="1200" dirty="0">
                          <a:latin typeface="+mn-ea"/>
                          <a:ea typeface="+mn-ea"/>
                        </a:rPr>
                        <a:t>品目</a:t>
                      </a:r>
                      <a:endParaRPr kumimoji="1" lang="en-US" altLang="ja-JP" sz="1200" dirty="0">
                        <a:latin typeface="+mn-ea"/>
                        <a:ea typeface="+mn-ea"/>
                      </a:endParaRPr>
                    </a:p>
                  </a:txBody>
                  <a:tcPr anchor="ctr"/>
                </a:tc>
                <a:tc>
                  <a:txBody>
                    <a:bodyPr/>
                    <a:lstStyle/>
                    <a:p>
                      <a:pPr algn="ctr"/>
                      <a:r>
                        <a:rPr kumimoji="1" lang="ja-JP" altLang="en-US" sz="1200" dirty="0">
                          <a:latin typeface="+mn-ea"/>
                          <a:ea typeface="+mn-ea"/>
                        </a:rPr>
                        <a:t>品種</a:t>
                      </a:r>
                      <a:endParaRPr kumimoji="1" lang="en-US" altLang="ja-JP" sz="1200" dirty="0">
                        <a:latin typeface="+mn-ea"/>
                        <a:ea typeface="+mn-ea"/>
                      </a:endParaRPr>
                    </a:p>
                  </a:txBody>
                  <a:tcPr anchor="ctr"/>
                </a:tc>
                <a:tc>
                  <a:txBody>
                    <a:bodyPr/>
                    <a:lstStyle/>
                    <a:p>
                      <a:pPr algn="ctr"/>
                      <a:r>
                        <a:rPr kumimoji="1" lang="ja-JP" altLang="en-US" sz="1200" dirty="0">
                          <a:latin typeface="+mn-ea"/>
                          <a:ea typeface="+mn-ea"/>
                        </a:rPr>
                        <a:t>栽培方法（熊谷）</a:t>
                      </a:r>
                    </a:p>
                  </a:txBody>
                  <a:tcPr anchor="ctr"/>
                </a:tc>
                <a:tc>
                  <a:txBody>
                    <a:bodyPr/>
                    <a:lstStyle/>
                    <a:p>
                      <a:pPr algn="ctr"/>
                      <a:r>
                        <a:rPr kumimoji="1" lang="ja-JP" altLang="en-US" sz="1200" dirty="0">
                          <a:latin typeface="+mn-ea"/>
                          <a:ea typeface="+mn-ea"/>
                        </a:rPr>
                        <a:t>生育最適温度</a:t>
                      </a:r>
                    </a:p>
                  </a:txBody>
                  <a:tcPr marL="91247" marR="91247" anchor="ctr"/>
                </a:tc>
                <a:extLst>
                  <a:ext uri="{0D108BD9-81ED-4DB2-BD59-A6C34878D82A}">
                    <a16:rowId xmlns:a16="http://schemas.microsoft.com/office/drawing/2014/main" val="10000"/>
                  </a:ext>
                </a:extLst>
              </a:tr>
              <a:tr h="1424087">
                <a:tc rowSpan="2">
                  <a:txBody>
                    <a:bodyPr/>
                    <a:lstStyle/>
                    <a:p>
                      <a:pPr algn="ctr"/>
                      <a:r>
                        <a:rPr kumimoji="1" lang="ja-JP" altLang="en-US" sz="1400" dirty="0">
                          <a:latin typeface="+mn-ea"/>
                          <a:ea typeface="+mn-ea"/>
                        </a:rPr>
                        <a:t>指定品種</a:t>
                      </a:r>
                    </a:p>
                  </a:txBody>
                  <a:tcPr vert="eaVert" anchor="ctr">
                    <a:solidFill>
                      <a:schemeClr val="accent1">
                        <a:lumMod val="20000"/>
                        <a:lumOff val="80000"/>
                      </a:schemeClr>
                    </a:solidFill>
                  </a:tcPr>
                </a:tc>
                <a:tc>
                  <a:txBody>
                    <a:bodyPr/>
                    <a:lstStyle/>
                    <a:p>
                      <a:r>
                        <a:rPr kumimoji="1" lang="ja-JP" altLang="en-US" sz="1600" dirty="0">
                          <a:latin typeface="+mn-ea"/>
                          <a:ea typeface="+mn-ea"/>
                        </a:rPr>
                        <a:t>トマト</a:t>
                      </a:r>
                      <a:endParaRPr kumimoji="1" lang="en-US" altLang="ja-JP" sz="1600" dirty="0">
                        <a:latin typeface="+mn-ea"/>
                        <a:ea typeface="+mn-ea"/>
                      </a:endParaRPr>
                    </a:p>
                  </a:txBody>
                  <a:tcPr anchor="ctr"/>
                </a:tc>
                <a:tc>
                  <a:txBody>
                    <a:bodyPr/>
                    <a:lstStyle/>
                    <a:p>
                      <a:r>
                        <a:rPr kumimoji="1" lang="ja-JP" altLang="en-US" sz="1600" dirty="0">
                          <a:latin typeface="+mn-ea"/>
                          <a:ea typeface="+mn-ea"/>
                        </a:rPr>
                        <a:t>フルティカ</a:t>
                      </a:r>
                      <a:endParaRPr kumimoji="1" lang="en-US" altLang="ja-JP" sz="1600" dirty="0">
                        <a:latin typeface="+mn-ea"/>
                        <a:ea typeface="+mn-ea"/>
                      </a:endParaRPr>
                    </a:p>
                  </a:txBody>
                  <a:tcPr anchor="ctr"/>
                </a:tc>
                <a:tc>
                  <a:txBody>
                    <a:bodyPr/>
                    <a:lstStyle/>
                    <a:p>
                      <a:pPr algn="ctr"/>
                      <a:r>
                        <a:rPr kumimoji="1" lang="ja-JP" altLang="en-US" sz="1600" dirty="0">
                          <a:latin typeface="+mn-ea"/>
                          <a:ea typeface="+mn-ea"/>
                        </a:rPr>
                        <a:t>低段密植栽培</a:t>
                      </a:r>
                    </a:p>
                  </a:txBody>
                  <a:tcPr anchor="ctr"/>
                </a:tc>
                <a:tc>
                  <a:txBody>
                    <a:bodyPr/>
                    <a:lstStyle/>
                    <a:p>
                      <a:r>
                        <a:rPr kumimoji="1" lang="ja-JP" altLang="en-US" sz="1600" dirty="0">
                          <a:latin typeface="+mn-ea"/>
                          <a:ea typeface="+mn-ea"/>
                        </a:rPr>
                        <a:t>昼間：</a:t>
                      </a:r>
                      <a:r>
                        <a:rPr kumimoji="1" lang="en-US" altLang="ja-JP" sz="1600" dirty="0">
                          <a:latin typeface="+mn-ea"/>
                          <a:ea typeface="+mn-ea"/>
                        </a:rPr>
                        <a:t>20</a:t>
                      </a:r>
                      <a:r>
                        <a:rPr kumimoji="1" lang="ja-JP" altLang="en-US" sz="1600" dirty="0">
                          <a:latin typeface="+mn-ea"/>
                          <a:ea typeface="+mn-ea"/>
                        </a:rPr>
                        <a:t>～</a:t>
                      </a:r>
                      <a:r>
                        <a:rPr kumimoji="1" lang="en-US" altLang="ja-JP" sz="1600" dirty="0">
                          <a:latin typeface="+mn-ea"/>
                          <a:ea typeface="+mn-ea"/>
                        </a:rPr>
                        <a:t>30℃</a:t>
                      </a:r>
                    </a:p>
                    <a:p>
                      <a:r>
                        <a:rPr kumimoji="1" lang="ja-JP" altLang="en-US" sz="1600" dirty="0">
                          <a:latin typeface="+mn-ea"/>
                          <a:ea typeface="+mn-ea"/>
                        </a:rPr>
                        <a:t>暖房設定：</a:t>
                      </a:r>
                      <a:r>
                        <a:rPr kumimoji="1" lang="en-US" altLang="ja-JP" sz="1600" dirty="0">
                          <a:latin typeface="+mn-ea"/>
                          <a:ea typeface="+mn-ea"/>
                        </a:rPr>
                        <a:t>11℃</a:t>
                      </a:r>
                    </a:p>
                    <a:p>
                      <a:r>
                        <a:rPr kumimoji="1" lang="ja-JP" altLang="en-US" sz="1600" dirty="0">
                          <a:latin typeface="+mn-ea"/>
                          <a:ea typeface="+mn-ea"/>
                        </a:rPr>
                        <a:t>最低限界：</a:t>
                      </a:r>
                      <a:r>
                        <a:rPr kumimoji="1" lang="en-US" altLang="ja-JP" sz="1600" dirty="0">
                          <a:latin typeface="+mn-ea"/>
                          <a:ea typeface="+mn-ea"/>
                        </a:rPr>
                        <a:t>5℃ </a:t>
                      </a:r>
                      <a:r>
                        <a:rPr kumimoji="1" lang="ja-JP" altLang="en-US" sz="1600" dirty="0">
                          <a:latin typeface="+mn-ea"/>
                          <a:ea typeface="+mn-ea"/>
                        </a:rPr>
                        <a:t>最高限界：</a:t>
                      </a:r>
                      <a:r>
                        <a:rPr kumimoji="1" lang="en-US" altLang="ja-JP" sz="1600" dirty="0">
                          <a:latin typeface="+mn-ea"/>
                          <a:ea typeface="+mn-ea"/>
                        </a:rPr>
                        <a:t>35</a:t>
                      </a:r>
                      <a:r>
                        <a:rPr kumimoji="1" lang="ja-JP" altLang="en-US" sz="1600" dirty="0">
                          <a:latin typeface="+mn-ea"/>
                          <a:ea typeface="+mn-ea"/>
                        </a:rPr>
                        <a:t>℃</a:t>
                      </a:r>
                    </a:p>
                  </a:txBody>
                  <a:tcPr marL="91247" marR="91247" anchor="ctr"/>
                </a:tc>
                <a:extLst>
                  <a:ext uri="{0D108BD9-81ED-4DB2-BD59-A6C34878D82A}">
                    <a16:rowId xmlns:a16="http://schemas.microsoft.com/office/drawing/2014/main" val="10001"/>
                  </a:ext>
                </a:extLst>
              </a:tr>
              <a:tr h="1199071">
                <a:tc vMerge="1">
                  <a:txBody>
                    <a:bodyPr/>
                    <a:lstStyle/>
                    <a:p>
                      <a:endParaRPr kumimoji="1" lang="ja-JP" altLang="en-US"/>
                    </a:p>
                  </a:txBody>
                  <a:tcPr/>
                </a:tc>
                <a:tc>
                  <a:txBody>
                    <a:bodyPr/>
                    <a:lstStyle/>
                    <a:p>
                      <a:r>
                        <a:rPr kumimoji="1" lang="ja-JP" altLang="en-US" sz="1600" b="0" dirty="0">
                          <a:solidFill>
                            <a:schemeClr val="tx1"/>
                          </a:solidFill>
                          <a:latin typeface="+mn-ea"/>
                          <a:ea typeface="+mn-ea"/>
                        </a:rPr>
                        <a:t>いちご</a:t>
                      </a:r>
                    </a:p>
                  </a:txBody>
                  <a:tcPr anchor="ctr"/>
                </a:tc>
                <a:tc>
                  <a:txBody>
                    <a:bodyPr/>
                    <a:lstStyle/>
                    <a:p>
                      <a:r>
                        <a:rPr kumimoji="1" lang="ja-JP" altLang="en-US" sz="1600" b="0" dirty="0">
                          <a:solidFill>
                            <a:schemeClr val="tx1"/>
                          </a:solidFill>
                          <a:latin typeface="+mn-ea"/>
                          <a:ea typeface="+mn-ea"/>
                        </a:rPr>
                        <a:t>章姫、紅</a:t>
                      </a:r>
                      <a:r>
                        <a:rPr kumimoji="1" lang="ja-JP" altLang="en-US" sz="1600" b="0" dirty="0" err="1">
                          <a:solidFill>
                            <a:schemeClr val="tx1"/>
                          </a:solidFill>
                          <a:latin typeface="+mn-ea"/>
                          <a:ea typeface="+mn-ea"/>
                        </a:rPr>
                        <a:t>ほっぺ</a:t>
                      </a:r>
                      <a:endParaRPr kumimoji="1" lang="en-US" altLang="ja-JP" sz="1600" b="0" dirty="0">
                        <a:solidFill>
                          <a:schemeClr val="tx1"/>
                        </a:solidFill>
                        <a:latin typeface="+mn-ea"/>
                        <a:ea typeface="+mn-ea"/>
                      </a:endParaRPr>
                    </a:p>
                  </a:txBody>
                  <a:tcPr anchor="ctr"/>
                </a:tc>
                <a:tc>
                  <a:txBody>
                    <a:bodyPr/>
                    <a:lstStyle/>
                    <a:p>
                      <a:pPr algn="ctr"/>
                      <a:r>
                        <a:rPr kumimoji="1" lang="ja-JP" altLang="en-US" sz="1600" dirty="0">
                          <a:latin typeface="+mn-ea"/>
                          <a:ea typeface="+mn-ea"/>
                        </a:rPr>
                        <a:t>・砂培地</a:t>
                      </a:r>
                      <a:endParaRPr kumimoji="1" lang="en-US" altLang="ja-JP" sz="1600" dirty="0">
                        <a:latin typeface="+mn-ea"/>
                        <a:ea typeface="+mn-ea"/>
                      </a:endParaRPr>
                    </a:p>
                    <a:p>
                      <a:pPr algn="ctr"/>
                      <a:r>
                        <a:rPr kumimoji="1" lang="ja-JP" altLang="en-US" sz="1600" dirty="0">
                          <a:latin typeface="+mn-ea"/>
                          <a:ea typeface="+mn-ea"/>
                        </a:rPr>
                        <a:t>・プランター用培養土</a:t>
                      </a:r>
                    </a:p>
                  </a:txBody>
                  <a:tcPr anchor="ctr"/>
                </a:tc>
                <a:tc>
                  <a:txBody>
                    <a:bodyPr/>
                    <a:lstStyle/>
                    <a:p>
                      <a:r>
                        <a:rPr kumimoji="1" lang="ja-JP" altLang="en-US" sz="1600" dirty="0">
                          <a:latin typeface="+mn-ea"/>
                          <a:ea typeface="+mn-ea"/>
                        </a:rPr>
                        <a:t>昼間：</a:t>
                      </a:r>
                      <a:r>
                        <a:rPr kumimoji="1" lang="en-US" altLang="ja-JP" sz="1600" dirty="0">
                          <a:latin typeface="+mn-ea"/>
                          <a:ea typeface="+mn-ea"/>
                        </a:rPr>
                        <a:t>20</a:t>
                      </a:r>
                      <a:r>
                        <a:rPr kumimoji="1" lang="ja-JP" altLang="en-US" sz="1600" dirty="0">
                          <a:latin typeface="+mn-ea"/>
                          <a:ea typeface="+mn-ea"/>
                        </a:rPr>
                        <a:t>～</a:t>
                      </a:r>
                      <a:r>
                        <a:rPr kumimoji="1" lang="en-US" altLang="ja-JP" sz="1600" dirty="0">
                          <a:latin typeface="+mn-ea"/>
                          <a:ea typeface="+mn-ea"/>
                        </a:rPr>
                        <a:t>26℃</a:t>
                      </a:r>
                    </a:p>
                    <a:p>
                      <a:r>
                        <a:rPr kumimoji="1" lang="ja-JP" altLang="en-US" sz="1600" dirty="0">
                          <a:latin typeface="+mn-ea"/>
                          <a:ea typeface="+mn-ea"/>
                        </a:rPr>
                        <a:t>暖房設定：</a:t>
                      </a:r>
                      <a:r>
                        <a:rPr kumimoji="1" lang="en-US" altLang="ja-JP" sz="1600" dirty="0">
                          <a:latin typeface="+mn-ea"/>
                          <a:ea typeface="+mn-ea"/>
                        </a:rPr>
                        <a:t>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最低限界：</a:t>
                      </a:r>
                      <a:r>
                        <a:rPr kumimoji="1" lang="en-US" altLang="ja-JP" sz="1600" dirty="0">
                          <a:latin typeface="+mn-ea"/>
                          <a:ea typeface="+mn-ea"/>
                        </a:rPr>
                        <a:t>0℃</a:t>
                      </a:r>
                      <a:r>
                        <a:rPr kumimoji="1" lang="ja-JP" altLang="en-US" sz="1600" dirty="0">
                          <a:latin typeface="+mn-ea"/>
                          <a:ea typeface="+mn-ea"/>
                        </a:rPr>
                        <a:t>　最高限界：</a:t>
                      </a:r>
                      <a:r>
                        <a:rPr kumimoji="1" lang="en-US" altLang="ja-JP" sz="1600" dirty="0">
                          <a:latin typeface="+mn-ea"/>
                          <a:ea typeface="+mn-ea"/>
                        </a:rPr>
                        <a:t>30</a:t>
                      </a:r>
                      <a:r>
                        <a:rPr kumimoji="1" lang="ja-JP" altLang="en-US" sz="1600" dirty="0">
                          <a:latin typeface="+mn-ea"/>
                          <a:ea typeface="+mn-ea"/>
                        </a:rPr>
                        <a:t>℃</a:t>
                      </a:r>
                    </a:p>
                  </a:txBody>
                  <a:tcPr marL="91247" marR="91247" anchor="ctr"/>
                </a:tc>
                <a:extLst>
                  <a:ext uri="{0D108BD9-81ED-4DB2-BD59-A6C34878D82A}">
                    <a16:rowId xmlns:a16="http://schemas.microsoft.com/office/drawing/2014/main" val="10003"/>
                  </a:ext>
                </a:extLst>
              </a:tr>
            </a:tbl>
          </a:graphicData>
        </a:graphic>
      </p:graphicFrame>
      <p:sp>
        <p:nvSpPr>
          <p:cNvPr id="4" name="テキスト ボックス 3"/>
          <p:cNvSpPr txBox="1"/>
          <p:nvPr/>
        </p:nvSpPr>
        <p:spPr>
          <a:xfrm>
            <a:off x="11763375" y="6400800"/>
            <a:ext cx="219075" cy="369332"/>
          </a:xfrm>
          <a:prstGeom prst="rect">
            <a:avLst/>
          </a:prstGeom>
          <a:noFill/>
        </p:spPr>
        <p:txBody>
          <a:bodyPr wrap="square" rtlCol="0">
            <a:spAutoFit/>
          </a:bodyPr>
          <a:lstStyle/>
          <a:p>
            <a:r>
              <a:rPr kumimoji="1" lang="en-US" altLang="ja-JP" dirty="0"/>
              <a:t>4</a:t>
            </a:r>
            <a:endParaRPr kumimoji="1" lang="ja-JP" altLang="en-US" dirty="0"/>
          </a:p>
        </p:txBody>
      </p:sp>
    </p:spTree>
    <p:extLst>
      <p:ext uri="{BB962C8B-B14F-4D97-AF65-F5344CB8AC3E}">
        <p14:creationId xmlns:p14="http://schemas.microsoft.com/office/powerpoint/2010/main" val="1676949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4294967295"/>
          </p:nvPr>
        </p:nvSpPr>
        <p:spPr>
          <a:xfrm>
            <a:off x="9900458" y="6459785"/>
            <a:ext cx="1312025" cy="365125"/>
          </a:xfrm>
        </p:spPr>
        <p:txBody>
          <a:bodyPr/>
          <a:lstStyle/>
          <a:p>
            <a:fld id="{F0033BD4-971A-440F-BC8B-CF4B709DE568}" type="slidenum">
              <a:rPr kumimoji="1" lang="ja-JP" altLang="en-US" smtClean="0">
                <a:latin typeface="+mn-ea"/>
              </a:rPr>
              <a:t>5</a:t>
            </a:fld>
            <a:endParaRPr kumimoji="1" lang="ja-JP" altLang="en-US">
              <a:latin typeface="+mn-ea"/>
            </a:endParaRPr>
          </a:p>
        </p:txBody>
      </p:sp>
      <p:sp>
        <p:nvSpPr>
          <p:cNvPr id="5" name="タイトル 1"/>
          <p:cNvSpPr>
            <a:spLocks noGrp="1"/>
          </p:cNvSpPr>
          <p:nvPr>
            <p:ph type="title"/>
          </p:nvPr>
        </p:nvSpPr>
        <p:spPr>
          <a:xfrm>
            <a:off x="1097280" y="671598"/>
            <a:ext cx="3081293" cy="406265"/>
          </a:xfrm>
        </p:spPr>
        <p:txBody>
          <a:bodyPr/>
          <a:lstStyle/>
          <a:p>
            <a:r>
              <a:rPr lang="en-US" altLang="ja-JP" dirty="0">
                <a:latin typeface="メイリオ" panose="020B0604030504040204" pitchFamily="50" charset="-128"/>
              </a:rPr>
              <a:t>3</a:t>
            </a:r>
            <a:r>
              <a:rPr lang="ja-JP" altLang="en-US" dirty="0" err="1">
                <a:latin typeface="メイリオ" panose="020B0604030504040204" pitchFamily="50" charset="-128"/>
              </a:rPr>
              <a:t>．</a:t>
            </a:r>
            <a:r>
              <a:rPr lang="ja-JP" altLang="en-US" dirty="0"/>
              <a:t>栽培スケジュール</a:t>
            </a:r>
            <a:endParaRPr lang="ja-JP" altLang="en-US" dirty="0">
              <a:latin typeface="メイリオ" panose="020B0604030504040204" pitchFamily="50" charset="-128"/>
            </a:endParaRPr>
          </a:p>
        </p:txBody>
      </p:sp>
      <p:sp>
        <p:nvSpPr>
          <p:cNvPr id="6" name="テキスト ボックス 5"/>
          <p:cNvSpPr txBox="1"/>
          <p:nvPr/>
        </p:nvSpPr>
        <p:spPr>
          <a:xfrm>
            <a:off x="11763375" y="6400800"/>
            <a:ext cx="219075" cy="369332"/>
          </a:xfrm>
          <a:prstGeom prst="rect">
            <a:avLst/>
          </a:prstGeom>
          <a:noFill/>
        </p:spPr>
        <p:txBody>
          <a:bodyPr wrap="square" rtlCol="0">
            <a:spAutoFit/>
          </a:bodyPr>
          <a:lstStyle/>
          <a:p>
            <a:r>
              <a:rPr kumimoji="1" lang="en-US" altLang="ja-JP" dirty="0"/>
              <a:t>7</a:t>
            </a:r>
            <a:endParaRPr kumimoji="1" lang="ja-JP" altLang="en-US" dirty="0"/>
          </a:p>
        </p:txBody>
      </p:sp>
      <p:sp>
        <p:nvSpPr>
          <p:cNvPr id="7" name="テキスト ボックス 6">
            <a:extLst>
              <a:ext uri="{FF2B5EF4-FFF2-40B4-BE49-F238E27FC236}">
                <a16:creationId xmlns:a16="http://schemas.microsoft.com/office/drawing/2014/main" id="{380F1335-97B8-CEDF-BCA0-34E2AFB30A51}"/>
              </a:ext>
            </a:extLst>
          </p:cNvPr>
          <p:cNvSpPr txBox="1"/>
          <p:nvPr/>
        </p:nvSpPr>
        <p:spPr>
          <a:xfrm>
            <a:off x="2375183" y="4449830"/>
            <a:ext cx="7441632" cy="400110"/>
          </a:xfrm>
          <a:prstGeom prst="rect">
            <a:avLst/>
          </a:prstGeom>
          <a:solidFill>
            <a:schemeClr val="bg1"/>
          </a:solidFill>
        </p:spPr>
        <p:txBody>
          <a:bodyPr wrap="square" rtlCol="0">
            <a:spAutoFit/>
          </a:bodyPr>
          <a:lstStyle/>
          <a:p>
            <a:r>
              <a:rPr lang="ja-JP" altLang="en-US" sz="2000" dirty="0"/>
              <a:t>トマトは高温のため</a:t>
            </a:r>
            <a:r>
              <a:rPr lang="en-US" altLang="ja-JP" sz="2000" dirty="0"/>
              <a:t>7</a:t>
            </a:r>
            <a:r>
              <a:rPr lang="ja-JP" altLang="en-US" sz="2000" dirty="0"/>
              <a:t>月末で休止。いちごは</a:t>
            </a:r>
            <a:r>
              <a:rPr lang="en-US" altLang="ja-JP" sz="2000" dirty="0"/>
              <a:t>4</a:t>
            </a:r>
            <a:r>
              <a:rPr lang="ja-JP" altLang="en-US" sz="2000" dirty="0"/>
              <a:t>月末にて栽培終了。</a:t>
            </a:r>
            <a:endParaRPr lang="en-US" altLang="ja-JP" sz="2000" dirty="0"/>
          </a:p>
        </p:txBody>
      </p:sp>
      <p:pic>
        <p:nvPicPr>
          <p:cNvPr id="2" name="図 1">
            <a:extLst>
              <a:ext uri="{FF2B5EF4-FFF2-40B4-BE49-F238E27FC236}">
                <a16:creationId xmlns:a16="http://schemas.microsoft.com/office/drawing/2014/main" id="{BB6865B5-9292-CFF9-0410-18C21555522E}"/>
              </a:ext>
            </a:extLst>
          </p:cNvPr>
          <p:cNvPicPr>
            <a:picLocks noChangeAspect="1"/>
          </p:cNvPicPr>
          <p:nvPr/>
        </p:nvPicPr>
        <p:blipFill>
          <a:blip r:embed="rId3"/>
          <a:stretch>
            <a:fillRect/>
          </a:stretch>
        </p:blipFill>
        <p:spPr>
          <a:xfrm>
            <a:off x="305004" y="2596125"/>
            <a:ext cx="11600011" cy="1582585"/>
          </a:xfrm>
          <a:prstGeom prst="rect">
            <a:avLst/>
          </a:prstGeom>
        </p:spPr>
      </p:pic>
    </p:spTree>
    <p:extLst>
      <p:ext uri="{BB962C8B-B14F-4D97-AF65-F5344CB8AC3E}">
        <p14:creationId xmlns:p14="http://schemas.microsoft.com/office/powerpoint/2010/main" val="1947921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4294967295"/>
          </p:nvPr>
        </p:nvSpPr>
        <p:spPr>
          <a:xfrm>
            <a:off x="9900458" y="6459785"/>
            <a:ext cx="1312025" cy="365125"/>
          </a:xfrm>
        </p:spPr>
        <p:txBody>
          <a:bodyPr/>
          <a:lstStyle/>
          <a:p>
            <a:fld id="{F0033BD4-971A-440F-BC8B-CF4B709DE568}" type="slidenum">
              <a:rPr kumimoji="1" lang="ja-JP" altLang="en-US" smtClean="0">
                <a:latin typeface="+mn-ea"/>
              </a:rPr>
              <a:t>6</a:t>
            </a:fld>
            <a:endParaRPr kumimoji="1" lang="ja-JP" altLang="en-US">
              <a:latin typeface="+mn-ea"/>
            </a:endParaRPr>
          </a:p>
        </p:txBody>
      </p:sp>
      <p:sp>
        <p:nvSpPr>
          <p:cNvPr id="3" name="テキスト ボックス 2"/>
          <p:cNvSpPr txBox="1"/>
          <p:nvPr/>
        </p:nvSpPr>
        <p:spPr>
          <a:xfrm>
            <a:off x="94899" y="1267649"/>
            <a:ext cx="11536392" cy="4024179"/>
          </a:xfrm>
          <a:prstGeom prst="rect">
            <a:avLst/>
          </a:prstGeom>
          <a:noFill/>
        </p:spPr>
        <p:txBody>
          <a:bodyPr wrap="square" rtlCol="0">
            <a:spAutoFit/>
          </a:bodyPr>
          <a:lstStyle/>
          <a:p>
            <a:pPr>
              <a:lnSpc>
                <a:spcPct val="200000"/>
              </a:lnSpc>
            </a:pPr>
            <a:r>
              <a:rPr lang="en-US" altLang="ja-JP" sz="2000" dirty="0"/>
              <a:t>【</a:t>
            </a:r>
            <a:r>
              <a:rPr lang="ja-JP" altLang="en-US" sz="2000" dirty="0"/>
              <a:t>トマト</a:t>
            </a:r>
            <a:r>
              <a:rPr lang="en-US" altLang="ja-JP" sz="2000" dirty="0"/>
              <a:t>】</a:t>
            </a:r>
          </a:p>
          <a:p>
            <a:pPr>
              <a:lnSpc>
                <a:spcPct val="200000"/>
              </a:lnSpc>
            </a:pPr>
            <a:r>
              <a:rPr lang="ja-JP" altLang="en-US" dirty="0"/>
              <a:t>　　①日射比例給水制御を使った中玉トマトの低段密植高糖度栽培技術開発</a:t>
            </a:r>
            <a:endParaRPr lang="en-US" altLang="ja-JP" dirty="0"/>
          </a:p>
          <a:p>
            <a:pPr>
              <a:lnSpc>
                <a:spcPct val="200000"/>
              </a:lnSpc>
            </a:pPr>
            <a:r>
              <a:rPr lang="ja-JP" altLang="en-US" dirty="0"/>
              <a:t>　　②育苗コスト低減</a:t>
            </a:r>
            <a:r>
              <a:rPr lang="en-US" altLang="ja-JP" dirty="0"/>
              <a:t>-2</a:t>
            </a:r>
            <a:r>
              <a:rPr lang="ja-JP" altLang="en-US" dirty="0"/>
              <a:t>本仕立て苗開発</a:t>
            </a:r>
            <a:endParaRPr lang="en-US" altLang="ja-JP" dirty="0"/>
          </a:p>
          <a:p>
            <a:pPr>
              <a:lnSpc>
                <a:spcPct val="200000"/>
              </a:lnSpc>
            </a:pPr>
            <a:r>
              <a:rPr lang="en-US" altLang="ja-JP" sz="2000" dirty="0"/>
              <a:t>【</a:t>
            </a:r>
            <a:r>
              <a:rPr lang="ja-JP" altLang="en-US" sz="2000" dirty="0"/>
              <a:t>いちご</a:t>
            </a:r>
            <a:r>
              <a:rPr lang="en-US" altLang="ja-JP" sz="2000" dirty="0"/>
              <a:t>】</a:t>
            </a:r>
          </a:p>
          <a:p>
            <a:pPr>
              <a:lnSpc>
                <a:spcPct val="200000"/>
              </a:lnSpc>
            </a:pPr>
            <a:r>
              <a:rPr lang="ja-JP" altLang="en-US" dirty="0"/>
              <a:t>　　冬春いちごの栽培試験</a:t>
            </a:r>
            <a:endParaRPr lang="en-US" altLang="ja-JP" dirty="0"/>
          </a:p>
          <a:p>
            <a:pPr>
              <a:lnSpc>
                <a:spcPct val="200000"/>
              </a:lnSpc>
            </a:pPr>
            <a:r>
              <a:rPr lang="en-US" altLang="ja-JP" dirty="0"/>
              <a:t>【</a:t>
            </a:r>
            <a:r>
              <a:rPr lang="ja-JP" altLang="en-US" dirty="0"/>
              <a:t>ベビーリーフ</a:t>
            </a:r>
            <a:r>
              <a:rPr lang="en-US" altLang="ja-JP" dirty="0"/>
              <a:t>】</a:t>
            </a:r>
          </a:p>
          <a:p>
            <a:pPr>
              <a:lnSpc>
                <a:spcPct val="200000"/>
              </a:lnSpc>
            </a:pPr>
            <a:r>
              <a:rPr lang="ja-JP" altLang="en-US" dirty="0"/>
              <a:t>　　レタス系品種の高温期発芽不良対策</a:t>
            </a:r>
            <a:endParaRPr lang="en-US" altLang="ja-JP" dirty="0"/>
          </a:p>
        </p:txBody>
      </p:sp>
      <p:sp>
        <p:nvSpPr>
          <p:cNvPr id="7" name="タイトル 1">
            <a:extLst>
              <a:ext uri="{FF2B5EF4-FFF2-40B4-BE49-F238E27FC236}">
                <a16:creationId xmlns:a16="http://schemas.microsoft.com/office/drawing/2014/main" id="{F927BE82-0B07-65A1-9106-709F5D417647}"/>
              </a:ext>
            </a:extLst>
          </p:cNvPr>
          <p:cNvSpPr txBox="1">
            <a:spLocks/>
          </p:cNvSpPr>
          <p:nvPr/>
        </p:nvSpPr>
        <p:spPr>
          <a:xfrm>
            <a:off x="1097280" y="657748"/>
            <a:ext cx="5973110" cy="420115"/>
          </a:xfrm>
          <a:prstGeom prst="rect">
            <a:avLst/>
          </a:prstGeom>
        </p:spPr>
        <p:txBody>
          <a:bodyPr vert="horz" wrap="none" lIns="91440" tIns="45720" rIns="91440" bIns="45720" rtlCol="0" anchor="b">
            <a:spAutoFit/>
          </a:bodyPr>
          <a:lstStyle>
            <a:lvl1pPr algn="l" defTabSz="914400" rtl="0" eaLnBrk="1" latinLnBrk="0" hangingPunct="1">
              <a:lnSpc>
                <a:spcPct val="85000"/>
              </a:lnSpc>
              <a:spcBef>
                <a:spcPct val="0"/>
              </a:spcBef>
              <a:buNone/>
              <a:defRPr kumimoji="1" sz="2400" kern="1200" spc="-50" baseline="0">
                <a:solidFill>
                  <a:srgbClr val="00B050"/>
                </a:solidFill>
                <a:latin typeface="+mj-lt"/>
                <a:ea typeface="+mj-ea"/>
                <a:cs typeface="+mj-cs"/>
              </a:defRPr>
            </a:lvl1pPr>
          </a:lstStyle>
          <a:p>
            <a:r>
              <a:rPr lang="ja-JP" altLang="en-US" dirty="0"/>
              <a:t>４．進捗・課題・対策：熊谷の研究テーマ </a:t>
            </a:r>
          </a:p>
        </p:txBody>
      </p:sp>
    </p:spTree>
    <p:extLst>
      <p:ext uri="{BB962C8B-B14F-4D97-AF65-F5344CB8AC3E}">
        <p14:creationId xmlns:p14="http://schemas.microsoft.com/office/powerpoint/2010/main" val="395796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69012" y="1026320"/>
            <a:ext cx="12122988" cy="3104696"/>
          </a:xfrm>
          <a:prstGeom prst="rect">
            <a:avLst/>
          </a:prstGeom>
          <a:noFill/>
        </p:spPr>
        <p:txBody>
          <a:bodyPr wrap="square" rtlCol="0">
            <a:spAutoFit/>
          </a:bodyPr>
          <a:lstStyle/>
          <a:p>
            <a:pPr>
              <a:lnSpc>
                <a:spcPct val="200000"/>
              </a:lnSpc>
            </a:pPr>
            <a:r>
              <a:rPr lang="ja-JP" altLang="en-US" dirty="0"/>
              <a:t>　①日射比例給水制御を使った中玉トマトの低段密植高糖度栽培の技術開発</a:t>
            </a:r>
            <a:endParaRPr lang="en-US" altLang="ja-JP" dirty="0"/>
          </a:p>
          <a:p>
            <a:pPr>
              <a:lnSpc>
                <a:spcPct val="150000"/>
              </a:lnSpc>
            </a:pPr>
            <a:r>
              <a:rPr lang="ja-JP" altLang="en-US" dirty="0"/>
              <a:t>　　品種：中玉フルティカ　規格果重：</a:t>
            </a:r>
            <a:r>
              <a:rPr lang="en-US" altLang="ja-JP" dirty="0"/>
              <a:t>5g</a:t>
            </a:r>
            <a:r>
              <a:rPr lang="ja-JP" altLang="en-US" dirty="0"/>
              <a:t>以上　規格糖度：</a:t>
            </a:r>
            <a:r>
              <a:rPr lang="en-US" altLang="ja-JP" dirty="0"/>
              <a:t>8%</a:t>
            </a:r>
            <a:r>
              <a:rPr lang="ja-JP" altLang="en-US" dirty="0"/>
              <a:t>以上</a:t>
            </a:r>
            <a:endParaRPr lang="en-US" altLang="ja-JP" dirty="0"/>
          </a:p>
          <a:p>
            <a:pPr>
              <a:lnSpc>
                <a:spcPct val="150000"/>
              </a:lnSpc>
            </a:pPr>
            <a:r>
              <a:rPr lang="ja-JP" altLang="en-US" dirty="0"/>
              <a:t>　</a:t>
            </a:r>
            <a:r>
              <a:rPr lang="en-US" altLang="ja-JP" dirty="0"/>
              <a:t>【</a:t>
            </a:r>
            <a:r>
              <a:rPr lang="ja-JP" altLang="en-US" dirty="0"/>
              <a:t>技術内容</a:t>
            </a:r>
            <a:r>
              <a:rPr lang="en-US" altLang="ja-JP" dirty="0"/>
              <a:t>】</a:t>
            </a:r>
          </a:p>
          <a:p>
            <a:pPr>
              <a:lnSpc>
                <a:spcPct val="150000"/>
              </a:lnSpc>
            </a:pPr>
            <a:r>
              <a:rPr lang="ja-JP" altLang="en-US" dirty="0"/>
              <a:t>　・日射量、温度、湿度から推定蒸散量モデルを使って必要な給水量を算出し、生育と環境に合わせた水ストレスを</a:t>
            </a:r>
            <a:endParaRPr lang="en-US" altLang="ja-JP" dirty="0"/>
          </a:p>
          <a:p>
            <a:pPr>
              <a:lnSpc>
                <a:spcPct val="150000"/>
              </a:lnSpc>
            </a:pPr>
            <a:r>
              <a:rPr lang="ja-JP" altLang="en-US" dirty="0"/>
              <a:t>　　定量的にコントロールできることを目指す。</a:t>
            </a:r>
            <a:endParaRPr lang="en-US" altLang="ja-JP" dirty="0"/>
          </a:p>
          <a:p>
            <a:pPr>
              <a:lnSpc>
                <a:spcPct val="150000"/>
              </a:lnSpc>
            </a:pPr>
            <a:r>
              <a:rPr lang="ja-JP" altLang="en-US" dirty="0"/>
              <a:t>　・潅水コントロールはマイコンボードを使って自作のプログラミングで制御。各種センサーから環境データを</a:t>
            </a:r>
            <a:endParaRPr lang="en-US" altLang="ja-JP" dirty="0"/>
          </a:p>
          <a:p>
            <a:pPr>
              <a:lnSpc>
                <a:spcPct val="150000"/>
              </a:lnSpc>
            </a:pPr>
            <a:r>
              <a:rPr lang="ja-JP" altLang="en-US" dirty="0"/>
              <a:t>　　取得し、給水ポンプの機器の操作を行っている。</a:t>
            </a:r>
            <a:endParaRPr lang="en-US" altLang="ja-JP" dirty="0"/>
          </a:p>
        </p:txBody>
      </p:sp>
      <p:sp>
        <p:nvSpPr>
          <p:cNvPr id="7" name="タイトル 1">
            <a:extLst>
              <a:ext uri="{FF2B5EF4-FFF2-40B4-BE49-F238E27FC236}">
                <a16:creationId xmlns:a16="http://schemas.microsoft.com/office/drawing/2014/main" id="{F927BE82-0B07-65A1-9106-709F5D417647}"/>
              </a:ext>
            </a:extLst>
          </p:cNvPr>
          <p:cNvSpPr txBox="1">
            <a:spLocks/>
          </p:cNvSpPr>
          <p:nvPr/>
        </p:nvSpPr>
        <p:spPr>
          <a:xfrm>
            <a:off x="1097280" y="657748"/>
            <a:ext cx="4767652" cy="420115"/>
          </a:xfrm>
          <a:prstGeom prst="rect">
            <a:avLst/>
          </a:prstGeom>
        </p:spPr>
        <p:txBody>
          <a:bodyPr vert="horz" wrap="none" lIns="91440" tIns="45720" rIns="91440" bIns="45720" rtlCol="0" anchor="b">
            <a:spAutoFit/>
          </a:bodyPr>
          <a:lstStyle>
            <a:lvl1pPr algn="l" defTabSz="914400" rtl="0" eaLnBrk="1" latinLnBrk="0" hangingPunct="1">
              <a:lnSpc>
                <a:spcPct val="85000"/>
              </a:lnSpc>
              <a:spcBef>
                <a:spcPct val="0"/>
              </a:spcBef>
              <a:buNone/>
              <a:defRPr kumimoji="1" sz="2400" kern="1200" spc="-50" baseline="0">
                <a:solidFill>
                  <a:srgbClr val="00B050"/>
                </a:solidFill>
                <a:latin typeface="+mj-lt"/>
                <a:ea typeface="+mj-ea"/>
                <a:cs typeface="+mj-cs"/>
              </a:defRPr>
            </a:lvl1pPr>
          </a:lstStyle>
          <a:p>
            <a:r>
              <a:rPr lang="ja-JP" altLang="en-US" dirty="0"/>
              <a:t>４．進捗・課題・対策：① トマト</a:t>
            </a:r>
          </a:p>
        </p:txBody>
      </p:sp>
      <p:sp>
        <p:nvSpPr>
          <p:cNvPr id="2" name="AutoShape 2" descr="https://www.chatwork.com/gateway/download_file.php?bin=1&amp;file_id=1070314741&amp;preview=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6" name="テキスト ボックス 15"/>
          <p:cNvSpPr txBox="1"/>
          <p:nvPr/>
        </p:nvSpPr>
        <p:spPr>
          <a:xfrm>
            <a:off x="9798111" y="6357930"/>
            <a:ext cx="1914525" cy="369332"/>
          </a:xfrm>
          <a:prstGeom prst="rect">
            <a:avLst/>
          </a:prstGeom>
          <a:solidFill>
            <a:schemeClr val="bg1"/>
          </a:solidFill>
        </p:spPr>
        <p:txBody>
          <a:bodyPr wrap="square" rtlCol="0">
            <a:spAutoFit/>
          </a:bodyPr>
          <a:lstStyle/>
          <a:p>
            <a:endParaRPr kumimoji="1" lang="ja-JP" altLang="en-US" dirty="0">
              <a:solidFill>
                <a:schemeClr val="bg1"/>
              </a:solidFill>
            </a:endParaRPr>
          </a:p>
        </p:txBody>
      </p:sp>
      <p:sp>
        <p:nvSpPr>
          <p:cNvPr id="27" name="正方形/長方形 26">
            <a:extLst>
              <a:ext uri="{FF2B5EF4-FFF2-40B4-BE49-F238E27FC236}">
                <a16:creationId xmlns:a16="http://schemas.microsoft.com/office/drawing/2014/main" id="{81B02366-EDD1-637F-BD9E-1F38B823D8B6}"/>
              </a:ext>
            </a:extLst>
          </p:cNvPr>
          <p:cNvSpPr/>
          <p:nvPr/>
        </p:nvSpPr>
        <p:spPr>
          <a:xfrm>
            <a:off x="5864932" y="6478438"/>
            <a:ext cx="269878" cy="181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47920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F927BE82-0B07-65A1-9106-709F5D417647}"/>
              </a:ext>
            </a:extLst>
          </p:cNvPr>
          <p:cNvSpPr txBox="1">
            <a:spLocks/>
          </p:cNvSpPr>
          <p:nvPr/>
        </p:nvSpPr>
        <p:spPr>
          <a:xfrm>
            <a:off x="1097280" y="657748"/>
            <a:ext cx="4767652" cy="420115"/>
          </a:xfrm>
          <a:prstGeom prst="rect">
            <a:avLst/>
          </a:prstGeom>
        </p:spPr>
        <p:txBody>
          <a:bodyPr vert="horz" wrap="none" lIns="91440" tIns="45720" rIns="91440" bIns="45720" rtlCol="0" anchor="b">
            <a:spAutoFit/>
          </a:bodyPr>
          <a:lstStyle>
            <a:lvl1pPr algn="l" defTabSz="914400" rtl="0" eaLnBrk="1" latinLnBrk="0" hangingPunct="1">
              <a:lnSpc>
                <a:spcPct val="85000"/>
              </a:lnSpc>
              <a:spcBef>
                <a:spcPct val="0"/>
              </a:spcBef>
              <a:buNone/>
              <a:defRPr kumimoji="1" sz="2400" kern="1200" spc="-50" baseline="0">
                <a:solidFill>
                  <a:srgbClr val="00B050"/>
                </a:solidFill>
                <a:latin typeface="+mj-lt"/>
                <a:ea typeface="+mj-ea"/>
                <a:cs typeface="+mj-cs"/>
              </a:defRPr>
            </a:lvl1pPr>
          </a:lstStyle>
          <a:p>
            <a:r>
              <a:rPr lang="ja-JP" altLang="en-US" dirty="0"/>
              <a:t>４．進捗・課題・対策：① トマト</a:t>
            </a:r>
          </a:p>
        </p:txBody>
      </p:sp>
      <p:sp>
        <p:nvSpPr>
          <p:cNvPr id="2" name="AutoShape 2" descr="https://www.chatwork.com/gateway/download_file.php?bin=1&amp;file_id=1070314741&amp;preview=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6" name="テキスト ボックス 15"/>
          <p:cNvSpPr txBox="1"/>
          <p:nvPr/>
        </p:nvSpPr>
        <p:spPr>
          <a:xfrm>
            <a:off x="9798111" y="6357930"/>
            <a:ext cx="1914525" cy="369332"/>
          </a:xfrm>
          <a:prstGeom prst="rect">
            <a:avLst/>
          </a:prstGeom>
          <a:solidFill>
            <a:schemeClr val="bg1"/>
          </a:solidFill>
        </p:spPr>
        <p:txBody>
          <a:bodyPr wrap="square" rtlCol="0">
            <a:spAutoFit/>
          </a:bodyPr>
          <a:lstStyle/>
          <a:p>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BF3E40F3-AE1F-2D3B-7431-EDC057CEB8E8}"/>
              </a:ext>
            </a:extLst>
          </p:cNvPr>
          <p:cNvSpPr txBox="1"/>
          <p:nvPr/>
        </p:nvSpPr>
        <p:spPr>
          <a:xfrm>
            <a:off x="155574" y="1334548"/>
            <a:ext cx="6009252" cy="3901068"/>
          </a:xfrm>
          <a:prstGeom prst="rect">
            <a:avLst/>
          </a:prstGeom>
          <a:noFill/>
        </p:spPr>
        <p:txBody>
          <a:bodyPr wrap="square" rtlCol="0">
            <a:spAutoFit/>
          </a:bodyPr>
          <a:lstStyle/>
          <a:p>
            <a:pPr>
              <a:lnSpc>
                <a:spcPct val="200000"/>
              </a:lnSpc>
            </a:pPr>
            <a:r>
              <a:rPr kumimoji="1" lang="ja-JP" altLang="en-US" dirty="0"/>
              <a:t>・夏作は高温により収穫量、高糖度率が低下し、目標を達成することができていないため、今期の</a:t>
            </a:r>
            <a:r>
              <a:rPr lang="ja-JP" altLang="en-US" dirty="0">
                <a:solidFill>
                  <a:srgbClr val="FF0000"/>
                </a:solidFill>
              </a:rPr>
              <a:t>夏作はトマトを休止</a:t>
            </a:r>
            <a:r>
              <a:rPr lang="ja-JP" altLang="en-US" dirty="0"/>
              <a:t>し、ベビーリーフに切り替えている。</a:t>
            </a:r>
            <a:r>
              <a:rPr lang="en-US" altLang="ja-JP" dirty="0"/>
              <a:t>2025</a:t>
            </a:r>
            <a:r>
              <a:rPr lang="ja-JP" altLang="en-US" dirty="0"/>
              <a:t>年</a:t>
            </a:r>
            <a:r>
              <a:rPr lang="en-US" altLang="ja-JP" dirty="0"/>
              <a:t>4</a:t>
            </a:r>
            <a:r>
              <a:rPr lang="ja-JP" altLang="en-US" dirty="0"/>
              <a:t>月定植分より栽培を終了。</a:t>
            </a:r>
            <a:endParaRPr lang="en-US" altLang="ja-JP" dirty="0"/>
          </a:p>
          <a:p>
            <a:pPr>
              <a:lnSpc>
                <a:spcPct val="200000"/>
              </a:lnSpc>
            </a:pPr>
            <a:r>
              <a:rPr lang="ja-JP" altLang="en-US" dirty="0"/>
              <a:t>・ストレス技術は夏作を除き安定してきているが、ストレスがかかりすぎると、高糖度率は上がるが小粒化し、収穫量が下がっている。</a:t>
            </a:r>
            <a:endParaRPr lang="en-US" altLang="ja-JP" dirty="0"/>
          </a:p>
        </p:txBody>
      </p:sp>
      <p:sp>
        <p:nvSpPr>
          <p:cNvPr id="20" name="テキスト ボックス 19">
            <a:extLst>
              <a:ext uri="{FF2B5EF4-FFF2-40B4-BE49-F238E27FC236}">
                <a16:creationId xmlns:a16="http://schemas.microsoft.com/office/drawing/2014/main" id="{E8B91375-725C-8F74-EC90-E4C2B1775C08}"/>
              </a:ext>
            </a:extLst>
          </p:cNvPr>
          <p:cNvSpPr txBox="1"/>
          <p:nvPr/>
        </p:nvSpPr>
        <p:spPr>
          <a:xfrm>
            <a:off x="5868537" y="6357930"/>
            <a:ext cx="395785" cy="369332"/>
          </a:xfrm>
          <a:prstGeom prst="rect">
            <a:avLst/>
          </a:prstGeom>
          <a:solidFill>
            <a:schemeClr val="bg1"/>
          </a:solidFill>
        </p:spPr>
        <p:txBody>
          <a:bodyPr wrap="square" rtlCol="0">
            <a:spAutoFit/>
          </a:bodyPr>
          <a:lstStyle/>
          <a:p>
            <a:endParaRPr kumimoji="1" lang="ja-JP" altLang="en-US" dirty="0"/>
          </a:p>
        </p:txBody>
      </p:sp>
      <p:pic>
        <p:nvPicPr>
          <p:cNvPr id="8" name="図 7">
            <a:extLst>
              <a:ext uri="{FF2B5EF4-FFF2-40B4-BE49-F238E27FC236}">
                <a16:creationId xmlns:a16="http://schemas.microsoft.com/office/drawing/2014/main" id="{120E43C2-00C6-8E72-BED4-F893BD98E27A}"/>
              </a:ext>
            </a:extLst>
          </p:cNvPr>
          <p:cNvPicPr>
            <a:picLocks noChangeAspect="1"/>
          </p:cNvPicPr>
          <p:nvPr/>
        </p:nvPicPr>
        <p:blipFill>
          <a:blip r:embed="rId3"/>
          <a:stretch>
            <a:fillRect/>
          </a:stretch>
        </p:blipFill>
        <p:spPr>
          <a:xfrm>
            <a:off x="6758854" y="1077863"/>
            <a:ext cx="5212121" cy="5557593"/>
          </a:xfrm>
          <a:prstGeom prst="rect">
            <a:avLst/>
          </a:prstGeom>
        </p:spPr>
      </p:pic>
    </p:spTree>
    <p:extLst>
      <p:ext uri="{BB962C8B-B14F-4D97-AF65-F5344CB8AC3E}">
        <p14:creationId xmlns:p14="http://schemas.microsoft.com/office/powerpoint/2010/main" val="2196118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0" y="1294965"/>
            <a:ext cx="11982082" cy="2793072"/>
          </a:xfrm>
          <a:prstGeom prst="rect">
            <a:avLst/>
          </a:prstGeom>
          <a:noFill/>
        </p:spPr>
        <p:txBody>
          <a:bodyPr wrap="square" rtlCol="0">
            <a:spAutoFit/>
          </a:bodyPr>
          <a:lstStyle/>
          <a:p>
            <a:pPr>
              <a:lnSpc>
                <a:spcPct val="200000"/>
              </a:lnSpc>
            </a:pPr>
            <a:r>
              <a:rPr lang="ja-JP" altLang="en-US" dirty="0"/>
              <a:t>②育苗コスト低減</a:t>
            </a:r>
            <a:r>
              <a:rPr lang="en-US" altLang="ja-JP" dirty="0"/>
              <a:t>-</a:t>
            </a:r>
            <a:r>
              <a:rPr lang="ja-JP" altLang="en-US" dirty="0"/>
              <a:t>ツイン苗の開発</a:t>
            </a:r>
            <a:endParaRPr lang="en-US" altLang="ja-JP" dirty="0"/>
          </a:p>
          <a:p>
            <a:pPr>
              <a:lnSpc>
                <a:spcPct val="200000"/>
              </a:lnSpc>
            </a:pPr>
            <a:r>
              <a:rPr lang="ja-JP" altLang="en-US" dirty="0"/>
              <a:t>　　・密植栽培は通常の栽培方法にくらべ約</a:t>
            </a:r>
            <a:r>
              <a:rPr lang="en-US" altLang="ja-JP" dirty="0"/>
              <a:t>3</a:t>
            </a:r>
            <a:r>
              <a:rPr lang="ja-JP" altLang="en-US" dirty="0"/>
              <a:t>倍の苗が必要。現在、販売金額の</a:t>
            </a:r>
            <a:r>
              <a:rPr lang="en-US" altLang="ja-JP" dirty="0"/>
              <a:t>1</a:t>
            </a:r>
            <a:r>
              <a:rPr lang="ja-JP" altLang="en-US" dirty="0"/>
              <a:t>割を種子代が占めている。</a:t>
            </a:r>
            <a:endParaRPr lang="en-US" altLang="ja-JP" dirty="0"/>
          </a:p>
          <a:p>
            <a:pPr>
              <a:lnSpc>
                <a:spcPct val="200000"/>
              </a:lnSpc>
            </a:pPr>
            <a:r>
              <a:rPr lang="ja-JP" altLang="en-US" dirty="0"/>
              <a:t>　　・育苗コストの低減として一本の苗から２本の主枝をだすツイン苗の開発。</a:t>
            </a:r>
            <a:r>
              <a:rPr lang="en-US" altLang="ja-JP" dirty="0"/>
              <a:t>2027</a:t>
            </a:r>
            <a:r>
              <a:rPr lang="ja-JP" altLang="en-US" dirty="0"/>
              <a:t>年</a:t>
            </a:r>
            <a:r>
              <a:rPr lang="en-US" altLang="ja-JP" dirty="0"/>
              <a:t>3</a:t>
            </a:r>
            <a:r>
              <a:rPr lang="ja-JP" altLang="en-US" dirty="0"/>
              <a:t>月定植にて左右、若干の</a:t>
            </a:r>
            <a:endParaRPr lang="en-US" altLang="ja-JP" dirty="0"/>
          </a:p>
          <a:p>
            <a:pPr>
              <a:lnSpc>
                <a:spcPct val="200000"/>
              </a:lnSpc>
            </a:pPr>
            <a:r>
              <a:rPr lang="ja-JP" altLang="en-US" dirty="0"/>
              <a:t>　　　生育はあるが、試験的に本圃に定植。生育は茎が細く、葉面積も少なかったため収穫量は通常１本苗と比べ</a:t>
            </a:r>
            <a:endParaRPr lang="en-US" altLang="ja-JP" dirty="0"/>
          </a:p>
          <a:p>
            <a:pPr>
              <a:lnSpc>
                <a:spcPct val="200000"/>
              </a:lnSpc>
            </a:pPr>
            <a:r>
              <a:rPr lang="ja-JP" altLang="en-US" dirty="0"/>
              <a:t>　　　大きく劣った。定植のタイミングや養液管理についてさらに検討が必要と思われた。</a:t>
            </a:r>
            <a:endParaRPr lang="en-US" altLang="ja-JP" dirty="0"/>
          </a:p>
        </p:txBody>
      </p:sp>
      <p:sp>
        <p:nvSpPr>
          <p:cNvPr id="4" name="スライド番号プレースホルダー 3"/>
          <p:cNvSpPr>
            <a:spLocks noGrp="1"/>
          </p:cNvSpPr>
          <p:nvPr>
            <p:ph type="sldNum" sz="quarter" idx="4294967295"/>
          </p:nvPr>
        </p:nvSpPr>
        <p:spPr>
          <a:xfrm>
            <a:off x="9900458" y="6459785"/>
            <a:ext cx="1312025" cy="365125"/>
          </a:xfrm>
        </p:spPr>
        <p:txBody>
          <a:bodyPr/>
          <a:lstStyle/>
          <a:p>
            <a:fld id="{F0033BD4-971A-440F-BC8B-CF4B709DE568}" type="slidenum">
              <a:rPr kumimoji="1" lang="ja-JP" altLang="en-US" smtClean="0">
                <a:latin typeface="+mn-ea"/>
              </a:rPr>
              <a:t>9</a:t>
            </a:fld>
            <a:endParaRPr kumimoji="1" lang="ja-JP" altLang="en-US">
              <a:latin typeface="+mn-ea"/>
            </a:endParaRPr>
          </a:p>
        </p:txBody>
      </p:sp>
      <p:sp>
        <p:nvSpPr>
          <p:cNvPr id="2" name="AutoShape 2" descr="https://encrypted-tbn0.gstatic.com/shopping?q=tbn:ANd9GcT2X-_s7IH3fCCGXprDvUOwiewV1Gr9g1NrYLDBEbx0F9SHCrk157_YWeO0z81J5sNQ7GSEOJvywIDZXri5XPL8GNQSW8_B_g&amp;usqp=CA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8" name="タイトル 1">
            <a:extLst>
              <a:ext uri="{FF2B5EF4-FFF2-40B4-BE49-F238E27FC236}">
                <a16:creationId xmlns:a16="http://schemas.microsoft.com/office/drawing/2014/main" id="{F927BE82-0B07-65A1-9106-709F5D417647}"/>
              </a:ext>
            </a:extLst>
          </p:cNvPr>
          <p:cNvSpPr>
            <a:spLocks noGrp="1"/>
          </p:cNvSpPr>
          <p:nvPr>
            <p:ph type="title"/>
          </p:nvPr>
        </p:nvSpPr>
        <p:spPr>
          <a:xfrm>
            <a:off x="1097280" y="657748"/>
            <a:ext cx="4767652" cy="420115"/>
          </a:xfrm>
        </p:spPr>
        <p:txBody>
          <a:bodyPr/>
          <a:lstStyle/>
          <a:p>
            <a:r>
              <a:rPr lang="ja-JP" altLang="en-US" dirty="0"/>
              <a:t>４．進捗・課題・対策：① トマト</a:t>
            </a:r>
            <a:endParaRPr kumimoji="1" lang="ja-JP" altLang="en-US" dirty="0"/>
          </a:p>
        </p:txBody>
      </p:sp>
      <p:pic>
        <p:nvPicPr>
          <p:cNvPr id="9" name="図 8">
            <a:extLst>
              <a:ext uri="{FF2B5EF4-FFF2-40B4-BE49-F238E27FC236}">
                <a16:creationId xmlns:a16="http://schemas.microsoft.com/office/drawing/2014/main" id="{047715DE-1BF2-5A5D-F0FE-24AD6C644C78}"/>
              </a:ext>
            </a:extLst>
          </p:cNvPr>
          <p:cNvPicPr>
            <a:picLocks noChangeAspect="1"/>
          </p:cNvPicPr>
          <p:nvPr/>
        </p:nvPicPr>
        <p:blipFill>
          <a:blip r:embed="rId3"/>
          <a:stretch>
            <a:fillRect/>
          </a:stretch>
        </p:blipFill>
        <p:spPr>
          <a:xfrm>
            <a:off x="4968240" y="4305139"/>
            <a:ext cx="3352800" cy="2491740"/>
          </a:xfrm>
          <a:prstGeom prst="rect">
            <a:avLst/>
          </a:prstGeom>
        </p:spPr>
      </p:pic>
      <p:pic>
        <p:nvPicPr>
          <p:cNvPr id="10" name="図 9">
            <a:extLst>
              <a:ext uri="{FF2B5EF4-FFF2-40B4-BE49-F238E27FC236}">
                <a16:creationId xmlns:a16="http://schemas.microsoft.com/office/drawing/2014/main" id="{141B1672-4056-B99D-B594-F2602493D1FE}"/>
              </a:ext>
            </a:extLst>
          </p:cNvPr>
          <p:cNvPicPr>
            <a:picLocks noChangeAspect="1"/>
          </p:cNvPicPr>
          <p:nvPr/>
        </p:nvPicPr>
        <p:blipFill>
          <a:blip r:embed="rId4"/>
          <a:stretch>
            <a:fillRect/>
          </a:stretch>
        </p:blipFill>
        <p:spPr>
          <a:xfrm>
            <a:off x="8621662" y="4305139"/>
            <a:ext cx="3360420" cy="2491740"/>
          </a:xfrm>
          <a:prstGeom prst="rect">
            <a:avLst/>
          </a:prstGeom>
        </p:spPr>
      </p:pic>
    </p:spTree>
    <p:extLst>
      <p:ext uri="{BB962C8B-B14F-4D97-AF65-F5344CB8AC3E}">
        <p14:creationId xmlns:p14="http://schemas.microsoft.com/office/powerpoint/2010/main" val="1103010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F98DD-9277-B482-27A9-9EAB3906560B}"/>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B2D23A8B-D906-7DE0-B6A0-840BE339DD39}"/>
              </a:ext>
            </a:extLst>
          </p:cNvPr>
          <p:cNvSpPr>
            <a:spLocks noGrp="1"/>
          </p:cNvSpPr>
          <p:nvPr>
            <p:ph type="title"/>
          </p:nvPr>
        </p:nvSpPr>
        <p:spPr>
          <a:xfrm>
            <a:off x="4569035" y="3047725"/>
            <a:ext cx="2887330" cy="747897"/>
          </a:xfrm>
        </p:spPr>
        <p:txBody>
          <a:bodyPr/>
          <a:lstStyle/>
          <a:p>
            <a:pPr algn="ctr"/>
            <a:r>
              <a:rPr lang="ja-JP" altLang="en-US" sz="4800" dirty="0"/>
              <a:t>② いちご</a:t>
            </a:r>
            <a:r>
              <a:rPr kumimoji="1" lang="ja-JP" altLang="en-US" sz="4800" dirty="0"/>
              <a:t> </a:t>
            </a:r>
          </a:p>
        </p:txBody>
      </p:sp>
    </p:spTree>
    <p:extLst>
      <p:ext uri="{BB962C8B-B14F-4D97-AF65-F5344CB8AC3E}">
        <p14:creationId xmlns:p14="http://schemas.microsoft.com/office/powerpoint/2010/main" val="197157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A099C-4928-0407-CF45-345FDB96CE3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902D275-AAA2-43BA-51C7-FF35B7462D37}"/>
              </a:ext>
            </a:extLst>
          </p:cNvPr>
          <p:cNvSpPr txBox="1"/>
          <p:nvPr/>
        </p:nvSpPr>
        <p:spPr>
          <a:xfrm>
            <a:off x="5958904" y="6245963"/>
            <a:ext cx="603969" cy="420115"/>
          </a:xfrm>
          <a:prstGeom prst="rect">
            <a:avLst/>
          </a:prstGeom>
          <a:solidFill>
            <a:schemeClr val="bg1"/>
          </a:solidFill>
        </p:spPr>
        <p:txBody>
          <a:bodyPr wrap="square" rtlCol="0">
            <a:spAutoFit/>
          </a:bodyPr>
          <a:lstStyle/>
          <a:p>
            <a:endParaRPr kumimoji="1" lang="ja-JP" altLang="en-US" dirty="0"/>
          </a:p>
        </p:txBody>
      </p:sp>
      <p:sp>
        <p:nvSpPr>
          <p:cNvPr id="3" name="テキスト ボックス 2">
            <a:extLst>
              <a:ext uri="{FF2B5EF4-FFF2-40B4-BE49-F238E27FC236}">
                <a16:creationId xmlns:a16="http://schemas.microsoft.com/office/drawing/2014/main" id="{1EA61254-4C20-BD58-5247-F16E93AEF12C}"/>
              </a:ext>
            </a:extLst>
          </p:cNvPr>
          <p:cNvSpPr txBox="1"/>
          <p:nvPr/>
        </p:nvSpPr>
        <p:spPr>
          <a:xfrm>
            <a:off x="179001" y="1028534"/>
            <a:ext cx="12163777" cy="6181820"/>
          </a:xfrm>
          <a:prstGeom prst="rect">
            <a:avLst/>
          </a:prstGeom>
          <a:noFill/>
        </p:spPr>
        <p:txBody>
          <a:bodyPr wrap="square" rtlCol="0">
            <a:spAutoFit/>
          </a:bodyPr>
          <a:lstStyle/>
          <a:p>
            <a:pPr>
              <a:lnSpc>
                <a:spcPct val="200000"/>
              </a:lnSpc>
            </a:pPr>
            <a:r>
              <a:rPr lang="en-US" altLang="ja-JP" dirty="0">
                <a:latin typeface="+mn-ea"/>
              </a:rPr>
              <a:t>【</a:t>
            </a:r>
            <a:r>
              <a:rPr lang="ja-JP" altLang="en-US" dirty="0">
                <a:latin typeface="+mn-ea"/>
              </a:rPr>
              <a:t>試験概要説明</a:t>
            </a:r>
            <a:r>
              <a:rPr lang="en-US" altLang="ja-JP" dirty="0">
                <a:latin typeface="+mn-ea"/>
              </a:rPr>
              <a:t>】</a:t>
            </a:r>
          </a:p>
          <a:p>
            <a:pPr>
              <a:lnSpc>
                <a:spcPts val="4000"/>
              </a:lnSpc>
            </a:pPr>
            <a:r>
              <a:rPr lang="ja-JP" altLang="en-US" dirty="0">
                <a:latin typeface="+mn-ea"/>
              </a:rPr>
              <a:t>　　・「</a:t>
            </a:r>
            <a:r>
              <a:rPr lang="ja-JP" altLang="en-US" dirty="0">
                <a:solidFill>
                  <a:srgbClr val="FF0000"/>
                </a:solidFill>
                <a:latin typeface="+mn-ea"/>
              </a:rPr>
              <a:t>章姫</a:t>
            </a:r>
            <a:r>
              <a:rPr lang="ja-JP" altLang="en-US" dirty="0">
                <a:latin typeface="+mn-ea"/>
              </a:rPr>
              <a:t>、</a:t>
            </a:r>
            <a:r>
              <a:rPr lang="ja-JP" altLang="en-US" dirty="0">
                <a:solidFill>
                  <a:srgbClr val="FF0000"/>
                </a:solidFill>
                <a:latin typeface="+mn-ea"/>
              </a:rPr>
              <a:t>紅ほっぺ」</a:t>
            </a:r>
            <a:r>
              <a:rPr lang="ja-JP" altLang="en-US" dirty="0"/>
              <a:t>を選定。</a:t>
            </a:r>
            <a:endParaRPr lang="en-US" altLang="ja-JP" dirty="0"/>
          </a:p>
          <a:p>
            <a:pPr>
              <a:lnSpc>
                <a:spcPts val="4000"/>
              </a:lnSpc>
            </a:pPr>
            <a:r>
              <a:rPr lang="ja-JP" altLang="en-US" dirty="0"/>
              <a:t>　　・試験場報告では、株あたりの収穫量が章姫</a:t>
            </a:r>
            <a:r>
              <a:rPr lang="en-US" altLang="ja-JP" dirty="0"/>
              <a:t>546g</a:t>
            </a:r>
            <a:r>
              <a:rPr lang="ja-JP" altLang="en-US" dirty="0"/>
              <a:t>、紅ほっぺ</a:t>
            </a:r>
            <a:r>
              <a:rPr lang="en-US" altLang="ja-JP" dirty="0"/>
              <a:t>579g</a:t>
            </a:r>
            <a:r>
              <a:rPr lang="ja-JP" altLang="en-US" dirty="0"/>
              <a:t>。本試験ではこの数値を評価基準とした。</a:t>
            </a:r>
            <a:endParaRPr lang="en-US" altLang="ja-JP" dirty="0">
              <a:latin typeface="+mn-ea"/>
            </a:endParaRPr>
          </a:p>
          <a:p>
            <a:pPr>
              <a:lnSpc>
                <a:spcPts val="4000"/>
              </a:lnSpc>
            </a:pPr>
            <a:r>
              <a:rPr lang="ja-JP" altLang="en-US" dirty="0"/>
              <a:t>　　・</a:t>
            </a:r>
            <a:r>
              <a:rPr lang="en-US" altLang="ja-JP" dirty="0"/>
              <a:t>10</a:t>
            </a:r>
            <a:r>
              <a:rPr lang="ja-JP" altLang="en-US" dirty="0"/>
              <a:t>月</a:t>
            </a:r>
            <a:r>
              <a:rPr lang="en-US" altLang="ja-JP" dirty="0"/>
              <a:t>1</a:t>
            </a:r>
            <a:r>
              <a:rPr lang="ja-JP" altLang="en-US" dirty="0"/>
              <a:t>日に定植し栽培試験スタート。砂培地（各</a:t>
            </a:r>
            <a:r>
              <a:rPr lang="en-US" altLang="ja-JP" dirty="0"/>
              <a:t>15</a:t>
            </a:r>
            <a:r>
              <a:rPr lang="ja-JP" altLang="en-US" dirty="0"/>
              <a:t>株）と市販培養土（各</a:t>
            </a:r>
            <a:r>
              <a:rPr lang="en-US" altLang="ja-JP" dirty="0"/>
              <a:t>10</a:t>
            </a:r>
            <a:r>
              <a:rPr lang="ja-JP" altLang="en-US" dirty="0"/>
              <a:t>株）で比較。</a:t>
            </a:r>
            <a:endParaRPr lang="en-US" altLang="ja-JP" dirty="0"/>
          </a:p>
          <a:p>
            <a:pPr>
              <a:lnSpc>
                <a:spcPts val="4000"/>
              </a:lnSpc>
            </a:pPr>
            <a:r>
              <a:rPr lang="ja-JP" altLang="en-US" dirty="0"/>
              <a:t>　　・既存の砂栽培のベッドをそのまま使用し、市販培養土区は砂を入れ替えた。</a:t>
            </a:r>
            <a:endParaRPr lang="en-US" altLang="ja-JP" dirty="0"/>
          </a:p>
          <a:p>
            <a:pPr>
              <a:lnSpc>
                <a:spcPts val="4000"/>
              </a:lnSpc>
            </a:pPr>
            <a:r>
              <a:rPr lang="ja-JP" altLang="en-US" dirty="0"/>
              <a:t>　　・養液は園試処方、濃度は水道水～</a:t>
            </a:r>
            <a:r>
              <a:rPr lang="en-US" altLang="ja-JP" dirty="0"/>
              <a:t>EC0.7ms/cm</a:t>
            </a:r>
            <a:r>
              <a:rPr lang="ja-JP" altLang="en-US" dirty="0"/>
              <a:t>。</a:t>
            </a:r>
            <a:endParaRPr lang="en-US" altLang="ja-JP" dirty="0"/>
          </a:p>
          <a:p>
            <a:pPr>
              <a:lnSpc>
                <a:spcPts val="4000"/>
              </a:lnSpc>
            </a:pPr>
            <a:r>
              <a:rPr lang="ja-JP" altLang="en-US" dirty="0"/>
              <a:t>　　・給液量は</a:t>
            </a:r>
            <a:r>
              <a:rPr lang="en-US" altLang="ja-JP" dirty="0"/>
              <a:t>50ml×2</a:t>
            </a:r>
            <a:r>
              <a:rPr lang="ja-JP" altLang="en-US" dirty="0"/>
              <a:t>～</a:t>
            </a:r>
            <a:r>
              <a:rPr lang="en-US" altLang="ja-JP" dirty="0"/>
              <a:t>4</a:t>
            </a:r>
            <a:r>
              <a:rPr lang="ja-JP" altLang="en-US" dirty="0"/>
              <a:t>回</a:t>
            </a:r>
            <a:r>
              <a:rPr lang="en-US" altLang="ja-JP" dirty="0"/>
              <a:t>/</a:t>
            </a:r>
            <a:r>
              <a:rPr lang="ja-JP" altLang="en-US" dirty="0"/>
              <a:t>日、タイマー制御。</a:t>
            </a:r>
            <a:endParaRPr lang="en-US" altLang="ja-JP" dirty="0"/>
          </a:p>
          <a:p>
            <a:pPr>
              <a:lnSpc>
                <a:spcPts val="4000"/>
              </a:lnSpc>
            </a:pPr>
            <a:r>
              <a:rPr lang="ja-JP" altLang="en-US" dirty="0"/>
              <a:t>　　・暖房温度</a:t>
            </a:r>
            <a:r>
              <a:rPr lang="en-US" altLang="ja-JP" dirty="0"/>
              <a:t>6</a:t>
            </a:r>
            <a:r>
              <a:rPr lang="ja-JP" altLang="en-US" dirty="0"/>
              <a:t>℃、午前</a:t>
            </a:r>
            <a:r>
              <a:rPr lang="en-US" altLang="ja-JP" dirty="0"/>
              <a:t>28</a:t>
            </a:r>
            <a:r>
              <a:rPr lang="ja-JP" altLang="en-US" dirty="0"/>
              <a:t>度、午後</a:t>
            </a:r>
            <a:r>
              <a:rPr lang="en-US" altLang="ja-JP" dirty="0"/>
              <a:t>25</a:t>
            </a:r>
            <a:r>
              <a:rPr lang="ja-JP" altLang="en-US" dirty="0"/>
              <a:t>度で自動換気。</a:t>
            </a:r>
            <a:endParaRPr lang="en-US" altLang="ja-JP" dirty="0"/>
          </a:p>
          <a:p>
            <a:pPr>
              <a:lnSpc>
                <a:spcPts val="4000"/>
              </a:lnSpc>
            </a:pPr>
            <a:r>
              <a:rPr lang="ja-JP" altLang="en-US" dirty="0"/>
              <a:t>　　・受粉は筆を使った人工授粉。土日、連休は行わない。</a:t>
            </a:r>
            <a:endParaRPr lang="en-US" altLang="ja-JP" dirty="0"/>
          </a:p>
          <a:p>
            <a:pPr>
              <a:lnSpc>
                <a:spcPts val="4000"/>
              </a:lnSpc>
            </a:pPr>
            <a:r>
              <a:rPr lang="ja-JP" altLang="en-US" dirty="0"/>
              <a:t>　　・病害虫予防の観点から入室順番は最優先、入室者も制限。</a:t>
            </a:r>
            <a:endParaRPr lang="en-US" altLang="ja-JP" dirty="0"/>
          </a:p>
          <a:p>
            <a:pPr>
              <a:lnSpc>
                <a:spcPts val="4000"/>
              </a:lnSpc>
            </a:pPr>
            <a:r>
              <a:rPr lang="ja-JP" altLang="en-US" dirty="0"/>
              <a:t>　　・苗は小池勝次郎商店より購入。</a:t>
            </a:r>
            <a:r>
              <a:rPr lang="en-US" altLang="ja-JP" dirty="0"/>
              <a:t>250</a:t>
            </a:r>
            <a:r>
              <a:rPr lang="ja-JP" altLang="en-US" dirty="0"/>
              <a:t>円</a:t>
            </a:r>
            <a:r>
              <a:rPr lang="en-US" altLang="ja-JP" dirty="0"/>
              <a:t>/</a:t>
            </a:r>
            <a:r>
              <a:rPr lang="ja-JP" altLang="en-US" dirty="0"/>
              <a:t>苗（税抜き）。</a:t>
            </a:r>
            <a:endParaRPr lang="en-US" altLang="ja-JP" dirty="0"/>
          </a:p>
          <a:p>
            <a:pPr>
              <a:lnSpc>
                <a:spcPts val="3500"/>
              </a:lnSpc>
            </a:pPr>
            <a:r>
              <a:rPr lang="ja-JP" altLang="en-US" dirty="0"/>
              <a:t>　　</a:t>
            </a:r>
            <a:endParaRPr lang="en-US" altLang="ja-JP" dirty="0"/>
          </a:p>
        </p:txBody>
      </p:sp>
      <p:sp>
        <p:nvSpPr>
          <p:cNvPr id="8" name="タイトル 1">
            <a:extLst>
              <a:ext uri="{FF2B5EF4-FFF2-40B4-BE49-F238E27FC236}">
                <a16:creationId xmlns:a16="http://schemas.microsoft.com/office/drawing/2014/main" id="{8BBD1AB1-97DA-06C9-36AB-2949CCE95EE8}"/>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sp>
        <p:nvSpPr>
          <p:cNvPr id="6" name="テキスト ボックス 5">
            <a:extLst>
              <a:ext uri="{FF2B5EF4-FFF2-40B4-BE49-F238E27FC236}">
                <a16:creationId xmlns:a16="http://schemas.microsoft.com/office/drawing/2014/main" id="{DA844E94-1424-93C9-E3D3-402F3A30FE92}"/>
              </a:ext>
            </a:extLst>
          </p:cNvPr>
          <p:cNvSpPr txBox="1"/>
          <p:nvPr/>
        </p:nvSpPr>
        <p:spPr>
          <a:xfrm>
            <a:off x="9499406" y="6264603"/>
            <a:ext cx="2692594" cy="523220"/>
          </a:xfrm>
          <a:prstGeom prst="rect">
            <a:avLst/>
          </a:prstGeom>
          <a:solidFill>
            <a:schemeClr val="bg1"/>
          </a:solidFill>
        </p:spPr>
        <p:txBody>
          <a:bodyPr wrap="square" rtlCol="0">
            <a:spAutoFit/>
          </a:bodyPr>
          <a:lstStyle/>
          <a:p>
            <a:r>
              <a:rPr lang="ja-JP" altLang="en-US" sz="1400" dirty="0"/>
              <a:t>培養土に使用した</a:t>
            </a:r>
            <a:r>
              <a:rPr lang="en-US" altLang="ja-JP" sz="1400" dirty="0"/>
              <a:t>CAINZ</a:t>
            </a:r>
            <a:r>
              <a:rPr lang="ja-JP" altLang="en-US" sz="1400" dirty="0"/>
              <a:t>「プランターの土」</a:t>
            </a:r>
            <a:endParaRPr lang="en-US" altLang="ja-JP" sz="1400" dirty="0"/>
          </a:p>
        </p:txBody>
      </p:sp>
      <p:pic>
        <p:nvPicPr>
          <p:cNvPr id="15" name="図 14">
            <a:extLst>
              <a:ext uri="{FF2B5EF4-FFF2-40B4-BE49-F238E27FC236}">
                <a16:creationId xmlns:a16="http://schemas.microsoft.com/office/drawing/2014/main" id="{5A5E5CDC-8750-D8A0-C559-8CC118F2357E}"/>
              </a:ext>
            </a:extLst>
          </p:cNvPr>
          <p:cNvPicPr>
            <a:picLocks noChangeAspect="1"/>
          </p:cNvPicPr>
          <p:nvPr/>
        </p:nvPicPr>
        <p:blipFill>
          <a:blip r:embed="rId3"/>
          <a:stretch>
            <a:fillRect/>
          </a:stretch>
        </p:blipFill>
        <p:spPr>
          <a:xfrm>
            <a:off x="9746688" y="3709556"/>
            <a:ext cx="2445312" cy="2445312"/>
          </a:xfrm>
          <a:prstGeom prst="rect">
            <a:avLst/>
          </a:prstGeom>
        </p:spPr>
      </p:pic>
    </p:spTree>
    <p:extLst>
      <p:ext uri="{BB962C8B-B14F-4D97-AF65-F5344CB8AC3E}">
        <p14:creationId xmlns:p14="http://schemas.microsoft.com/office/powerpoint/2010/main" val="2052132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A79B0-1662-F3D4-182E-DABBC822D6EC}"/>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71DAFEF-2C95-9672-FE64-1D456B4EC941}"/>
              </a:ext>
            </a:extLst>
          </p:cNvPr>
          <p:cNvSpPr txBox="1"/>
          <p:nvPr/>
        </p:nvSpPr>
        <p:spPr>
          <a:xfrm>
            <a:off x="28223" y="5520907"/>
            <a:ext cx="12163777" cy="888705"/>
          </a:xfrm>
          <a:prstGeom prst="rect">
            <a:avLst/>
          </a:prstGeom>
          <a:noFill/>
        </p:spPr>
        <p:txBody>
          <a:bodyPr wrap="square" rtlCol="0">
            <a:spAutoFit/>
          </a:bodyPr>
          <a:lstStyle/>
          <a:p>
            <a:pPr>
              <a:lnSpc>
                <a:spcPct val="150000"/>
              </a:lnSpc>
            </a:pPr>
            <a:r>
              <a:rPr lang="ja-JP" altLang="en-US" dirty="0">
                <a:latin typeface="+mn-ea"/>
              </a:rPr>
              <a:t>左：章姫　　　　　　　　　　　　　　中：紅ほっぺ　　　　　　　　　　　　左：培養土と砂培地の境目</a:t>
            </a:r>
            <a:endParaRPr lang="en-US" altLang="ja-JP" dirty="0">
              <a:latin typeface="+mn-ea"/>
            </a:endParaRPr>
          </a:p>
          <a:p>
            <a:pPr>
              <a:lnSpc>
                <a:spcPct val="150000"/>
              </a:lnSpc>
            </a:pPr>
            <a:r>
              <a:rPr lang="ja-JP" altLang="en-US" dirty="0">
                <a:latin typeface="+mn-ea"/>
              </a:rPr>
              <a:t>定植日：</a:t>
            </a:r>
            <a:r>
              <a:rPr lang="en-US" altLang="ja-JP" dirty="0">
                <a:latin typeface="+mn-ea"/>
              </a:rPr>
              <a:t>10/1</a:t>
            </a:r>
          </a:p>
        </p:txBody>
      </p:sp>
      <p:sp>
        <p:nvSpPr>
          <p:cNvPr id="8" name="タイトル 1">
            <a:extLst>
              <a:ext uri="{FF2B5EF4-FFF2-40B4-BE49-F238E27FC236}">
                <a16:creationId xmlns:a16="http://schemas.microsoft.com/office/drawing/2014/main" id="{F781806B-2DF5-0ACE-3A59-77B1AD77A15F}"/>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pic>
        <p:nvPicPr>
          <p:cNvPr id="2" name="図 1">
            <a:extLst>
              <a:ext uri="{FF2B5EF4-FFF2-40B4-BE49-F238E27FC236}">
                <a16:creationId xmlns:a16="http://schemas.microsoft.com/office/drawing/2014/main" id="{D1CFAC30-9EDB-C884-3C32-4B5952A8C9D1}"/>
              </a:ext>
            </a:extLst>
          </p:cNvPr>
          <p:cNvPicPr>
            <a:picLocks noChangeAspect="1"/>
          </p:cNvPicPr>
          <p:nvPr/>
        </p:nvPicPr>
        <p:blipFill>
          <a:blip r:embed="rId3"/>
          <a:stretch>
            <a:fillRect/>
          </a:stretch>
        </p:blipFill>
        <p:spPr>
          <a:xfrm>
            <a:off x="135837" y="2587561"/>
            <a:ext cx="3954780" cy="2933700"/>
          </a:xfrm>
          <a:prstGeom prst="rect">
            <a:avLst/>
          </a:prstGeom>
        </p:spPr>
      </p:pic>
      <p:pic>
        <p:nvPicPr>
          <p:cNvPr id="4" name="図 3">
            <a:extLst>
              <a:ext uri="{FF2B5EF4-FFF2-40B4-BE49-F238E27FC236}">
                <a16:creationId xmlns:a16="http://schemas.microsoft.com/office/drawing/2014/main" id="{54262026-31C4-5986-4B3D-3701326F1A81}"/>
              </a:ext>
            </a:extLst>
          </p:cNvPr>
          <p:cNvPicPr>
            <a:picLocks noChangeAspect="1"/>
          </p:cNvPicPr>
          <p:nvPr/>
        </p:nvPicPr>
        <p:blipFill>
          <a:blip r:embed="rId4"/>
          <a:stretch>
            <a:fillRect/>
          </a:stretch>
        </p:blipFill>
        <p:spPr>
          <a:xfrm>
            <a:off x="4186528" y="2587207"/>
            <a:ext cx="3954780" cy="2933700"/>
          </a:xfrm>
          <a:prstGeom prst="rect">
            <a:avLst/>
          </a:prstGeom>
        </p:spPr>
      </p:pic>
      <p:pic>
        <p:nvPicPr>
          <p:cNvPr id="5" name="図 4">
            <a:extLst>
              <a:ext uri="{FF2B5EF4-FFF2-40B4-BE49-F238E27FC236}">
                <a16:creationId xmlns:a16="http://schemas.microsoft.com/office/drawing/2014/main" id="{40E197AA-099C-5D09-4648-D5FFAD6C8E0A}"/>
              </a:ext>
            </a:extLst>
          </p:cNvPr>
          <p:cNvPicPr>
            <a:picLocks noChangeAspect="1"/>
          </p:cNvPicPr>
          <p:nvPr/>
        </p:nvPicPr>
        <p:blipFill>
          <a:blip r:embed="rId5"/>
          <a:stretch>
            <a:fillRect/>
          </a:stretch>
        </p:blipFill>
        <p:spPr>
          <a:xfrm>
            <a:off x="8201377" y="2587207"/>
            <a:ext cx="3962400" cy="2933700"/>
          </a:xfrm>
          <a:prstGeom prst="rect">
            <a:avLst/>
          </a:prstGeom>
        </p:spPr>
      </p:pic>
    </p:spTree>
    <p:extLst>
      <p:ext uri="{BB962C8B-B14F-4D97-AF65-F5344CB8AC3E}">
        <p14:creationId xmlns:p14="http://schemas.microsoft.com/office/powerpoint/2010/main" val="3435150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DC35-3964-B4AA-F65E-C062022F1FBF}"/>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643CC0B-4F01-EC63-D01E-73B16EEC4898}"/>
              </a:ext>
            </a:extLst>
          </p:cNvPr>
          <p:cNvSpPr txBox="1"/>
          <p:nvPr/>
        </p:nvSpPr>
        <p:spPr>
          <a:xfrm>
            <a:off x="179001" y="6186402"/>
            <a:ext cx="12163777" cy="473206"/>
          </a:xfrm>
          <a:prstGeom prst="rect">
            <a:avLst/>
          </a:prstGeom>
          <a:noFill/>
        </p:spPr>
        <p:txBody>
          <a:bodyPr wrap="square" rtlCol="0">
            <a:spAutoFit/>
          </a:bodyPr>
          <a:lstStyle/>
          <a:p>
            <a:pPr>
              <a:lnSpc>
                <a:spcPct val="150000"/>
              </a:lnSpc>
            </a:pPr>
            <a:r>
              <a:rPr lang="ja-JP" altLang="en-US" dirty="0"/>
              <a:t>左：</a:t>
            </a:r>
            <a:r>
              <a:rPr lang="ja-JP" altLang="en-US" dirty="0">
                <a:latin typeface="+mn-ea"/>
              </a:rPr>
              <a:t>紅ほっぺ（培養土）　　　　　　　　　　　　　　　　　右：紅ほっぺ（砂培地）</a:t>
            </a:r>
            <a:endParaRPr lang="en-US" altLang="ja-JP" dirty="0"/>
          </a:p>
        </p:txBody>
      </p:sp>
      <p:sp>
        <p:nvSpPr>
          <p:cNvPr id="8" name="タイトル 1">
            <a:extLst>
              <a:ext uri="{FF2B5EF4-FFF2-40B4-BE49-F238E27FC236}">
                <a16:creationId xmlns:a16="http://schemas.microsoft.com/office/drawing/2014/main" id="{75AA2FD8-9A85-7A43-575C-976E35495D05}"/>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pic>
        <p:nvPicPr>
          <p:cNvPr id="11" name="図 10">
            <a:extLst>
              <a:ext uri="{FF2B5EF4-FFF2-40B4-BE49-F238E27FC236}">
                <a16:creationId xmlns:a16="http://schemas.microsoft.com/office/drawing/2014/main" id="{AFD35113-E036-24ED-3F2A-8906FF5DBDA9}"/>
              </a:ext>
            </a:extLst>
          </p:cNvPr>
          <p:cNvPicPr>
            <a:picLocks noChangeAspect="1"/>
          </p:cNvPicPr>
          <p:nvPr/>
        </p:nvPicPr>
        <p:blipFill>
          <a:blip r:embed="rId3"/>
          <a:stretch>
            <a:fillRect/>
          </a:stretch>
        </p:blipFill>
        <p:spPr>
          <a:xfrm>
            <a:off x="6229547" y="1880262"/>
            <a:ext cx="5916997" cy="4386572"/>
          </a:xfrm>
          <a:prstGeom prst="rect">
            <a:avLst/>
          </a:prstGeom>
        </p:spPr>
      </p:pic>
      <p:pic>
        <p:nvPicPr>
          <p:cNvPr id="14" name="図 13">
            <a:extLst>
              <a:ext uri="{FF2B5EF4-FFF2-40B4-BE49-F238E27FC236}">
                <a16:creationId xmlns:a16="http://schemas.microsoft.com/office/drawing/2014/main" id="{3928178A-6D5F-32BE-A670-922BFF688AAE}"/>
              </a:ext>
            </a:extLst>
          </p:cNvPr>
          <p:cNvPicPr>
            <a:picLocks noChangeAspect="1"/>
          </p:cNvPicPr>
          <p:nvPr/>
        </p:nvPicPr>
        <p:blipFill>
          <a:blip r:embed="rId4"/>
          <a:stretch>
            <a:fillRect/>
          </a:stretch>
        </p:blipFill>
        <p:spPr>
          <a:xfrm>
            <a:off x="116314" y="1880261"/>
            <a:ext cx="5916999" cy="4386573"/>
          </a:xfrm>
          <a:prstGeom prst="rect">
            <a:avLst/>
          </a:prstGeom>
        </p:spPr>
      </p:pic>
    </p:spTree>
    <p:extLst>
      <p:ext uri="{BB962C8B-B14F-4D97-AF65-F5344CB8AC3E}">
        <p14:creationId xmlns:p14="http://schemas.microsoft.com/office/powerpoint/2010/main" val="2643740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0848-4DA8-5229-B2D8-7344A3F909A2}"/>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CA10E3A-C771-E7D8-FCF3-BA7B8E4AAEF3}"/>
              </a:ext>
            </a:extLst>
          </p:cNvPr>
          <p:cNvSpPr txBox="1"/>
          <p:nvPr/>
        </p:nvSpPr>
        <p:spPr>
          <a:xfrm>
            <a:off x="248012" y="6220906"/>
            <a:ext cx="12163777" cy="473206"/>
          </a:xfrm>
          <a:prstGeom prst="rect">
            <a:avLst/>
          </a:prstGeom>
          <a:noFill/>
        </p:spPr>
        <p:txBody>
          <a:bodyPr wrap="square" rtlCol="0">
            <a:spAutoFit/>
          </a:bodyPr>
          <a:lstStyle/>
          <a:p>
            <a:pPr>
              <a:lnSpc>
                <a:spcPct val="150000"/>
              </a:lnSpc>
            </a:pPr>
            <a:r>
              <a:rPr lang="ja-JP" altLang="en-US" dirty="0"/>
              <a:t>左：章姫（砂培地）　　　　　　　　　　　　　　　　　右：章姫（培養土）</a:t>
            </a:r>
            <a:endParaRPr lang="en-US" altLang="ja-JP" dirty="0"/>
          </a:p>
        </p:txBody>
      </p:sp>
      <p:sp>
        <p:nvSpPr>
          <p:cNvPr id="8" name="タイトル 1">
            <a:extLst>
              <a:ext uri="{FF2B5EF4-FFF2-40B4-BE49-F238E27FC236}">
                <a16:creationId xmlns:a16="http://schemas.microsoft.com/office/drawing/2014/main" id="{D140FA64-9125-95B5-DE9E-419C3D314D57}"/>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pic>
        <p:nvPicPr>
          <p:cNvPr id="2" name="図 1">
            <a:extLst>
              <a:ext uri="{FF2B5EF4-FFF2-40B4-BE49-F238E27FC236}">
                <a16:creationId xmlns:a16="http://schemas.microsoft.com/office/drawing/2014/main" id="{6A147D74-B506-333C-251F-4B9BEC4C6BBC}"/>
              </a:ext>
            </a:extLst>
          </p:cNvPr>
          <p:cNvPicPr>
            <a:picLocks noChangeAspect="1"/>
          </p:cNvPicPr>
          <p:nvPr/>
        </p:nvPicPr>
        <p:blipFill>
          <a:blip r:embed="rId3"/>
          <a:stretch>
            <a:fillRect/>
          </a:stretch>
        </p:blipFill>
        <p:spPr>
          <a:xfrm>
            <a:off x="103607" y="1911727"/>
            <a:ext cx="5875020" cy="4358640"/>
          </a:xfrm>
          <a:prstGeom prst="rect">
            <a:avLst/>
          </a:prstGeom>
        </p:spPr>
      </p:pic>
      <p:pic>
        <p:nvPicPr>
          <p:cNvPr id="4" name="図 3">
            <a:extLst>
              <a:ext uri="{FF2B5EF4-FFF2-40B4-BE49-F238E27FC236}">
                <a16:creationId xmlns:a16="http://schemas.microsoft.com/office/drawing/2014/main" id="{94052313-4D60-2239-8FED-44A90E7C611A}"/>
              </a:ext>
            </a:extLst>
          </p:cNvPr>
          <p:cNvPicPr>
            <a:picLocks noChangeAspect="1"/>
          </p:cNvPicPr>
          <p:nvPr/>
        </p:nvPicPr>
        <p:blipFill>
          <a:blip r:embed="rId4"/>
          <a:stretch>
            <a:fillRect/>
          </a:stretch>
        </p:blipFill>
        <p:spPr>
          <a:xfrm>
            <a:off x="6213375" y="1911727"/>
            <a:ext cx="5875020" cy="4358640"/>
          </a:xfrm>
          <a:prstGeom prst="rect">
            <a:avLst/>
          </a:prstGeom>
        </p:spPr>
      </p:pic>
    </p:spTree>
    <p:extLst>
      <p:ext uri="{BB962C8B-B14F-4D97-AF65-F5344CB8AC3E}">
        <p14:creationId xmlns:p14="http://schemas.microsoft.com/office/powerpoint/2010/main" val="2840941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30252-1AED-BD0A-D8E6-D14C392C5B12}"/>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F5B2C3F9-A166-99B6-461E-26E9F0C8E1AF}"/>
              </a:ext>
            </a:extLst>
          </p:cNvPr>
          <p:cNvSpPr txBox="1"/>
          <p:nvPr/>
        </p:nvSpPr>
        <p:spPr>
          <a:xfrm>
            <a:off x="179001" y="1194834"/>
            <a:ext cx="12163777" cy="3243196"/>
          </a:xfrm>
          <a:prstGeom prst="rect">
            <a:avLst/>
          </a:prstGeom>
          <a:noFill/>
        </p:spPr>
        <p:txBody>
          <a:bodyPr wrap="square" rtlCol="0">
            <a:spAutoFit/>
          </a:bodyPr>
          <a:lstStyle/>
          <a:p>
            <a:pPr>
              <a:lnSpc>
                <a:spcPct val="200000"/>
              </a:lnSpc>
            </a:pPr>
            <a:r>
              <a:rPr lang="en-US" altLang="ja-JP"/>
              <a:t>【</a:t>
            </a:r>
            <a:r>
              <a:rPr lang="ja-JP" altLang="en-US"/>
              <a:t>病害虫管理</a:t>
            </a:r>
            <a:r>
              <a:rPr lang="en-US" altLang="ja-JP"/>
              <a:t>】</a:t>
            </a:r>
          </a:p>
          <a:p>
            <a:pPr>
              <a:lnSpc>
                <a:spcPct val="200000"/>
              </a:lnSpc>
            </a:pPr>
            <a:r>
              <a:rPr lang="ja-JP" altLang="en-US">
                <a:latin typeface="+mn-ea"/>
              </a:rPr>
              <a:t>・</a:t>
            </a:r>
            <a:r>
              <a:rPr lang="ja-JP" altLang="en-US">
                <a:solidFill>
                  <a:srgbClr val="FF0000"/>
                </a:solidFill>
                <a:latin typeface="+mn-ea"/>
              </a:rPr>
              <a:t>化学合成農薬を使用しない病害虫管理</a:t>
            </a:r>
            <a:r>
              <a:rPr lang="ja-JP" altLang="en-US">
                <a:latin typeface="+mn-ea"/>
              </a:rPr>
              <a:t>を検討。食品添加物由来の農薬</a:t>
            </a:r>
            <a:r>
              <a:rPr lang="en-US" altLang="ja-JP">
                <a:latin typeface="+mn-ea"/>
              </a:rPr>
              <a:t>3</a:t>
            </a:r>
            <a:r>
              <a:rPr lang="ja-JP" altLang="en-US">
                <a:latin typeface="+mn-ea"/>
              </a:rPr>
              <a:t>回、微生物由来の農薬</a:t>
            </a:r>
            <a:r>
              <a:rPr lang="en-US" altLang="ja-JP">
                <a:latin typeface="+mn-ea"/>
              </a:rPr>
              <a:t>2</a:t>
            </a:r>
            <a:r>
              <a:rPr lang="ja-JP" altLang="en-US">
                <a:latin typeface="+mn-ea"/>
              </a:rPr>
              <a:t>回、天敵農薬１回</a:t>
            </a:r>
            <a:endParaRPr lang="en-US" altLang="ja-JP">
              <a:latin typeface="+mn-ea"/>
            </a:endParaRPr>
          </a:p>
          <a:p>
            <a:pPr>
              <a:lnSpc>
                <a:spcPct val="200000"/>
              </a:lnSpc>
            </a:pPr>
            <a:r>
              <a:rPr lang="ja-JP" altLang="en-US">
                <a:latin typeface="+mn-ea"/>
              </a:rPr>
              <a:t>　使用。ハダニが</a:t>
            </a:r>
            <a:r>
              <a:rPr lang="en-US" altLang="ja-JP">
                <a:latin typeface="+mn-ea"/>
              </a:rPr>
              <a:t>11</a:t>
            </a:r>
            <a:r>
              <a:rPr lang="ja-JP" altLang="en-US">
                <a:latin typeface="+mn-ea"/>
              </a:rPr>
              <a:t>月に若干見られたが、早めに天敵を放飼したことでそれ以降見られない。</a:t>
            </a:r>
            <a:endParaRPr lang="en-US" altLang="ja-JP">
              <a:latin typeface="+mn-ea"/>
            </a:endParaRPr>
          </a:p>
          <a:p>
            <a:pPr>
              <a:lnSpc>
                <a:spcPct val="200000"/>
              </a:lnSpc>
            </a:pPr>
            <a:r>
              <a:rPr lang="ja-JP" altLang="en-US">
                <a:latin typeface="+mn-ea"/>
              </a:rPr>
              <a:t>　その他の対策では、入室の順番（一日の一番最初に入る）や入室者を制限、ハウスの換気はいちごから遠い</a:t>
            </a:r>
            <a:endParaRPr lang="en-US" altLang="ja-JP">
              <a:latin typeface="+mn-ea"/>
            </a:endParaRPr>
          </a:p>
          <a:p>
            <a:pPr>
              <a:lnSpc>
                <a:spcPct val="200000"/>
              </a:lnSpc>
            </a:pPr>
            <a:r>
              <a:rPr lang="ja-JP" altLang="en-US">
                <a:latin typeface="+mn-ea"/>
              </a:rPr>
              <a:t>　側窓を開閉することを行った。</a:t>
            </a:r>
            <a:endParaRPr lang="en-US" altLang="ja-JP">
              <a:latin typeface="+mn-ea"/>
            </a:endParaRPr>
          </a:p>
          <a:p>
            <a:pPr>
              <a:lnSpc>
                <a:spcPct val="150000"/>
              </a:lnSpc>
            </a:pPr>
            <a:r>
              <a:rPr lang="ja-JP" altLang="en-US">
                <a:latin typeface="+mn-ea"/>
              </a:rPr>
              <a:t>　</a:t>
            </a:r>
            <a:endParaRPr lang="en-US" altLang="ja-JP" dirty="0">
              <a:latin typeface="+mn-ea"/>
            </a:endParaRPr>
          </a:p>
        </p:txBody>
      </p:sp>
      <p:sp>
        <p:nvSpPr>
          <p:cNvPr id="8" name="タイトル 1">
            <a:extLst>
              <a:ext uri="{FF2B5EF4-FFF2-40B4-BE49-F238E27FC236}">
                <a16:creationId xmlns:a16="http://schemas.microsoft.com/office/drawing/2014/main" id="{61C258C4-244B-E824-969A-0E3F0BE1C18E}"/>
              </a:ext>
            </a:extLst>
          </p:cNvPr>
          <p:cNvSpPr>
            <a:spLocks noGrp="1"/>
          </p:cNvSpPr>
          <p:nvPr>
            <p:ph type="title"/>
          </p:nvPr>
        </p:nvSpPr>
        <p:spPr>
          <a:xfrm>
            <a:off x="1097280" y="657748"/>
            <a:ext cx="4767652" cy="420115"/>
          </a:xfrm>
        </p:spPr>
        <p:txBody>
          <a:bodyPr/>
          <a:lstStyle/>
          <a:p>
            <a:r>
              <a:rPr lang="ja-JP" altLang="en-US"/>
              <a:t>４．現状の課題・対策：②いちご</a:t>
            </a:r>
            <a:r>
              <a:rPr kumimoji="1" lang="ja-JP" altLang="en-US"/>
              <a:t> </a:t>
            </a:r>
            <a:endParaRPr kumimoji="1" lang="ja-JP" altLang="en-US" dirty="0"/>
          </a:p>
        </p:txBody>
      </p:sp>
      <p:pic>
        <p:nvPicPr>
          <p:cNvPr id="2" name="図 1">
            <a:extLst>
              <a:ext uri="{FF2B5EF4-FFF2-40B4-BE49-F238E27FC236}">
                <a16:creationId xmlns:a16="http://schemas.microsoft.com/office/drawing/2014/main" id="{3FCD3C13-ECC0-8CF8-F0CC-68905BF460C8}"/>
              </a:ext>
            </a:extLst>
          </p:cNvPr>
          <p:cNvPicPr>
            <a:picLocks noChangeAspect="1"/>
          </p:cNvPicPr>
          <p:nvPr/>
        </p:nvPicPr>
        <p:blipFill>
          <a:blip r:embed="rId3"/>
          <a:stretch>
            <a:fillRect/>
          </a:stretch>
        </p:blipFill>
        <p:spPr>
          <a:xfrm>
            <a:off x="6260889" y="4046220"/>
            <a:ext cx="3810000" cy="2644140"/>
          </a:xfrm>
          <a:prstGeom prst="rect">
            <a:avLst/>
          </a:prstGeom>
        </p:spPr>
      </p:pic>
      <p:pic>
        <p:nvPicPr>
          <p:cNvPr id="4" name="図 3">
            <a:extLst>
              <a:ext uri="{FF2B5EF4-FFF2-40B4-BE49-F238E27FC236}">
                <a16:creationId xmlns:a16="http://schemas.microsoft.com/office/drawing/2014/main" id="{325D76DD-012C-D4D0-FBCE-2A7171B892E8}"/>
              </a:ext>
            </a:extLst>
          </p:cNvPr>
          <p:cNvPicPr>
            <a:picLocks noChangeAspect="1"/>
          </p:cNvPicPr>
          <p:nvPr/>
        </p:nvPicPr>
        <p:blipFill>
          <a:blip r:embed="rId4"/>
          <a:stretch>
            <a:fillRect/>
          </a:stretch>
        </p:blipFill>
        <p:spPr>
          <a:xfrm>
            <a:off x="10047039" y="3886200"/>
            <a:ext cx="1965960" cy="2804160"/>
          </a:xfrm>
          <a:prstGeom prst="rect">
            <a:avLst/>
          </a:prstGeom>
        </p:spPr>
      </p:pic>
    </p:spTree>
    <p:extLst>
      <p:ext uri="{BB962C8B-B14F-4D97-AF65-F5344CB8AC3E}">
        <p14:creationId xmlns:p14="http://schemas.microsoft.com/office/powerpoint/2010/main" val="3493371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179001" y="1194834"/>
            <a:ext cx="12163777" cy="5424562"/>
          </a:xfrm>
          <a:prstGeom prst="rect">
            <a:avLst/>
          </a:prstGeom>
          <a:noFill/>
        </p:spPr>
        <p:txBody>
          <a:bodyPr wrap="square" rtlCol="0">
            <a:spAutoFit/>
          </a:bodyPr>
          <a:lstStyle/>
          <a:p>
            <a:pPr>
              <a:lnSpc>
                <a:spcPct val="150000"/>
              </a:lnSpc>
            </a:pPr>
            <a:r>
              <a:rPr lang="en-US" altLang="ja-JP" dirty="0"/>
              <a:t>【</a:t>
            </a:r>
            <a:r>
              <a:rPr lang="ja-JP" altLang="en-US" dirty="0"/>
              <a:t>評価</a:t>
            </a:r>
            <a:r>
              <a:rPr lang="en-US" altLang="ja-JP" dirty="0"/>
              <a:t>】</a:t>
            </a:r>
          </a:p>
          <a:p>
            <a:pPr>
              <a:lnSpc>
                <a:spcPct val="200000"/>
              </a:lnSpc>
            </a:pPr>
            <a:r>
              <a:rPr lang="ja-JP" altLang="en-US" dirty="0"/>
              <a:t>　</a:t>
            </a:r>
            <a:r>
              <a:rPr lang="ja-JP" altLang="en-US" dirty="0">
                <a:latin typeface="+mn-ea"/>
              </a:rPr>
              <a:t>・</a:t>
            </a:r>
            <a:r>
              <a:rPr lang="en-US" altLang="ja-JP" dirty="0">
                <a:latin typeface="+mn-ea"/>
              </a:rPr>
              <a:t>4</a:t>
            </a:r>
            <a:r>
              <a:rPr lang="ja-JP" altLang="en-US" dirty="0">
                <a:latin typeface="+mn-ea"/>
              </a:rPr>
              <a:t>月</a:t>
            </a:r>
            <a:r>
              <a:rPr lang="en-US" altLang="ja-JP" dirty="0">
                <a:latin typeface="+mn-ea"/>
              </a:rPr>
              <a:t>23</a:t>
            </a:r>
            <a:r>
              <a:rPr lang="ja-JP" altLang="en-US" dirty="0">
                <a:latin typeface="+mn-ea"/>
              </a:rPr>
              <a:t>日試験終了。一般的には</a:t>
            </a:r>
            <a:r>
              <a:rPr lang="en-US" altLang="ja-JP" dirty="0">
                <a:latin typeface="+mn-ea"/>
              </a:rPr>
              <a:t>5</a:t>
            </a:r>
            <a:r>
              <a:rPr lang="ja-JP" altLang="en-US" dirty="0">
                <a:latin typeface="+mn-ea"/>
              </a:rPr>
              <a:t>月まで栽培することが多いため、</a:t>
            </a:r>
            <a:endParaRPr lang="en-US" altLang="ja-JP" dirty="0">
              <a:latin typeface="+mn-ea"/>
            </a:endParaRPr>
          </a:p>
          <a:p>
            <a:pPr>
              <a:lnSpc>
                <a:spcPct val="200000"/>
              </a:lnSpc>
            </a:pPr>
            <a:r>
              <a:rPr lang="ja-JP" altLang="en-US" dirty="0">
                <a:latin typeface="+mn-ea"/>
              </a:rPr>
              <a:t>　　残り</a:t>
            </a:r>
            <a:r>
              <a:rPr lang="en-US" altLang="ja-JP" dirty="0">
                <a:latin typeface="+mn-ea"/>
              </a:rPr>
              <a:t>1</a:t>
            </a:r>
            <a:r>
              <a:rPr lang="ja-JP" altLang="en-US" dirty="0">
                <a:latin typeface="+mn-ea"/>
              </a:rPr>
              <a:t>ヶ月分、さらに収穫量は伸ばせたと思われる。</a:t>
            </a:r>
            <a:endParaRPr lang="en-US" altLang="ja-JP" dirty="0">
              <a:latin typeface="+mn-ea"/>
            </a:endParaRPr>
          </a:p>
          <a:p>
            <a:pPr>
              <a:lnSpc>
                <a:spcPct val="200000"/>
              </a:lnSpc>
            </a:pPr>
            <a:r>
              <a:rPr lang="ja-JP" altLang="en-US" dirty="0">
                <a:latin typeface="+mn-ea"/>
              </a:rPr>
              <a:t>　・</a:t>
            </a:r>
            <a:r>
              <a:rPr lang="en-US" altLang="ja-JP" dirty="0">
                <a:latin typeface="+mn-ea"/>
              </a:rPr>
              <a:t>12</a:t>
            </a:r>
            <a:r>
              <a:rPr lang="ja-JP" altLang="en-US" dirty="0">
                <a:latin typeface="+mn-ea"/>
              </a:rPr>
              <a:t>月の収穫量が非常に少なかった。試験場報告では</a:t>
            </a:r>
            <a:r>
              <a:rPr lang="en-US" altLang="ja-JP" dirty="0">
                <a:latin typeface="+mn-ea"/>
              </a:rPr>
              <a:t>100g/</a:t>
            </a:r>
            <a:r>
              <a:rPr lang="ja-JP" altLang="en-US" dirty="0">
                <a:latin typeface="+mn-ea"/>
              </a:rPr>
              <a:t>株程度</a:t>
            </a:r>
            <a:endParaRPr lang="en-US" altLang="ja-JP" dirty="0">
              <a:latin typeface="+mn-ea"/>
            </a:endParaRPr>
          </a:p>
          <a:p>
            <a:pPr>
              <a:lnSpc>
                <a:spcPct val="200000"/>
              </a:lnSpc>
            </a:pPr>
            <a:r>
              <a:rPr lang="ja-JP" altLang="en-US" dirty="0">
                <a:latin typeface="+mn-ea"/>
              </a:rPr>
              <a:t>　　採れている。</a:t>
            </a:r>
            <a:r>
              <a:rPr lang="ja-JP" altLang="en-US" dirty="0">
                <a:solidFill>
                  <a:srgbClr val="FF0000"/>
                </a:solidFill>
                <a:latin typeface="+mn-ea"/>
              </a:rPr>
              <a:t>→夏の高温の影響で花芽分化、開花の遅れが要因。</a:t>
            </a:r>
            <a:endParaRPr lang="en-US" altLang="ja-JP" dirty="0">
              <a:solidFill>
                <a:srgbClr val="FF0000"/>
              </a:solidFill>
              <a:latin typeface="+mn-ea"/>
            </a:endParaRPr>
          </a:p>
          <a:p>
            <a:pPr>
              <a:lnSpc>
                <a:spcPct val="200000"/>
              </a:lnSpc>
            </a:pPr>
            <a:r>
              <a:rPr lang="ja-JP" altLang="en-US" dirty="0">
                <a:latin typeface="+mn-ea"/>
              </a:rPr>
              <a:t>　・</a:t>
            </a:r>
            <a:r>
              <a:rPr lang="en-US" altLang="ja-JP" dirty="0">
                <a:latin typeface="+mn-ea"/>
              </a:rPr>
              <a:t>2</a:t>
            </a:r>
            <a:r>
              <a:rPr lang="ja-JP" altLang="en-US" dirty="0">
                <a:latin typeface="+mn-ea"/>
              </a:rPr>
              <a:t>月の落ち込み</a:t>
            </a:r>
            <a:r>
              <a:rPr lang="ja-JP" altLang="en-US" dirty="0">
                <a:solidFill>
                  <a:srgbClr val="FF0000"/>
                </a:solidFill>
                <a:latin typeface="+mn-ea"/>
              </a:rPr>
              <a:t>→年末年始の未授粉、なり疲れの影響か。</a:t>
            </a:r>
            <a:endParaRPr lang="en-US" altLang="ja-JP" dirty="0">
              <a:solidFill>
                <a:srgbClr val="FF0000"/>
              </a:solidFill>
              <a:latin typeface="+mn-ea"/>
            </a:endParaRPr>
          </a:p>
          <a:p>
            <a:pPr>
              <a:lnSpc>
                <a:spcPct val="200000"/>
              </a:lnSpc>
            </a:pPr>
            <a:r>
              <a:rPr lang="ja-JP" altLang="en-US" dirty="0">
                <a:latin typeface="+mn-ea"/>
              </a:rPr>
              <a:t>　・章姫よりも紅ほっぺの方が収量性が高い</a:t>
            </a:r>
            <a:r>
              <a:rPr lang="ja-JP" altLang="en-US" dirty="0"/>
              <a:t>。</a:t>
            </a:r>
            <a:endParaRPr lang="en-US" altLang="ja-JP" dirty="0"/>
          </a:p>
          <a:p>
            <a:pPr>
              <a:lnSpc>
                <a:spcPct val="200000"/>
              </a:lnSpc>
            </a:pPr>
            <a:r>
              <a:rPr lang="ja-JP" altLang="en-US" dirty="0"/>
              <a:t>　・培養土の方が砂よりも優れている。多段栽培、軽量化の観点から</a:t>
            </a:r>
            <a:endParaRPr lang="en-US" altLang="ja-JP" dirty="0"/>
          </a:p>
          <a:p>
            <a:pPr>
              <a:lnSpc>
                <a:spcPct val="200000"/>
              </a:lnSpc>
            </a:pPr>
            <a:r>
              <a:rPr lang="ja-JP" altLang="en-US" dirty="0"/>
              <a:t>　　培養土を今後は取り入れたい。</a:t>
            </a:r>
            <a:endParaRPr lang="en-US" altLang="ja-JP" dirty="0"/>
          </a:p>
          <a:p>
            <a:pPr>
              <a:lnSpc>
                <a:spcPct val="200000"/>
              </a:lnSpc>
            </a:pPr>
            <a:r>
              <a:rPr lang="ja-JP" altLang="en-US" dirty="0"/>
              <a:t>　・いちご専用培養土を使用するとさらに収量が上がる可能性。</a:t>
            </a:r>
            <a:endParaRPr lang="en-US" altLang="ja-JP" dirty="0"/>
          </a:p>
        </p:txBody>
      </p:sp>
      <p:sp>
        <p:nvSpPr>
          <p:cNvPr id="8" name="タイトル 1">
            <a:extLst>
              <a:ext uri="{FF2B5EF4-FFF2-40B4-BE49-F238E27FC236}">
                <a16:creationId xmlns:a16="http://schemas.microsoft.com/office/drawing/2014/main" id="{F927BE82-0B07-65A1-9106-709F5D417647}"/>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pic>
        <p:nvPicPr>
          <p:cNvPr id="2" name="図 1">
            <a:extLst>
              <a:ext uri="{FF2B5EF4-FFF2-40B4-BE49-F238E27FC236}">
                <a16:creationId xmlns:a16="http://schemas.microsoft.com/office/drawing/2014/main" id="{43F49BC0-9415-107A-C9B7-570F66E1773B}"/>
              </a:ext>
            </a:extLst>
          </p:cNvPr>
          <p:cNvPicPr>
            <a:picLocks noChangeAspect="1"/>
          </p:cNvPicPr>
          <p:nvPr/>
        </p:nvPicPr>
        <p:blipFill>
          <a:blip r:embed="rId3"/>
          <a:stretch>
            <a:fillRect/>
          </a:stretch>
        </p:blipFill>
        <p:spPr>
          <a:xfrm>
            <a:off x="7536071" y="1049458"/>
            <a:ext cx="4571814" cy="3539795"/>
          </a:xfrm>
          <a:prstGeom prst="rect">
            <a:avLst/>
          </a:prstGeom>
        </p:spPr>
      </p:pic>
      <p:pic>
        <p:nvPicPr>
          <p:cNvPr id="11" name="図 10">
            <a:extLst>
              <a:ext uri="{FF2B5EF4-FFF2-40B4-BE49-F238E27FC236}">
                <a16:creationId xmlns:a16="http://schemas.microsoft.com/office/drawing/2014/main" id="{3CB68134-1251-2502-DA5F-675064F7FD08}"/>
              </a:ext>
            </a:extLst>
          </p:cNvPr>
          <p:cNvPicPr>
            <a:picLocks noChangeAspect="1"/>
          </p:cNvPicPr>
          <p:nvPr/>
        </p:nvPicPr>
        <p:blipFill>
          <a:blip r:embed="rId4"/>
          <a:stretch>
            <a:fillRect/>
          </a:stretch>
        </p:blipFill>
        <p:spPr>
          <a:xfrm>
            <a:off x="7410092" y="4538981"/>
            <a:ext cx="4747404" cy="2258185"/>
          </a:xfrm>
          <a:prstGeom prst="rect">
            <a:avLst/>
          </a:prstGeom>
        </p:spPr>
      </p:pic>
    </p:spTree>
    <p:extLst>
      <p:ext uri="{BB962C8B-B14F-4D97-AF65-F5344CB8AC3E}">
        <p14:creationId xmlns:p14="http://schemas.microsoft.com/office/powerpoint/2010/main" val="4049144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95C56-5163-2992-945C-5F6D524A3F2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9D9A3F55-9433-E8BF-37AF-623F65932144}"/>
              </a:ext>
            </a:extLst>
          </p:cNvPr>
          <p:cNvSpPr txBox="1"/>
          <p:nvPr/>
        </p:nvSpPr>
        <p:spPr>
          <a:xfrm>
            <a:off x="179001" y="1194834"/>
            <a:ext cx="12163777" cy="3797193"/>
          </a:xfrm>
          <a:prstGeom prst="rect">
            <a:avLst/>
          </a:prstGeom>
          <a:noFill/>
        </p:spPr>
        <p:txBody>
          <a:bodyPr wrap="square" rtlCol="0">
            <a:spAutoFit/>
          </a:bodyPr>
          <a:lstStyle/>
          <a:p>
            <a:pPr>
              <a:lnSpc>
                <a:spcPct val="150000"/>
              </a:lnSpc>
            </a:pPr>
            <a:r>
              <a:rPr lang="en-US" altLang="ja-JP" dirty="0">
                <a:latin typeface="+mn-ea"/>
              </a:rPr>
              <a:t>【</a:t>
            </a:r>
            <a:r>
              <a:rPr lang="ja-JP" altLang="en-US" dirty="0">
                <a:latin typeface="+mn-ea"/>
              </a:rPr>
              <a:t>作業時間</a:t>
            </a:r>
            <a:r>
              <a:rPr lang="en-US" altLang="ja-JP" dirty="0">
                <a:latin typeface="+mn-ea"/>
              </a:rPr>
              <a:t>】</a:t>
            </a:r>
          </a:p>
          <a:p>
            <a:pPr>
              <a:lnSpc>
                <a:spcPct val="150000"/>
              </a:lnSpc>
            </a:pPr>
            <a:r>
              <a:rPr lang="ja-JP" altLang="en-US" dirty="0">
                <a:latin typeface="+mn-ea"/>
              </a:rPr>
              <a:t>　・イチゴを</a:t>
            </a:r>
            <a:r>
              <a:rPr lang="en-US" altLang="ja-JP" dirty="0">
                <a:latin typeface="+mn-ea"/>
              </a:rPr>
              <a:t>1</a:t>
            </a:r>
            <a:r>
              <a:rPr lang="ja-JP" altLang="en-US" dirty="0">
                <a:latin typeface="+mn-ea"/>
              </a:rPr>
              <a:t>棟栽培、</a:t>
            </a:r>
            <a:r>
              <a:rPr lang="en-US" altLang="ja-JP" dirty="0">
                <a:latin typeface="+mn-ea"/>
              </a:rPr>
              <a:t>5</a:t>
            </a:r>
            <a:r>
              <a:rPr lang="ja-JP" altLang="en-US" dirty="0">
                <a:latin typeface="+mn-ea"/>
              </a:rPr>
              <a:t>人就労した場合の試算では、毎日の作業は一人</a:t>
            </a:r>
            <a:r>
              <a:rPr lang="en-US" altLang="ja-JP" dirty="0">
                <a:latin typeface="+mn-ea"/>
              </a:rPr>
              <a:t>2.3</a:t>
            </a:r>
            <a:r>
              <a:rPr lang="ja-JP" altLang="en-US" dirty="0">
                <a:latin typeface="+mn-ea"/>
              </a:rPr>
              <a:t>時間程度。</a:t>
            </a:r>
            <a:r>
              <a:rPr lang="en-US" altLang="ja-JP" dirty="0">
                <a:latin typeface="+mn-ea"/>
              </a:rPr>
              <a:t>2</a:t>
            </a:r>
            <a:r>
              <a:rPr lang="ja-JP" altLang="en-US" dirty="0">
                <a:latin typeface="+mn-ea"/>
              </a:rPr>
              <a:t>倍以上の株数を増やして</a:t>
            </a:r>
            <a:endParaRPr lang="en-US" altLang="ja-JP" dirty="0">
              <a:latin typeface="+mn-ea"/>
            </a:endParaRPr>
          </a:p>
          <a:p>
            <a:pPr>
              <a:lnSpc>
                <a:spcPct val="150000"/>
              </a:lnSpc>
            </a:pPr>
            <a:r>
              <a:rPr lang="ja-JP" altLang="en-US" dirty="0">
                <a:latin typeface="+mn-ea"/>
              </a:rPr>
              <a:t>　　仕事を切り出すことが必要。</a:t>
            </a:r>
            <a:endParaRPr lang="en-US" altLang="ja-JP" dirty="0">
              <a:latin typeface="+mn-ea"/>
            </a:endParaRPr>
          </a:p>
          <a:p>
            <a:pPr>
              <a:lnSpc>
                <a:spcPct val="150000"/>
              </a:lnSpc>
            </a:pPr>
            <a:r>
              <a:rPr lang="ja-JP" altLang="en-US" dirty="0">
                <a:latin typeface="+mn-ea"/>
              </a:rPr>
              <a:t>　・</a:t>
            </a:r>
            <a:r>
              <a:rPr lang="en-US" altLang="ja-JP" dirty="0">
                <a:latin typeface="+mn-ea"/>
              </a:rPr>
              <a:t>10</a:t>
            </a:r>
            <a:r>
              <a:rPr lang="ja-JP" altLang="en-US" dirty="0">
                <a:latin typeface="+mn-ea"/>
              </a:rPr>
              <a:t>月～</a:t>
            </a:r>
            <a:r>
              <a:rPr lang="en-US" altLang="ja-JP" dirty="0">
                <a:latin typeface="+mn-ea"/>
              </a:rPr>
              <a:t>12</a:t>
            </a:r>
            <a:r>
              <a:rPr lang="ja-JP" altLang="en-US" dirty="0">
                <a:latin typeface="+mn-ea"/>
              </a:rPr>
              <a:t>月までは収穫が無く、定植以降は就労者の仕事がほぼ無い状態になる。</a:t>
            </a:r>
            <a:endParaRPr lang="en-US" altLang="ja-JP" dirty="0">
              <a:latin typeface="+mn-ea"/>
            </a:endParaRPr>
          </a:p>
          <a:p>
            <a:pPr>
              <a:lnSpc>
                <a:spcPct val="150000"/>
              </a:lnSpc>
            </a:pPr>
            <a:r>
              <a:rPr lang="ja-JP" altLang="en-US" dirty="0">
                <a:latin typeface="+mn-ea"/>
              </a:rPr>
              <a:t>　・現状のベッド幅</a:t>
            </a:r>
            <a:r>
              <a:rPr lang="en-US" altLang="ja-JP" dirty="0">
                <a:latin typeface="+mn-ea"/>
              </a:rPr>
              <a:t>(90cm)</a:t>
            </a:r>
            <a:r>
              <a:rPr lang="ja-JP" altLang="en-US" dirty="0">
                <a:latin typeface="+mn-ea"/>
              </a:rPr>
              <a:t>では中央部分に空いたスペースがあるため、中央に</a:t>
            </a:r>
            <a:r>
              <a:rPr lang="en-US" altLang="ja-JP" dirty="0">
                <a:latin typeface="+mn-ea"/>
              </a:rPr>
              <a:t>1</a:t>
            </a:r>
            <a:r>
              <a:rPr lang="ja-JP" altLang="en-US" dirty="0">
                <a:latin typeface="+mn-ea"/>
              </a:rPr>
              <a:t>列追加することも可能と思われ、</a:t>
            </a:r>
            <a:endParaRPr lang="en-US" altLang="ja-JP" dirty="0">
              <a:latin typeface="+mn-ea"/>
            </a:endParaRPr>
          </a:p>
          <a:p>
            <a:pPr>
              <a:lnSpc>
                <a:spcPct val="150000"/>
              </a:lnSpc>
            </a:pPr>
            <a:r>
              <a:rPr lang="ja-JP" altLang="en-US" dirty="0">
                <a:latin typeface="+mn-ea"/>
              </a:rPr>
              <a:t>　　栽植本数を上げることができる。</a:t>
            </a:r>
            <a:endParaRPr lang="en-US" altLang="ja-JP" dirty="0">
              <a:latin typeface="+mn-ea"/>
            </a:endParaRPr>
          </a:p>
          <a:p>
            <a:pPr>
              <a:lnSpc>
                <a:spcPct val="150000"/>
              </a:lnSpc>
            </a:pPr>
            <a:r>
              <a:rPr lang="en-US" altLang="ja-JP" dirty="0">
                <a:latin typeface="+mn-ea"/>
              </a:rPr>
              <a:t>【</a:t>
            </a:r>
            <a:r>
              <a:rPr lang="ja-JP" altLang="en-US" dirty="0">
                <a:latin typeface="+mn-ea"/>
              </a:rPr>
              <a:t>課題</a:t>
            </a:r>
            <a:r>
              <a:rPr lang="en-US" altLang="ja-JP" dirty="0">
                <a:latin typeface="+mn-ea"/>
              </a:rPr>
              <a:t>】</a:t>
            </a:r>
          </a:p>
          <a:p>
            <a:pPr>
              <a:lnSpc>
                <a:spcPct val="150000"/>
              </a:lnSpc>
            </a:pPr>
            <a:r>
              <a:rPr lang="ja-JP" altLang="en-US" dirty="0">
                <a:latin typeface="+mn-ea"/>
              </a:rPr>
              <a:t>　・ひな壇栽培（中央</a:t>
            </a:r>
            <a:r>
              <a:rPr lang="en-US" altLang="ja-JP" dirty="0">
                <a:latin typeface="+mn-ea"/>
              </a:rPr>
              <a:t>2</a:t>
            </a:r>
            <a:r>
              <a:rPr lang="ja-JP" altLang="en-US" dirty="0">
                <a:latin typeface="+mn-ea"/>
              </a:rPr>
              <a:t>条）の検討</a:t>
            </a:r>
            <a:endParaRPr lang="en-US" altLang="ja-JP" dirty="0">
              <a:latin typeface="+mn-ea"/>
            </a:endParaRPr>
          </a:p>
          <a:p>
            <a:pPr>
              <a:lnSpc>
                <a:spcPct val="150000"/>
              </a:lnSpc>
            </a:pPr>
            <a:r>
              <a:rPr lang="ja-JP" altLang="en-US" dirty="0">
                <a:latin typeface="+mn-ea"/>
              </a:rPr>
              <a:t>　・株間</a:t>
            </a:r>
            <a:r>
              <a:rPr lang="en-US" altLang="ja-JP" dirty="0">
                <a:latin typeface="+mn-ea"/>
              </a:rPr>
              <a:t>15cm</a:t>
            </a:r>
            <a:r>
              <a:rPr lang="ja-JP" altLang="en-US" dirty="0">
                <a:latin typeface="+mn-ea"/>
              </a:rPr>
              <a:t>の検討</a:t>
            </a:r>
            <a:endParaRPr lang="en-US" altLang="ja-JP" dirty="0">
              <a:latin typeface="+mn-ea"/>
            </a:endParaRPr>
          </a:p>
        </p:txBody>
      </p:sp>
      <p:sp>
        <p:nvSpPr>
          <p:cNvPr id="8" name="タイトル 1">
            <a:extLst>
              <a:ext uri="{FF2B5EF4-FFF2-40B4-BE49-F238E27FC236}">
                <a16:creationId xmlns:a16="http://schemas.microsoft.com/office/drawing/2014/main" id="{C78AC8D3-11DE-F23B-F212-DE8E066A07C7}"/>
              </a:ext>
            </a:extLst>
          </p:cNvPr>
          <p:cNvSpPr>
            <a:spLocks noGrp="1"/>
          </p:cNvSpPr>
          <p:nvPr>
            <p:ph type="title"/>
          </p:nvPr>
        </p:nvSpPr>
        <p:spPr>
          <a:xfrm>
            <a:off x="1097280" y="657748"/>
            <a:ext cx="4767652" cy="420115"/>
          </a:xfrm>
        </p:spPr>
        <p:txBody>
          <a:bodyPr/>
          <a:lstStyle/>
          <a:p>
            <a:r>
              <a:rPr lang="ja-JP" altLang="en-US" dirty="0"/>
              <a:t>４．現状の課題・対策：②いちご</a:t>
            </a:r>
            <a:r>
              <a:rPr kumimoji="1" lang="ja-JP" altLang="en-US" dirty="0"/>
              <a:t> </a:t>
            </a:r>
          </a:p>
        </p:txBody>
      </p:sp>
      <p:grpSp>
        <p:nvGrpSpPr>
          <p:cNvPr id="16" name="グループ化 15">
            <a:extLst>
              <a:ext uri="{FF2B5EF4-FFF2-40B4-BE49-F238E27FC236}">
                <a16:creationId xmlns:a16="http://schemas.microsoft.com/office/drawing/2014/main" id="{DE6C03FF-73F5-4CBC-7C13-6FCCFA2B950A}"/>
              </a:ext>
            </a:extLst>
          </p:cNvPr>
          <p:cNvGrpSpPr/>
          <p:nvPr/>
        </p:nvGrpSpPr>
        <p:grpSpPr>
          <a:xfrm>
            <a:off x="4300919" y="5076034"/>
            <a:ext cx="2822367" cy="1630393"/>
            <a:chOff x="3706569" y="3890132"/>
            <a:chExt cx="4395164" cy="2657318"/>
          </a:xfrm>
        </p:grpSpPr>
        <p:cxnSp>
          <p:nvCxnSpPr>
            <p:cNvPr id="17" name="直線コネクタ 16">
              <a:extLst>
                <a:ext uri="{FF2B5EF4-FFF2-40B4-BE49-F238E27FC236}">
                  <a16:creationId xmlns:a16="http://schemas.microsoft.com/office/drawing/2014/main" id="{D1FE1391-43A5-1683-5201-7D6A34E47443}"/>
                </a:ext>
              </a:extLst>
            </p:cNvPr>
            <p:cNvCxnSpPr>
              <a:cxnSpLocks/>
            </p:cNvCxnSpPr>
            <p:nvPr/>
          </p:nvCxnSpPr>
          <p:spPr>
            <a:xfrm>
              <a:off x="3831230" y="5581292"/>
              <a:ext cx="0" cy="931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79965FAA-E45E-10AF-D453-6A9618E0837E}"/>
                </a:ext>
              </a:extLst>
            </p:cNvPr>
            <p:cNvCxnSpPr>
              <a:cxnSpLocks/>
            </p:cNvCxnSpPr>
            <p:nvPr/>
          </p:nvCxnSpPr>
          <p:spPr>
            <a:xfrm>
              <a:off x="3831230" y="5581292"/>
              <a:ext cx="41061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C54A5B66-47DD-E0A5-A586-C932BBA5D827}"/>
                </a:ext>
              </a:extLst>
            </p:cNvPr>
            <p:cNvCxnSpPr>
              <a:cxnSpLocks/>
            </p:cNvCxnSpPr>
            <p:nvPr/>
          </p:nvCxnSpPr>
          <p:spPr>
            <a:xfrm>
              <a:off x="7937404" y="5581292"/>
              <a:ext cx="0" cy="966158"/>
            </a:xfrm>
            <a:prstGeom prst="line">
              <a:avLst/>
            </a:prstGeom>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BB1C72C1-98B5-4487-E93E-2CA25442B853}"/>
                </a:ext>
              </a:extLst>
            </p:cNvPr>
            <p:cNvSpPr/>
            <p:nvPr/>
          </p:nvSpPr>
          <p:spPr>
            <a:xfrm>
              <a:off x="4907986" y="4606507"/>
              <a:ext cx="2099742" cy="9727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A38CC645-3029-9215-659E-39821844E40B}"/>
                </a:ext>
              </a:extLst>
            </p:cNvPr>
            <p:cNvPicPr>
              <a:picLocks noChangeAspect="1"/>
            </p:cNvPicPr>
            <p:nvPr/>
          </p:nvPicPr>
          <p:blipFill>
            <a:blip r:embed="rId3"/>
            <a:stretch>
              <a:fillRect/>
            </a:stretch>
          </p:blipFill>
          <p:spPr>
            <a:xfrm>
              <a:off x="3981646" y="4866961"/>
              <a:ext cx="779261" cy="714321"/>
            </a:xfrm>
            <a:prstGeom prst="rect">
              <a:avLst/>
            </a:prstGeom>
          </p:spPr>
        </p:pic>
        <p:pic>
          <p:nvPicPr>
            <p:cNvPr id="22" name="図 21">
              <a:extLst>
                <a:ext uri="{FF2B5EF4-FFF2-40B4-BE49-F238E27FC236}">
                  <a16:creationId xmlns:a16="http://schemas.microsoft.com/office/drawing/2014/main" id="{9D7BB4C7-7ECA-13EF-7A6D-E309474CF645}"/>
                </a:ext>
              </a:extLst>
            </p:cNvPr>
            <p:cNvPicPr>
              <a:picLocks noChangeAspect="1"/>
            </p:cNvPicPr>
            <p:nvPr/>
          </p:nvPicPr>
          <p:blipFill>
            <a:blip r:embed="rId3"/>
            <a:stretch>
              <a:fillRect/>
            </a:stretch>
          </p:blipFill>
          <p:spPr>
            <a:xfrm>
              <a:off x="4854978" y="3890132"/>
              <a:ext cx="779261" cy="714321"/>
            </a:xfrm>
            <a:prstGeom prst="rect">
              <a:avLst/>
            </a:prstGeom>
          </p:spPr>
        </p:pic>
        <p:pic>
          <p:nvPicPr>
            <p:cNvPr id="23" name="図 22">
              <a:extLst>
                <a:ext uri="{FF2B5EF4-FFF2-40B4-BE49-F238E27FC236}">
                  <a16:creationId xmlns:a16="http://schemas.microsoft.com/office/drawing/2014/main" id="{3EBABF7E-E66E-D47D-66C4-35DF18F327DE}"/>
                </a:ext>
              </a:extLst>
            </p:cNvPr>
            <p:cNvPicPr>
              <a:picLocks noChangeAspect="1"/>
            </p:cNvPicPr>
            <p:nvPr/>
          </p:nvPicPr>
          <p:blipFill>
            <a:blip r:embed="rId3"/>
            <a:stretch>
              <a:fillRect/>
            </a:stretch>
          </p:blipFill>
          <p:spPr>
            <a:xfrm>
              <a:off x="7093988" y="4862863"/>
              <a:ext cx="779261" cy="714321"/>
            </a:xfrm>
            <a:prstGeom prst="rect">
              <a:avLst/>
            </a:prstGeom>
          </p:spPr>
        </p:pic>
        <p:pic>
          <p:nvPicPr>
            <p:cNvPr id="24" name="図 23">
              <a:extLst>
                <a:ext uri="{FF2B5EF4-FFF2-40B4-BE49-F238E27FC236}">
                  <a16:creationId xmlns:a16="http://schemas.microsoft.com/office/drawing/2014/main" id="{AD0F309D-CC39-3024-CB50-C4BDB6FED68B}"/>
                </a:ext>
              </a:extLst>
            </p:cNvPr>
            <p:cNvPicPr>
              <a:picLocks noChangeAspect="1"/>
            </p:cNvPicPr>
            <p:nvPr/>
          </p:nvPicPr>
          <p:blipFill>
            <a:blip r:embed="rId3"/>
            <a:stretch>
              <a:fillRect/>
            </a:stretch>
          </p:blipFill>
          <p:spPr>
            <a:xfrm>
              <a:off x="6168132" y="3890132"/>
              <a:ext cx="779261" cy="714321"/>
            </a:xfrm>
            <a:prstGeom prst="rect">
              <a:avLst/>
            </a:prstGeom>
          </p:spPr>
        </p:pic>
        <p:grpSp>
          <p:nvGrpSpPr>
            <p:cNvPr id="25" name="グループ化 24">
              <a:extLst>
                <a:ext uri="{FF2B5EF4-FFF2-40B4-BE49-F238E27FC236}">
                  <a16:creationId xmlns:a16="http://schemas.microsoft.com/office/drawing/2014/main" id="{006B1BBA-D148-0EC1-90F0-C0CEAA7271AE}"/>
                </a:ext>
              </a:extLst>
            </p:cNvPr>
            <p:cNvGrpSpPr/>
            <p:nvPr/>
          </p:nvGrpSpPr>
          <p:grpSpPr>
            <a:xfrm>
              <a:off x="7387864" y="5512281"/>
              <a:ext cx="713869" cy="508958"/>
              <a:chOff x="7387864" y="5512281"/>
              <a:chExt cx="713869" cy="508958"/>
            </a:xfrm>
          </p:grpSpPr>
          <p:sp>
            <p:nvSpPr>
              <p:cNvPr id="35" name="円弧 34">
                <a:extLst>
                  <a:ext uri="{FF2B5EF4-FFF2-40B4-BE49-F238E27FC236}">
                    <a16:creationId xmlns:a16="http://schemas.microsoft.com/office/drawing/2014/main" id="{898E2597-F4F8-477D-4130-29F1B1BB5EA6}"/>
                  </a:ext>
                </a:extLst>
              </p:cNvPr>
              <p:cNvSpPr/>
              <p:nvPr/>
            </p:nvSpPr>
            <p:spPr>
              <a:xfrm>
                <a:off x="7387864" y="5512281"/>
                <a:ext cx="696619" cy="508958"/>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B7026465-A686-CF6A-5B96-9D0B313B993E}"/>
                  </a:ext>
                </a:extLst>
              </p:cNvPr>
              <p:cNvSpPr/>
              <p:nvPr/>
            </p:nvSpPr>
            <p:spPr>
              <a:xfrm>
                <a:off x="7956619" y="5650304"/>
                <a:ext cx="145114" cy="284673"/>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9ED98A0A-9A12-B023-5166-FC6DD9463DE5}"/>
                </a:ext>
              </a:extLst>
            </p:cNvPr>
            <p:cNvGrpSpPr/>
            <p:nvPr/>
          </p:nvGrpSpPr>
          <p:grpSpPr>
            <a:xfrm>
              <a:off x="6440938" y="4508145"/>
              <a:ext cx="713869" cy="508958"/>
              <a:chOff x="7387864" y="5512281"/>
              <a:chExt cx="713869" cy="508958"/>
            </a:xfrm>
          </p:grpSpPr>
          <p:sp>
            <p:nvSpPr>
              <p:cNvPr id="33" name="円弧 32">
                <a:extLst>
                  <a:ext uri="{FF2B5EF4-FFF2-40B4-BE49-F238E27FC236}">
                    <a16:creationId xmlns:a16="http://schemas.microsoft.com/office/drawing/2014/main" id="{78DAE49C-6A8F-CE80-7CF4-710E0B4CAC90}"/>
                  </a:ext>
                </a:extLst>
              </p:cNvPr>
              <p:cNvSpPr/>
              <p:nvPr/>
            </p:nvSpPr>
            <p:spPr>
              <a:xfrm>
                <a:off x="7387864" y="5512281"/>
                <a:ext cx="696619" cy="508958"/>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E0E3F24C-06D7-022F-0CFA-0803258A6B45}"/>
                  </a:ext>
                </a:extLst>
              </p:cNvPr>
              <p:cNvSpPr/>
              <p:nvPr/>
            </p:nvSpPr>
            <p:spPr>
              <a:xfrm>
                <a:off x="7956619" y="5650304"/>
                <a:ext cx="145114" cy="284673"/>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7" name="グループ化 26">
              <a:extLst>
                <a:ext uri="{FF2B5EF4-FFF2-40B4-BE49-F238E27FC236}">
                  <a16:creationId xmlns:a16="http://schemas.microsoft.com/office/drawing/2014/main" id="{3A590FAF-88F9-7B13-5357-D414F396D95A}"/>
                </a:ext>
              </a:extLst>
            </p:cNvPr>
            <p:cNvGrpSpPr/>
            <p:nvPr/>
          </p:nvGrpSpPr>
          <p:grpSpPr>
            <a:xfrm>
              <a:off x="3706569" y="5460573"/>
              <a:ext cx="557327" cy="586545"/>
              <a:chOff x="3706569" y="5460573"/>
              <a:chExt cx="557327" cy="586545"/>
            </a:xfrm>
          </p:grpSpPr>
          <p:sp>
            <p:nvSpPr>
              <p:cNvPr id="31" name="円弧 30">
                <a:extLst>
                  <a:ext uri="{FF2B5EF4-FFF2-40B4-BE49-F238E27FC236}">
                    <a16:creationId xmlns:a16="http://schemas.microsoft.com/office/drawing/2014/main" id="{0378061D-9704-CE00-8187-C347FC67EF68}"/>
                  </a:ext>
                </a:extLst>
              </p:cNvPr>
              <p:cNvSpPr/>
              <p:nvPr/>
            </p:nvSpPr>
            <p:spPr>
              <a:xfrm flipH="1">
                <a:off x="3739300" y="5460573"/>
                <a:ext cx="524596" cy="586545"/>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C13E5821-7D7E-C745-5660-925C35E49293}"/>
                  </a:ext>
                </a:extLst>
              </p:cNvPr>
              <p:cNvSpPr/>
              <p:nvPr/>
            </p:nvSpPr>
            <p:spPr>
              <a:xfrm>
                <a:off x="3706569" y="5643290"/>
                <a:ext cx="145114" cy="284673"/>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E3E17950-F414-3AAC-1D8A-9F324186278D}"/>
                </a:ext>
              </a:extLst>
            </p:cNvPr>
            <p:cNvGrpSpPr/>
            <p:nvPr/>
          </p:nvGrpSpPr>
          <p:grpSpPr>
            <a:xfrm>
              <a:off x="4753363" y="4494481"/>
              <a:ext cx="557327" cy="586545"/>
              <a:chOff x="3706569" y="5460573"/>
              <a:chExt cx="557327" cy="586545"/>
            </a:xfrm>
          </p:grpSpPr>
          <p:sp>
            <p:nvSpPr>
              <p:cNvPr id="29" name="円弧 28">
                <a:extLst>
                  <a:ext uri="{FF2B5EF4-FFF2-40B4-BE49-F238E27FC236}">
                    <a16:creationId xmlns:a16="http://schemas.microsoft.com/office/drawing/2014/main" id="{9A8F8DA0-EB1D-7733-266B-DE2C96F25422}"/>
                  </a:ext>
                </a:extLst>
              </p:cNvPr>
              <p:cNvSpPr/>
              <p:nvPr/>
            </p:nvSpPr>
            <p:spPr>
              <a:xfrm flipH="1">
                <a:off x="3739300" y="5460573"/>
                <a:ext cx="524596" cy="586545"/>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ABFE90E3-AAE6-B342-95F1-322FDA1DD135}"/>
                  </a:ext>
                </a:extLst>
              </p:cNvPr>
              <p:cNvSpPr/>
              <p:nvPr/>
            </p:nvSpPr>
            <p:spPr>
              <a:xfrm>
                <a:off x="3706569" y="5643290"/>
                <a:ext cx="145114" cy="284673"/>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pic>
        <p:nvPicPr>
          <p:cNvPr id="37" name="図 36">
            <a:extLst>
              <a:ext uri="{FF2B5EF4-FFF2-40B4-BE49-F238E27FC236}">
                <a16:creationId xmlns:a16="http://schemas.microsoft.com/office/drawing/2014/main" id="{F9234695-B335-0DAA-D9C3-1816DE76BC34}"/>
              </a:ext>
            </a:extLst>
          </p:cNvPr>
          <p:cNvPicPr>
            <a:picLocks noChangeAspect="1"/>
          </p:cNvPicPr>
          <p:nvPr/>
        </p:nvPicPr>
        <p:blipFill>
          <a:blip r:embed="rId4"/>
          <a:stretch>
            <a:fillRect/>
          </a:stretch>
        </p:blipFill>
        <p:spPr>
          <a:xfrm>
            <a:off x="7308554" y="3960954"/>
            <a:ext cx="4704445" cy="2814485"/>
          </a:xfrm>
          <a:prstGeom prst="rect">
            <a:avLst/>
          </a:prstGeom>
        </p:spPr>
      </p:pic>
      <p:pic>
        <p:nvPicPr>
          <p:cNvPr id="4" name="図 3">
            <a:extLst>
              <a:ext uri="{FF2B5EF4-FFF2-40B4-BE49-F238E27FC236}">
                <a16:creationId xmlns:a16="http://schemas.microsoft.com/office/drawing/2014/main" id="{5AFAA47A-F4AB-AA96-04A2-7FC7E8311162}"/>
              </a:ext>
            </a:extLst>
          </p:cNvPr>
          <p:cNvPicPr>
            <a:picLocks noChangeAspect="1"/>
          </p:cNvPicPr>
          <p:nvPr/>
        </p:nvPicPr>
        <p:blipFill>
          <a:blip r:embed="rId5"/>
          <a:stretch>
            <a:fillRect/>
          </a:stretch>
        </p:blipFill>
        <p:spPr>
          <a:xfrm>
            <a:off x="1975860" y="5230305"/>
            <a:ext cx="2026920" cy="1524000"/>
          </a:xfrm>
          <a:prstGeom prst="rect">
            <a:avLst/>
          </a:prstGeom>
        </p:spPr>
      </p:pic>
    </p:spTree>
    <p:extLst>
      <p:ext uri="{BB962C8B-B14F-4D97-AF65-F5344CB8AC3E}">
        <p14:creationId xmlns:p14="http://schemas.microsoft.com/office/powerpoint/2010/main" val="401376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A450-193B-0A29-78CE-BA60DD3746C0}"/>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0520BC85-37A0-D26E-5BC4-1A524CFC8DDD}"/>
              </a:ext>
            </a:extLst>
          </p:cNvPr>
          <p:cNvSpPr>
            <a:spLocks noGrp="1"/>
          </p:cNvSpPr>
          <p:nvPr>
            <p:ph type="title"/>
          </p:nvPr>
        </p:nvSpPr>
        <p:spPr>
          <a:xfrm>
            <a:off x="3907524" y="2735733"/>
            <a:ext cx="4089582" cy="693267"/>
          </a:xfrm>
        </p:spPr>
        <p:txBody>
          <a:bodyPr/>
          <a:lstStyle/>
          <a:p>
            <a:pPr algn="ctr"/>
            <a:r>
              <a:rPr lang="ja-JP" altLang="en-US" sz="4400" dirty="0"/>
              <a:t>③ベビーリーフ</a:t>
            </a:r>
            <a:endParaRPr kumimoji="1" lang="ja-JP" altLang="en-US" sz="4400" dirty="0"/>
          </a:p>
        </p:txBody>
      </p:sp>
    </p:spTree>
    <p:extLst>
      <p:ext uri="{BB962C8B-B14F-4D97-AF65-F5344CB8AC3E}">
        <p14:creationId xmlns:p14="http://schemas.microsoft.com/office/powerpoint/2010/main" val="578677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0A0F6-737A-3ED4-1591-F7258B5C582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6CEA7D7-9269-D735-5390-897F4870175D}"/>
              </a:ext>
            </a:extLst>
          </p:cNvPr>
          <p:cNvSpPr txBox="1"/>
          <p:nvPr/>
        </p:nvSpPr>
        <p:spPr>
          <a:xfrm>
            <a:off x="179002" y="1194834"/>
            <a:ext cx="11897980" cy="5459187"/>
          </a:xfrm>
          <a:prstGeom prst="rect">
            <a:avLst/>
          </a:prstGeom>
          <a:noFill/>
        </p:spPr>
        <p:txBody>
          <a:bodyPr wrap="square" rtlCol="0">
            <a:spAutoFit/>
          </a:bodyPr>
          <a:lstStyle/>
          <a:p>
            <a:pPr>
              <a:lnSpc>
                <a:spcPct val="150000"/>
              </a:lnSpc>
            </a:pPr>
            <a:r>
              <a:rPr lang="en-US" altLang="ja-JP" dirty="0">
                <a:latin typeface="+mn-ea"/>
              </a:rPr>
              <a:t>【</a:t>
            </a:r>
            <a:r>
              <a:rPr lang="ja-JP" altLang="en-US" dirty="0"/>
              <a:t>レタス高温期発芽不良対策</a:t>
            </a:r>
            <a:r>
              <a:rPr lang="en-US" altLang="ja-JP" dirty="0">
                <a:latin typeface="+mn-ea"/>
              </a:rPr>
              <a:t>】</a:t>
            </a:r>
          </a:p>
          <a:p>
            <a:pPr>
              <a:lnSpc>
                <a:spcPct val="150000"/>
              </a:lnSpc>
            </a:pPr>
            <a:r>
              <a:rPr lang="ja-JP" altLang="en-US" dirty="0">
                <a:latin typeface="+mn-ea"/>
              </a:rPr>
              <a:t>　①背景</a:t>
            </a:r>
            <a:endParaRPr lang="en-US" altLang="ja-JP" dirty="0">
              <a:latin typeface="+mn-ea"/>
            </a:endParaRPr>
          </a:p>
          <a:p>
            <a:pPr>
              <a:lnSpc>
                <a:spcPct val="150000"/>
              </a:lnSpc>
            </a:pPr>
            <a:r>
              <a:rPr lang="ja-JP" altLang="en-US" dirty="0">
                <a:latin typeface="+mn-ea"/>
              </a:rPr>
              <a:t>　・ロログリーン、レッドオークの発芽が著しく低下（写真</a:t>
            </a:r>
            <a:r>
              <a:rPr lang="en-US" altLang="ja-JP" dirty="0">
                <a:latin typeface="+mn-ea"/>
              </a:rPr>
              <a:t>1</a:t>
            </a:r>
            <a:r>
              <a:rPr lang="ja-JP" altLang="en-US" dirty="0">
                <a:latin typeface="+mn-ea"/>
              </a:rPr>
              <a:t>）。</a:t>
            </a:r>
            <a:endParaRPr lang="en-US" altLang="ja-JP" dirty="0">
              <a:latin typeface="+mn-ea"/>
            </a:endParaRPr>
          </a:p>
          <a:p>
            <a:pPr>
              <a:lnSpc>
                <a:spcPct val="150000"/>
              </a:lnSpc>
            </a:pPr>
            <a:r>
              <a:rPr lang="ja-JP" altLang="en-US" dirty="0">
                <a:latin typeface="+mn-ea"/>
              </a:rPr>
              <a:t>　・レタス系の品種は</a:t>
            </a:r>
            <a:r>
              <a:rPr lang="en-US" altLang="ja-JP" dirty="0">
                <a:latin typeface="+mn-ea"/>
              </a:rPr>
              <a:t>25</a:t>
            </a:r>
            <a:r>
              <a:rPr lang="ja-JP" altLang="en-US" dirty="0">
                <a:latin typeface="+mn-ea"/>
              </a:rPr>
              <a:t>℃以上で種子の休眠が打破できず発芽率が低下、</a:t>
            </a:r>
            <a:r>
              <a:rPr lang="en-US" altLang="ja-JP" dirty="0">
                <a:latin typeface="+mn-ea"/>
              </a:rPr>
              <a:t>30</a:t>
            </a:r>
            <a:r>
              <a:rPr lang="ja-JP" altLang="en-US" dirty="0">
                <a:latin typeface="+mn-ea"/>
              </a:rPr>
              <a:t>℃以上ではほとんど発芽しないと</a:t>
            </a:r>
            <a:endParaRPr lang="en-US" altLang="ja-JP" dirty="0">
              <a:latin typeface="+mn-ea"/>
            </a:endParaRPr>
          </a:p>
          <a:p>
            <a:pPr>
              <a:lnSpc>
                <a:spcPct val="150000"/>
              </a:lnSpc>
            </a:pPr>
            <a:r>
              <a:rPr lang="ja-JP" altLang="en-US" dirty="0">
                <a:latin typeface="+mn-ea"/>
              </a:rPr>
              <a:t>　　されている。</a:t>
            </a:r>
            <a:endParaRPr lang="en-US" altLang="ja-JP" dirty="0">
              <a:latin typeface="+mn-ea"/>
            </a:endParaRPr>
          </a:p>
          <a:p>
            <a:pPr>
              <a:lnSpc>
                <a:spcPct val="150000"/>
              </a:lnSpc>
            </a:pPr>
            <a:r>
              <a:rPr lang="ja-JP" altLang="en-US" dirty="0">
                <a:latin typeface="+mn-ea"/>
              </a:rPr>
              <a:t>　・熊谷農園では収穫量、ミックスの品種数を確保するため「アブラナ科」を中心に播種を行ってなっているが、</a:t>
            </a:r>
            <a:endParaRPr lang="en-US" altLang="ja-JP" dirty="0">
              <a:latin typeface="+mn-ea"/>
            </a:endParaRPr>
          </a:p>
          <a:p>
            <a:pPr>
              <a:lnSpc>
                <a:spcPct val="150000"/>
              </a:lnSpc>
            </a:pPr>
            <a:r>
              <a:rPr lang="ja-JP" altLang="en-US" dirty="0">
                <a:latin typeface="+mn-ea"/>
              </a:rPr>
              <a:t>　　レタス系の品種がなくなると食味や見栄えが単一的になっている。</a:t>
            </a:r>
            <a:endParaRPr lang="en-US" altLang="ja-JP" dirty="0">
              <a:latin typeface="+mn-ea"/>
            </a:endParaRPr>
          </a:p>
          <a:p>
            <a:pPr>
              <a:lnSpc>
                <a:spcPct val="150000"/>
              </a:lnSpc>
            </a:pPr>
            <a:r>
              <a:rPr lang="ja-JP" altLang="en-US" dirty="0">
                <a:latin typeface="+mn-ea"/>
              </a:rPr>
              <a:t>　②対策</a:t>
            </a:r>
            <a:endParaRPr lang="en-US" altLang="ja-JP" dirty="0">
              <a:latin typeface="+mn-ea"/>
            </a:endParaRPr>
          </a:p>
          <a:p>
            <a:pPr>
              <a:lnSpc>
                <a:spcPct val="150000"/>
              </a:lnSpc>
            </a:pPr>
            <a:r>
              <a:rPr lang="ja-JP" altLang="en-US" dirty="0">
                <a:latin typeface="+mn-ea"/>
              </a:rPr>
              <a:t>　・</a:t>
            </a:r>
            <a:r>
              <a:rPr lang="ja-JP" altLang="en-US" b="1" dirty="0">
                <a:solidFill>
                  <a:srgbClr val="FF0000"/>
                </a:solidFill>
                <a:latin typeface="+mn-ea"/>
              </a:rPr>
              <a:t>芽出し</a:t>
            </a:r>
            <a:r>
              <a:rPr lang="ja-JP" altLang="en-US" dirty="0">
                <a:latin typeface="+mn-ea"/>
              </a:rPr>
              <a:t>の検証。簡単な方法として湿ったペーパータオル上に一晩置いて、翌日少し発根した種子を砂に播く</a:t>
            </a:r>
            <a:endParaRPr lang="en-US" altLang="ja-JP" dirty="0">
              <a:latin typeface="+mn-ea"/>
            </a:endParaRPr>
          </a:p>
          <a:p>
            <a:pPr>
              <a:lnSpc>
                <a:spcPct val="150000"/>
              </a:lnSpc>
            </a:pPr>
            <a:r>
              <a:rPr lang="ja-JP" altLang="en-US" dirty="0">
                <a:latin typeface="+mn-ea"/>
              </a:rPr>
              <a:t>　　ことを試みている。また高温の影響を避けるため、ベッドには寒冷紗を被覆した。</a:t>
            </a:r>
            <a:endParaRPr lang="en-US" altLang="ja-JP" dirty="0">
              <a:latin typeface="+mn-ea"/>
            </a:endParaRPr>
          </a:p>
          <a:p>
            <a:pPr>
              <a:lnSpc>
                <a:spcPct val="150000"/>
              </a:lnSpc>
            </a:pPr>
            <a:r>
              <a:rPr lang="ja-JP" altLang="en-US" dirty="0">
                <a:latin typeface="+mn-ea"/>
              </a:rPr>
              <a:t>　　→出芽率は</a:t>
            </a:r>
            <a:r>
              <a:rPr lang="ja-JP" altLang="en-US" b="1" dirty="0">
                <a:solidFill>
                  <a:srgbClr val="FF0000"/>
                </a:solidFill>
                <a:latin typeface="+mn-ea"/>
              </a:rPr>
              <a:t>改善</a:t>
            </a:r>
            <a:r>
              <a:rPr lang="ja-JP" altLang="en-US" dirty="0">
                <a:latin typeface="+mn-ea"/>
              </a:rPr>
              <a:t>。収穫量調査中。</a:t>
            </a:r>
            <a:endParaRPr lang="en-US" altLang="ja-JP" dirty="0">
              <a:latin typeface="+mn-ea"/>
            </a:endParaRPr>
          </a:p>
          <a:p>
            <a:pPr>
              <a:lnSpc>
                <a:spcPct val="150000"/>
              </a:lnSpc>
            </a:pPr>
            <a:r>
              <a:rPr lang="ja-JP" altLang="en-US" dirty="0">
                <a:latin typeface="+mn-ea"/>
              </a:rPr>
              <a:t>　　</a:t>
            </a:r>
            <a:endParaRPr lang="en-US" altLang="ja-JP" dirty="0">
              <a:latin typeface="+mn-ea"/>
            </a:endParaRPr>
          </a:p>
          <a:p>
            <a:pPr>
              <a:lnSpc>
                <a:spcPct val="150000"/>
              </a:lnSpc>
            </a:pPr>
            <a:r>
              <a:rPr lang="ja-JP" altLang="en-US" dirty="0">
                <a:latin typeface="+mn-ea"/>
              </a:rPr>
              <a:t>　　</a:t>
            </a:r>
            <a:endParaRPr lang="en-US" altLang="ja-JP" dirty="0">
              <a:latin typeface="+mn-ea"/>
            </a:endParaRPr>
          </a:p>
        </p:txBody>
      </p:sp>
      <p:sp>
        <p:nvSpPr>
          <p:cNvPr id="8" name="タイトル 1">
            <a:extLst>
              <a:ext uri="{FF2B5EF4-FFF2-40B4-BE49-F238E27FC236}">
                <a16:creationId xmlns:a16="http://schemas.microsoft.com/office/drawing/2014/main" id="{813E07ED-A9C0-9755-2945-218E564AFCFC}"/>
              </a:ext>
            </a:extLst>
          </p:cNvPr>
          <p:cNvSpPr>
            <a:spLocks noGrp="1"/>
          </p:cNvSpPr>
          <p:nvPr>
            <p:ph type="title"/>
          </p:nvPr>
        </p:nvSpPr>
        <p:spPr>
          <a:xfrm>
            <a:off x="1097280" y="657748"/>
            <a:ext cx="5609228" cy="420115"/>
          </a:xfrm>
        </p:spPr>
        <p:txBody>
          <a:bodyPr/>
          <a:lstStyle/>
          <a:p>
            <a:r>
              <a:rPr lang="ja-JP" altLang="en-US" dirty="0"/>
              <a:t>４．現状の課題・対策：③ベビーリーフ</a:t>
            </a:r>
            <a:endParaRPr kumimoji="1" lang="ja-JP" altLang="en-US" dirty="0"/>
          </a:p>
        </p:txBody>
      </p:sp>
      <p:pic>
        <p:nvPicPr>
          <p:cNvPr id="1026" name="Picture 2">
            <a:extLst>
              <a:ext uri="{FF2B5EF4-FFF2-40B4-BE49-F238E27FC236}">
                <a16:creationId xmlns:a16="http://schemas.microsoft.com/office/drawing/2014/main" id="{52A4E2EA-DFDE-1229-C1BE-7A55EC693C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112" y="5109788"/>
            <a:ext cx="2145923" cy="1591209"/>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A01A4DB7-1463-A21F-1C4F-50DACA7F870A}"/>
              </a:ext>
            </a:extLst>
          </p:cNvPr>
          <p:cNvPicPr>
            <a:picLocks noChangeAspect="1"/>
          </p:cNvPicPr>
          <p:nvPr/>
        </p:nvPicPr>
        <p:blipFill>
          <a:blip r:embed="rId4"/>
          <a:stretch>
            <a:fillRect/>
          </a:stretch>
        </p:blipFill>
        <p:spPr>
          <a:xfrm>
            <a:off x="5023727" y="5445553"/>
            <a:ext cx="4639926" cy="1329276"/>
          </a:xfrm>
          <a:prstGeom prst="rect">
            <a:avLst/>
          </a:prstGeom>
        </p:spPr>
      </p:pic>
    </p:spTree>
    <p:extLst>
      <p:ext uri="{BB962C8B-B14F-4D97-AF65-F5344CB8AC3E}">
        <p14:creationId xmlns:p14="http://schemas.microsoft.com/office/powerpoint/2010/main" val="2451276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09640-19B5-9A8E-81B6-5087BC30F21D}"/>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B760B7D7-64EF-C625-1A88-C711C1324A4C}"/>
              </a:ext>
            </a:extLst>
          </p:cNvPr>
          <p:cNvSpPr>
            <a:spLocks noGrp="1"/>
          </p:cNvSpPr>
          <p:nvPr>
            <p:ph type="title"/>
          </p:nvPr>
        </p:nvSpPr>
        <p:spPr>
          <a:xfrm>
            <a:off x="1097280" y="657748"/>
            <a:ext cx="5609228" cy="420115"/>
          </a:xfrm>
        </p:spPr>
        <p:txBody>
          <a:bodyPr/>
          <a:lstStyle/>
          <a:p>
            <a:r>
              <a:rPr lang="ja-JP" altLang="en-US" dirty="0"/>
              <a:t>４．現状の課題・対策：③ベビーリーフ</a:t>
            </a:r>
            <a:endParaRPr kumimoji="1" lang="ja-JP" altLang="en-US" dirty="0"/>
          </a:p>
        </p:txBody>
      </p:sp>
      <p:sp>
        <p:nvSpPr>
          <p:cNvPr id="2" name="テキスト ボックス 1">
            <a:extLst>
              <a:ext uri="{FF2B5EF4-FFF2-40B4-BE49-F238E27FC236}">
                <a16:creationId xmlns:a16="http://schemas.microsoft.com/office/drawing/2014/main" id="{2188241C-E128-DE04-BB3A-910CE2F3EE01}"/>
              </a:ext>
            </a:extLst>
          </p:cNvPr>
          <p:cNvSpPr txBox="1"/>
          <p:nvPr/>
        </p:nvSpPr>
        <p:spPr>
          <a:xfrm>
            <a:off x="389522" y="5484615"/>
            <a:ext cx="3512372" cy="369332"/>
          </a:xfrm>
          <a:prstGeom prst="rect">
            <a:avLst/>
          </a:prstGeom>
          <a:noFill/>
        </p:spPr>
        <p:txBody>
          <a:bodyPr wrap="square" rtlCol="0">
            <a:spAutoFit/>
          </a:bodyPr>
          <a:lstStyle/>
          <a:p>
            <a:r>
              <a:rPr kumimoji="1" lang="ja-JP" altLang="en-US" dirty="0"/>
              <a:t>写真</a:t>
            </a:r>
            <a:r>
              <a:rPr kumimoji="1" lang="en-US" altLang="ja-JP" dirty="0"/>
              <a:t>1</a:t>
            </a:r>
            <a:r>
              <a:rPr kumimoji="1" lang="ja-JP" altLang="en-US" dirty="0"/>
              <a:t>：レッドオークの発芽不良</a:t>
            </a:r>
          </a:p>
        </p:txBody>
      </p:sp>
      <p:sp>
        <p:nvSpPr>
          <p:cNvPr id="3" name="テキスト ボックス 2">
            <a:extLst>
              <a:ext uri="{FF2B5EF4-FFF2-40B4-BE49-F238E27FC236}">
                <a16:creationId xmlns:a16="http://schemas.microsoft.com/office/drawing/2014/main" id="{FEFD18A0-6976-CF74-8422-58413118B043}"/>
              </a:ext>
            </a:extLst>
          </p:cNvPr>
          <p:cNvSpPr txBox="1"/>
          <p:nvPr/>
        </p:nvSpPr>
        <p:spPr>
          <a:xfrm>
            <a:off x="6095999" y="5484615"/>
            <a:ext cx="3512372" cy="369332"/>
          </a:xfrm>
          <a:prstGeom prst="rect">
            <a:avLst/>
          </a:prstGeom>
          <a:noFill/>
        </p:spPr>
        <p:txBody>
          <a:bodyPr wrap="square" rtlCol="0">
            <a:spAutoFit/>
          </a:bodyPr>
          <a:lstStyle/>
          <a:p>
            <a:r>
              <a:rPr kumimoji="1" lang="ja-JP" altLang="en-US" dirty="0"/>
              <a:t>写真</a:t>
            </a:r>
            <a:r>
              <a:rPr lang="en-US" altLang="ja-JP" dirty="0"/>
              <a:t>2</a:t>
            </a:r>
            <a:r>
              <a:rPr kumimoji="1" lang="ja-JP" altLang="en-US" dirty="0"/>
              <a:t>：寒冷紗をかけた状態</a:t>
            </a:r>
          </a:p>
        </p:txBody>
      </p:sp>
      <p:pic>
        <p:nvPicPr>
          <p:cNvPr id="10" name="図 9">
            <a:extLst>
              <a:ext uri="{FF2B5EF4-FFF2-40B4-BE49-F238E27FC236}">
                <a16:creationId xmlns:a16="http://schemas.microsoft.com/office/drawing/2014/main" id="{6784CFE7-0B8F-CC75-15DB-407EB3088B97}"/>
              </a:ext>
            </a:extLst>
          </p:cNvPr>
          <p:cNvPicPr>
            <a:picLocks noChangeAspect="1"/>
          </p:cNvPicPr>
          <p:nvPr/>
        </p:nvPicPr>
        <p:blipFill>
          <a:blip r:embed="rId3"/>
          <a:stretch>
            <a:fillRect/>
          </a:stretch>
        </p:blipFill>
        <p:spPr>
          <a:xfrm>
            <a:off x="6171300" y="1197169"/>
            <a:ext cx="5631180" cy="4168140"/>
          </a:xfrm>
          <a:prstGeom prst="rect">
            <a:avLst/>
          </a:prstGeom>
        </p:spPr>
      </p:pic>
      <p:pic>
        <p:nvPicPr>
          <p:cNvPr id="11" name="図 10">
            <a:extLst>
              <a:ext uri="{FF2B5EF4-FFF2-40B4-BE49-F238E27FC236}">
                <a16:creationId xmlns:a16="http://schemas.microsoft.com/office/drawing/2014/main" id="{EB741CF3-033F-1E05-10D0-67976E83F701}"/>
              </a:ext>
            </a:extLst>
          </p:cNvPr>
          <p:cNvPicPr>
            <a:picLocks noChangeAspect="1"/>
          </p:cNvPicPr>
          <p:nvPr/>
        </p:nvPicPr>
        <p:blipFill>
          <a:blip r:embed="rId4"/>
          <a:stretch>
            <a:fillRect/>
          </a:stretch>
        </p:blipFill>
        <p:spPr>
          <a:xfrm>
            <a:off x="202913" y="1197169"/>
            <a:ext cx="5631180" cy="4168140"/>
          </a:xfrm>
          <a:prstGeom prst="rect">
            <a:avLst/>
          </a:prstGeom>
        </p:spPr>
      </p:pic>
    </p:spTree>
    <p:extLst>
      <p:ext uri="{BB962C8B-B14F-4D97-AF65-F5344CB8AC3E}">
        <p14:creationId xmlns:p14="http://schemas.microsoft.com/office/powerpoint/2010/main" val="2333865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25B8F-70FE-2E1C-32FA-3FCDA5C44B21}"/>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473D7979-650B-FE4B-E88D-ADC6EECCC499}"/>
              </a:ext>
            </a:extLst>
          </p:cNvPr>
          <p:cNvSpPr>
            <a:spLocks noGrp="1"/>
          </p:cNvSpPr>
          <p:nvPr>
            <p:ph type="title"/>
          </p:nvPr>
        </p:nvSpPr>
        <p:spPr>
          <a:xfrm>
            <a:off x="1097280" y="657748"/>
            <a:ext cx="5609228" cy="420115"/>
          </a:xfrm>
        </p:spPr>
        <p:txBody>
          <a:bodyPr/>
          <a:lstStyle/>
          <a:p>
            <a:r>
              <a:rPr lang="ja-JP" altLang="en-US" dirty="0"/>
              <a:t>４．現状の課題・対策：③ベビーリーフ</a:t>
            </a:r>
            <a:endParaRPr kumimoji="1" lang="ja-JP" altLang="en-US" dirty="0"/>
          </a:p>
        </p:txBody>
      </p:sp>
      <p:sp>
        <p:nvSpPr>
          <p:cNvPr id="11" name="テキスト ボックス 10">
            <a:extLst>
              <a:ext uri="{FF2B5EF4-FFF2-40B4-BE49-F238E27FC236}">
                <a16:creationId xmlns:a16="http://schemas.microsoft.com/office/drawing/2014/main" id="{597E940E-7DBF-BBC4-3EBB-E28BA121ED96}"/>
              </a:ext>
            </a:extLst>
          </p:cNvPr>
          <p:cNvSpPr txBox="1"/>
          <p:nvPr/>
        </p:nvSpPr>
        <p:spPr>
          <a:xfrm>
            <a:off x="6314536" y="6355513"/>
            <a:ext cx="3838358" cy="369332"/>
          </a:xfrm>
          <a:prstGeom prst="rect">
            <a:avLst/>
          </a:prstGeom>
          <a:solidFill>
            <a:schemeClr val="bg1"/>
          </a:solidFill>
        </p:spPr>
        <p:txBody>
          <a:bodyPr wrap="square" rtlCol="0">
            <a:spAutoFit/>
          </a:bodyPr>
          <a:lstStyle/>
          <a:p>
            <a:r>
              <a:rPr lang="ja-JP" altLang="en-US" dirty="0"/>
              <a:t>対照区：</a:t>
            </a:r>
            <a:r>
              <a:rPr kumimoji="1" lang="ja-JP" altLang="en-US" dirty="0"/>
              <a:t>出芽率</a:t>
            </a:r>
            <a:r>
              <a:rPr lang="en-US" altLang="ja-JP" dirty="0"/>
              <a:t>73</a:t>
            </a:r>
            <a:r>
              <a:rPr kumimoji="1" lang="en-US" altLang="ja-JP" dirty="0"/>
              <a:t>%</a:t>
            </a:r>
            <a:endParaRPr kumimoji="1" lang="ja-JP" altLang="en-US" dirty="0"/>
          </a:p>
        </p:txBody>
      </p:sp>
      <p:sp>
        <p:nvSpPr>
          <p:cNvPr id="12" name="テキスト ボックス 11">
            <a:extLst>
              <a:ext uri="{FF2B5EF4-FFF2-40B4-BE49-F238E27FC236}">
                <a16:creationId xmlns:a16="http://schemas.microsoft.com/office/drawing/2014/main" id="{9699600B-D4D0-C02B-FE42-0B2E941B40C3}"/>
              </a:ext>
            </a:extLst>
          </p:cNvPr>
          <p:cNvSpPr txBox="1"/>
          <p:nvPr/>
        </p:nvSpPr>
        <p:spPr>
          <a:xfrm>
            <a:off x="1241759" y="6334164"/>
            <a:ext cx="3838358" cy="369332"/>
          </a:xfrm>
          <a:prstGeom prst="rect">
            <a:avLst/>
          </a:prstGeom>
          <a:noFill/>
        </p:spPr>
        <p:txBody>
          <a:bodyPr wrap="square" rtlCol="0">
            <a:spAutoFit/>
          </a:bodyPr>
          <a:lstStyle/>
          <a:p>
            <a:r>
              <a:rPr lang="ja-JP" altLang="en-US" dirty="0"/>
              <a:t>見出し処理：</a:t>
            </a:r>
            <a:r>
              <a:rPr kumimoji="1" lang="ja-JP" altLang="en-US" dirty="0"/>
              <a:t>出芽率</a:t>
            </a:r>
            <a:r>
              <a:rPr kumimoji="1" lang="en-US" altLang="ja-JP" dirty="0"/>
              <a:t>90%</a:t>
            </a:r>
            <a:endParaRPr kumimoji="1" lang="ja-JP" altLang="en-US" dirty="0"/>
          </a:p>
        </p:txBody>
      </p:sp>
      <p:sp>
        <p:nvSpPr>
          <p:cNvPr id="2" name="テキスト ボックス 1">
            <a:extLst>
              <a:ext uri="{FF2B5EF4-FFF2-40B4-BE49-F238E27FC236}">
                <a16:creationId xmlns:a16="http://schemas.microsoft.com/office/drawing/2014/main" id="{1CB96C5C-DD2E-CC92-B518-0A3633A57528}"/>
              </a:ext>
            </a:extLst>
          </p:cNvPr>
          <p:cNvSpPr txBox="1"/>
          <p:nvPr/>
        </p:nvSpPr>
        <p:spPr>
          <a:xfrm>
            <a:off x="5865962" y="6409627"/>
            <a:ext cx="448574" cy="369332"/>
          </a:xfrm>
          <a:prstGeom prst="rect">
            <a:avLst/>
          </a:prstGeom>
          <a:solidFill>
            <a:schemeClr val="bg1"/>
          </a:solidFill>
        </p:spPr>
        <p:txBody>
          <a:bodyPr wrap="square" rtlCol="0">
            <a:spAutoFit/>
          </a:bodyPr>
          <a:lstStyle/>
          <a:p>
            <a:endParaRPr kumimoji="1" lang="ja-JP" altLang="en-US" dirty="0"/>
          </a:p>
        </p:txBody>
      </p:sp>
      <p:pic>
        <p:nvPicPr>
          <p:cNvPr id="5" name="図 4">
            <a:extLst>
              <a:ext uri="{FF2B5EF4-FFF2-40B4-BE49-F238E27FC236}">
                <a16:creationId xmlns:a16="http://schemas.microsoft.com/office/drawing/2014/main" id="{0B3F1EF9-4E48-2F1D-078F-E85756D3A9FC}"/>
              </a:ext>
            </a:extLst>
          </p:cNvPr>
          <p:cNvPicPr>
            <a:picLocks noChangeAspect="1"/>
          </p:cNvPicPr>
          <p:nvPr/>
        </p:nvPicPr>
        <p:blipFill>
          <a:blip r:embed="rId3"/>
          <a:stretch>
            <a:fillRect/>
          </a:stretch>
        </p:blipFill>
        <p:spPr>
          <a:xfrm>
            <a:off x="1097280" y="1106451"/>
            <a:ext cx="3832860" cy="5166360"/>
          </a:xfrm>
          <a:prstGeom prst="rect">
            <a:avLst/>
          </a:prstGeom>
        </p:spPr>
      </p:pic>
      <p:pic>
        <p:nvPicPr>
          <p:cNvPr id="6" name="図 5">
            <a:extLst>
              <a:ext uri="{FF2B5EF4-FFF2-40B4-BE49-F238E27FC236}">
                <a16:creationId xmlns:a16="http://schemas.microsoft.com/office/drawing/2014/main" id="{A1EDD200-1D42-4AEE-1750-893F474FF348}"/>
              </a:ext>
            </a:extLst>
          </p:cNvPr>
          <p:cNvPicPr>
            <a:picLocks noChangeAspect="1"/>
          </p:cNvPicPr>
          <p:nvPr/>
        </p:nvPicPr>
        <p:blipFill>
          <a:blip r:embed="rId4"/>
          <a:stretch>
            <a:fillRect/>
          </a:stretch>
        </p:blipFill>
        <p:spPr>
          <a:xfrm>
            <a:off x="5965231" y="1106451"/>
            <a:ext cx="3840480" cy="5166360"/>
          </a:xfrm>
          <a:prstGeom prst="rect">
            <a:avLst/>
          </a:prstGeom>
        </p:spPr>
      </p:pic>
    </p:spTree>
    <p:extLst>
      <p:ext uri="{BB962C8B-B14F-4D97-AF65-F5344CB8AC3E}">
        <p14:creationId xmlns:p14="http://schemas.microsoft.com/office/powerpoint/2010/main" val="1903749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5AB1-4190-BB1D-9319-E9402EECF727}"/>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9DA96B4E-B632-3F27-8F43-9DE39A68F92F}"/>
              </a:ext>
            </a:extLst>
          </p:cNvPr>
          <p:cNvSpPr>
            <a:spLocks noGrp="1"/>
          </p:cNvSpPr>
          <p:nvPr>
            <p:ph type="title"/>
          </p:nvPr>
        </p:nvSpPr>
        <p:spPr>
          <a:xfrm>
            <a:off x="4121741" y="3109682"/>
            <a:ext cx="3948517" cy="638636"/>
          </a:xfrm>
        </p:spPr>
        <p:txBody>
          <a:bodyPr/>
          <a:lstStyle/>
          <a:p>
            <a:pPr algn="ctr"/>
            <a:r>
              <a:rPr lang="ja-JP" altLang="en-US" sz="4000" dirty="0"/>
              <a:t> </a:t>
            </a:r>
            <a:r>
              <a:rPr lang="en-US" altLang="ja-JP" sz="4000" dirty="0"/>
              <a:t>59</a:t>
            </a:r>
            <a:r>
              <a:rPr lang="ja-JP" altLang="en-US" sz="4000" dirty="0"/>
              <a:t>期の取り組み</a:t>
            </a:r>
            <a:r>
              <a:rPr kumimoji="1" lang="ja-JP" altLang="en-US" sz="4000" dirty="0"/>
              <a:t> </a:t>
            </a:r>
          </a:p>
        </p:txBody>
      </p:sp>
    </p:spTree>
    <p:extLst>
      <p:ext uri="{BB962C8B-B14F-4D97-AF65-F5344CB8AC3E}">
        <p14:creationId xmlns:p14="http://schemas.microsoft.com/office/powerpoint/2010/main" val="3196344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71A08-F1DF-9B8F-C503-75C5FC5DCFDB}"/>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6F6E5A6-931D-E017-B80E-965016B1F546}"/>
              </a:ext>
            </a:extLst>
          </p:cNvPr>
          <p:cNvSpPr txBox="1"/>
          <p:nvPr/>
        </p:nvSpPr>
        <p:spPr>
          <a:xfrm>
            <a:off x="179001" y="1194834"/>
            <a:ext cx="12163777" cy="5043688"/>
          </a:xfrm>
          <a:prstGeom prst="rect">
            <a:avLst/>
          </a:prstGeom>
          <a:noFill/>
        </p:spPr>
        <p:txBody>
          <a:bodyPr wrap="square" rtlCol="0">
            <a:spAutoFit/>
          </a:bodyPr>
          <a:lstStyle/>
          <a:p>
            <a:pPr>
              <a:lnSpc>
                <a:spcPct val="150000"/>
              </a:lnSpc>
            </a:pPr>
            <a:r>
              <a:rPr lang="ja-JP" altLang="en-US" dirty="0">
                <a:latin typeface="+mn-ea"/>
              </a:rPr>
              <a:t>これまで熊谷農園ではトマトやイチゴを行ってきたが、作業が就労者により限定されことや、管理者が就労者のそばに長時間ついておく必要がある、管理者の能力によるなど、現状を鑑みると農園の運営上、難しいと判断した。</a:t>
            </a:r>
            <a:endParaRPr lang="en-US" altLang="ja-JP" dirty="0">
              <a:latin typeface="+mn-ea"/>
            </a:endParaRPr>
          </a:p>
          <a:p>
            <a:pPr>
              <a:lnSpc>
                <a:spcPct val="150000"/>
              </a:lnSpc>
            </a:pPr>
            <a:r>
              <a:rPr lang="en-US" altLang="ja-JP" dirty="0">
                <a:latin typeface="+mn-ea"/>
              </a:rPr>
              <a:t>59</a:t>
            </a:r>
            <a:r>
              <a:rPr lang="ja-JP" altLang="en-US" dirty="0">
                <a:latin typeface="+mn-ea"/>
              </a:rPr>
              <a:t>期はトマト、イチゴを休止し、他の作物や栽培方法を模索する。</a:t>
            </a:r>
            <a:endParaRPr lang="en-US" altLang="ja-JP" dirty="0">
              <a:latin typeface="+mn-ea"/>
            </a:endParaRPr>
          </a:p>
          <a:p>
            <a:pPr>
              <a:lnSpc>
                <a:spcPct val="150000"/>
              </a:lnSpc>
            </a:pPr>
            <a:r>
              <a:rPr lang="ja-JP" altLang="en-US" dirty="0">
                <a:latin typeface="+mn-ea"/>
              </a:rPr>
              <a:t>なぜベビーリーフを行っているのか・・</a:t>
            </a:r>
            <a:endParaRPr lang="en-US" altLang="ja-JP" dirty="0">
              <a:latin typeface="+mn-ea"/>
            </a:endParaRPr>
          </a:p>
          <a:p>
            <a:pPr>
              <a:lnSpc>
                <a:spcPct val="150000"/>
              </a:lnSpc>
            </a:pPr>
            <a:r>
              <a:rPr lang="ja-JP" altLang="en-US" dirty="0">
                <a:latin typeface="+mn-ea"/>
              </a:rPr>
              <a:t>　①一部の身体障害を除き、</a:t>
            </a:r>
            <a:r>
              <a:rPr lang="ja-JP" altLang="en-US" b="1" dirty="0">
                <a:solidFill>
                  <a:srgbClr val="FF0000"/>
                </a:solidFill>
                <a:latin typeface="+mn-ea"/>
              </a:rPr>
              <a:t>ほとんどの就労者で作業が可能</a:t>
            </a:r>
            <a:r>
              <a:rPr lang="ja-JP" altLang="en-US" dirty="0">
                <a:latin typeface="+mn-ea"/>
              </a:rPr>
              <a:t>。</a:t>
            </a:r>
            <a:endParaRPr lang="en-US" altLang="ja-JP" dirty="0">
              <a:latin typeface="+mn-ea"/>
            </a:endParaRPr>
          </a:p>
          <a:p>
            <a:pPr>
              <a:lnSpc>
                <a:spcPct val="150000"/>
              </a:lnSpc>
            </a:pPr>
            <a:r>
              <a:rPr lang="ja-JP" altLang="en-US" dirty="0">
                <a:latin typeface="+mn-ea"/>
              </a:rPr>
              <a:t>　②農業指導員や管理者が常にそばにいて指導を行う必要がない。</a:t>
            </a:r>
            <a:r>
              <a:rPr lang="ja-JP" altLang="en-US" b="1" dirty="0">
                <a:solidFill>
                  <a:srgbClr val="FF0000"/>
                </a:solidFill>
                <a:latin typeface="+mn-ea"/>
              </a:rPr>
              <a:t>スタッフの手離れが出来る</a:t>
            </a:r>
            <a:r>
              <a:rPr lang="ja-JP" altLang="en-US" dirty="0">
                <a:latin typeface="+mn-ea"/>
              </a:rPr>
              <a:t>。</a:t>
            </a:r>
            <a:endParaRPr lang="en-US" altLang="ja-JP" dirty="0">
              <a:latin typeface="+mn-ea"/>
            </a:endParaRPr>
          </a:p>
          <a:p>
            <a:pPr>
              <a:lnSpc>
                <a:spcPct val="150000"/>
              </a:lnSpc>
            </a:pPr>
            <a:r>
              <a:rPr lang="ja-JP" altLang="en-US" dirty="0">
                <a:latin typeface="+mn-ea"/>
              </a:rPr>
              <a:t>　③</a:t>
            </a:r>
            <a:r>
              <a:rPr lang="ja-JP" altLang="en-US" b="1" dirty="0">
                <a:solidFill>
                  <a:srgbClr val="FF0000"/>
                </a:solidFill>
                <a:latin typeface="+mn-ea"/>
              </a:rPr>
              <a:t>毎日仕事がある。</a:t>
            </a:r>
            <a:endParaRPr lang="en-US" altLang="ja-JP" b="1" dirty="0">
              <a:solidFill>
                <a:srgbClr val="FF0000"/>
              </a:solidFill>
              <a:latin typeface="+mn-ea"/>
            </a:endParaRPr>
          </a:p>
          <a:p>
            <a:pPr>
              <a:lnSpc>
                <a:spcPct val="150000"/>
              </a:lnSpc>
            </a:pPr>
            <a:r>
              <a:rPr lang="ja-JP" altLang="en-US" b="1" dirty="0">
                <a:solidFill>
                  <a:srgbClr val="FF0000"/>
                </a:solidFill>
                <a:latin typeface="+mn-ea"/>
              </a:rPr>
              <a:t>　</a:t>
            </a:r>
            <a:r>
              <a:rPr lang="ja-JP" altLang="en-US" dirty="0">
                <a:latin typeface="+mn-ea"/>
              </a:rPr>
              <a:t>④同じ作業を毎日行うので、</a:t>
            </a:r>
            <a:r>
              <a:rPr lang="ja-JP" altLang="en-US" b="1" dirty="0">
                <a:solidFill>
                  <a:srgbClr val="FF0000"/>
                </a:solidFill>
                <a:latin typeface="+mn-ea"/>
              </a:rPr>
              <a:t>振り返りができ習得が早い</a:t>
            </a:r>
            <a:r>
              <a:rPr lang="ja-JP" altLang="en-US" dirty="0">
                <a:latin typeface="+mn-ea"/>
              </a:rPr>
              <a:t>。</a:t>
            </a:r>
            <a:endParaRPr lang="en-US" altLang="ja-JP" dirty="0">
              <a:latin typeface="+mn-ea"/>
            </a:endParaRPr>
          </a:p>
          <a:p>
            <a:pPr>
              <a:lnSpc>
                <a:spcPct val="150000"/>
              </a:lnSpc>
            </a:pPr>
            <a:r>
              <a:rPr lang="ja-JP" altLang="en-US" dirty="0">
                <a:latin typeface="+mn-ea"/>
              </a:rPr>
              <a:t>　⑤手摘み＆サイズが揃っていることで</a:t>
            </a:r>
            <a:r>
              <a:rPr lang="ja-JP" altLang="en-US" b="1" dirty="0">
                <a:solidFill>
                  <a:srgbClr val="FF0000"/>
                </a:solidFill>
                <a:latin typeface="+mn-ea"/>
              </a:rPr>
              <a:t>高品質、高単価</a:t>
            </a:r>
            <a:r>
              <a:rPr lang="ja-JP" altLang="en-US" dirty="0">
                <a:latin typeface="+mn-ea"/>
              </a:rPr>
              <a:t>なベビーリーフを提供できる。</a:t>
            </a:r>
            <a:endParaRPr lang="en-US" altLang="ja-JP" dirty="0">
              <a:latin typeface="+mn-ea"/>
            </a:endParaRPr>
          </a:p>
          <a:p>
            <a:pPr>
              <a:lnSpc>
                <a:spcPct val="150000"/>
              </a:lnSpc>
            </a:pPr>
            <a:r>
              <a:rPr lang="ja-JP" altLang="en-US" dirty="0">
                <a:latin typeface="+mn-ea"/>
              </a:rPr>
              <a:t>熊谷農園ではこのような事が可能な作物、栽培方法について模索する。</a:t>
            </a:r>
            <a:endParaRPr lang="en-US" altLang="ja-JP" dirty="0">
              <a:latin typeface="+mn-ea"/>
            </a:endParaRPr>
          </a:p>
          <a:p>
            <a:pPr>
              <a:lnSpc>
                <a:spcPct val="150000"/>
              </a:lnSpc>
            </a:pPr>
            <a:r>
              <a:rPr lang="ja-JP" altLang="en-US" dirty="0">
                <a:latin typeface="+mn-ea"/>
              </a:rPr>
              <a:t>例えば、もやし、ラディッシュ、芽ネギなどの高回転作物。</a:t>
            </a:r>
            <a:endParaRPr lang="en-US" altLang="ja-JP" dirty="0">
              <a:latin typeface="+mn-ea"/>
            </a:endParaRPr>
          </a:p>
          <a:p>
            <a:pPr>
              <a:lnSpc>
                <a:spcPct val="150000"/>
              </a:lnSpc>
            </a:pPr>
            <a:r>
              <a:rPr lang="ja-JP" altLang="en-US" dirty="0">
                <a:latin typeface="+mn-ea"/>
              </a:rPr>
              <a:t>また、単に作物を作るのではなく、高単価、付加価値をつけるにはどうしたらよいかを試案する。</a:t>
            </a:r>
            <a:endParaRPr lang="en-US" altLang="ja-JP" dirty="0">
              <a:latin typeface="+mn-ea"/>
            </a:endParaRPr>
          </a:p>
        </p:txBody>
      </p:sp>
      <p:sp>
        <p:nvSpPr>
          <p:cNvPr id="8" name="タイトル 1">
            <a:extLst>
              <a:ext uri="{FF2B5EF4-FFF2-40B4-BE49-F238E27FC236}">
                <a16:creationId xmlns:a16="http://schemas.microsoft.com/office/drawing/2014/main" id="{229D185E-9A6E-DE40-BA89-05D3B1405A76}"/>
              </a:ext>
            </a:extLst>
          </p:cNvPr>
          <p:cNvSpPr>
            <a:spLocks noGrp="1"/>
          </p:cNvSpPr>
          <p:nvPr>
            <p:ph type="title"/>
          </p:nvPr>
        </p:nvSpPr>
        <p:spPr>
          <a:xfrm>
            <a:off x="1097280" y="657748"/>
            <a:ext cx="6271269" cy="420115"/>
          </a:xfrm>
        </p:spPr>
        <p:txBody>
          <a:bodyPr/>
          <a:lstStyle/>
          <a:p>
            <a:r>
              <a:rPr lang="ja-JP" altLang="en-US" dirty="0"/>
              <a:t>５．</a:t>
            </a:r>
            <a:r>
              <a:rPr lang="en-US" altLang="ja-JP" dirty="0"/>
              <a:t>59</a:t>
            </a:r>
            <a:r>
              <a:rPr lang="ja-JP" altLang="en-US" dirty="0"/>
              <a:t>期の取り組み　①高回転高単価の模索</a:t>
            </a:r>
            <a:r>
              <a:rPr kumimoji="1" lang="ja-JP" altLang="en-US" dirty="0"/>
              <a:t> </a:t>
            </a:r>
          </a:p>
        </p:txBody>
      </p:sp>
    </p:spTree>
    <p:extLst>
      <p:ext uri="{BB962C8B-B14F-4D97-AF65-F5344CB8AC3E}">
        <p14:creationId xmlns:p14="http://schemas.microsoft.com/office/powerpoint/2010/main" val="3981725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1DF6D-0BC1-DDF1-959D-53D0253B650E}"/>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305A945-0185-E608-C70A-2AD01386DABF}"/>
              </a:ext>
            </a:extLst>
          </p:cNvPr>
          <p:cNvSpPr txBox="1"/>
          <p:nvPr/>
        </p:nvSpPr>
        <p:spPr>
          <a:xfrm>
            <a:off x="179002" y="1194834"/>
            <a:ext cx="11932486" cy="5262338"/>
          </a:xfrm>
          <a:prstGeom prst="rect">
            <a:avLst/>
          </a:prstGeom>
          <a:noFill/>
        </p:spPr>
        <p:txBody>
          <a:bodyPr wrap="square" rtlCol="0">
            <a:spAutoFit/>
          </a:bodyPr>
          <a:lstStyle/>
          <a:p>
            <a:pPr>
              <a:lnSpc>
                <a:spcPts val="3700"/>
              </a:lnSpc>
            </a:pPr>
            <a:r>
              <a:rPr lang="ja-JP" altLang="en-US" dirty="0">
                <a:latin typeface="+mn-ea"/>
              </a:rPr>
              <a:t>　就労者のやりがいを創造するため、レストランからの評価を就労者に伝える取り組みを強化する。</a:t>
            </a:r>
            <a:endParaRPr lang="en-US" altLang="ja-JP" dirty="0">
              <a:latin typeface="+mn-ea"/>
            </a:endParaRPr>
          </a:p>
          <a:p>
            <a:pPr>
              <a:lnSpc>
                <a:spcPts val="3700"/>
              </a:lnSpc>
            </a:pPr>
            <a:r>
              <a:rPr lang="ja-JP" altLang="en-US" dirty="0">
                <a:latin typeface="+mn-ea"/>
              </a:rPr>
              <a:t>　</a:t>
            </a:r>
            <a:r>
              <a:rPr lang="en-US" altLang="ja-JP" dirty="0">
                <a:latin typeface="+mn-ea"/>
              </a:rPr>
              <a:t>【</a:t>
            </a:r>
            <a:r>
              <a:rPr lang="ja-JP" altLang="en-US" dirty="0">
                <a:latin typeface="+mn-ea"/>
              </a:rPr>
              <a:t>背景</a:t>
            </a:r>
            <a:r>
              <a:rPr lang="en-US" altLang="ja-JP" dirty="0">
                <a:latin typeface="+mn-ea"/>
              </a:rPr>
              <a:t>】</a:t>
            </a:r>
          </a:p>
          <a:p>
            <a:pPr>
              <a:lnSpc>
                <a:spcPts val="3700"/>
              </a:lnSpc>
            </a:pPr>
            <a:r>
              <a:rPr lang="ja-JP" altLang="en-US" dirty="0">
                <a:latin typeface="+mn-ea"/>
              </a:rPr>
              <a:t>　①自分たちが作ったベビーリーフがどこのレストランで使われているか、ほとんどの就労者は知らない。</a:t>
            </a:r>
            <a:endParaRPr lang="en-US" altLang="ja-JP" dirty="0">
              <a:latin typeface="+mn-ea"/>
            </a:endParaRPr>
          </a:p>
          <a:p>
            <a:pPr>
              <a:lnSpc>
                <a:spcPts val="3700"/>
              </a:lnSpc>
            </a:pPr>
            <a:r>
              <a:rPr lang="ja-JP" altLang="en-US" dirty="0">
                <a:latin typeface="+mn-ea"/>
              </a:rPr>
              <a:t>　②レストランからの高評価を受けている事を知らない。</a:t>
            </a:r>
            <a:endParaRPr lang="en-US" altLang="ja-JP" dirty="0">
              <a:latin typeface="+mn-ea"/>
            </a:endParaRPr>
          </a:p>
          <a:p>
            <a:pPr>
              <a:lnSpc>
                <a:spcPts val="3700"/>
              </a:lnSpc>
            </a:pPr>
            <a:r>
              <a:rPr lang="ja-JP" altLang="en-US" dirty="0">
                <a:latin typeface="+mn-ea"/>
              </a:rPr>
              <a:t>　③一般的に売られているベビーリーフの品質（状態の悪さ）を知らない。ベビーリーフ自体、スーパーで売って</a:t>
            </a:r>
            <a:endParaRPr lang="en-US" altLang="ja-JP" dirty="0">
              <a:latin typeface="+mn-ea"/>
            </a:endParaRPr>
          </a:p>
          <a:p>
            <a:pPr>
              <a:lnSpc>
                <a:spcPts val="3700"/>
              </a:lnSpc>
            </a:pPr>
            <a:r>
              <a:rPr lang="ja-JP" altLang="en-US" dirty="0">
                <a:latin typeface="+mn-ea"/>
              </a:rPr>
              <a:t>　　いるのを見たことがない。興味がない。</a:t>
            </a:r>
            <a:endParaRPr lang="en-US" altLang="ja-JP" dirty="0">
              <a:latin typeface="+mn-ea"/>
            </a:endParaRPr>
          </a:p>
          <a:p>
            <a:pPr>
              <a:lnSpc>
                <a:spcPts val="3700"/>
              </a:lnSpc>
            </a:pPr>
            <a:r>
              <a:rPr lang="ja-JP" altLang="en-US" dirty="0">
                <a:latin typeface="+mn-ea"/>
              </a:rPr>
              <a:t>　</a:t>
            </a:r>
            <a:r>
              <a:rPr lang="en-US" altLang="ja-JP" dirty="0">
                <a:latin typeface="+mn-ea"/>
              </a:rPr>
              <a:t>【</a:t>
            </a:r>
            <a:r>
              <a:rPr lang="ja-JP" altLang="en-US" dirty="0">
                <a:latin typeface="+mn-ea"/>
              </a:rPr>
              <a:t>取組みの内容（案）</a:t>
            </a:r>
            <a:r>
              <a:rPr lang="en-US" altLang="ja-JP" dirty="0">
                <a:latin typeface="+mn-ea"/>
              </a:rPr>
              <a:t>】</a:t>
            </a:r>
          </a:p>
          <a:p>
            <a:pPr>
              <a:lnSpc>
                <a:spcPts val="3700"/>
              </a:lnSpc>
            </a:pPr>
            <a:r>
              <a:rPr lang="ja-JP" altLang="en-US" dirty="0">
                <a:latin typeface="+mn-ea"/>
              </a:rPr>
              <a:t>　例えば、インスタのページなどを休憩所に掲示する。いただいた注文を全体朝礼で発表する。他社品との品評会。</a:t>
            </a:r>
            <a:endParaRPr lang="en-US" altLang="ja-JP" dirty="0">
              <a:latin typeface="+mn-ea"/>
            </a:endParaRPr>
          </a:p>
          <a:p>
            <a:pPr>
              <a:lnSpc>
                <a:spcPts val="3700"/>
              </a:lnSpc>
            </a:pPr>
            <a:r>
              <a:rPr lang="ja-JP" altLang="en-US" dirty="0">
                <a:latin typeface="+mn-ea"/>
              </a:rPr>
              <a:t>　どうやったらやりがいを持ってもらえるかを考える。</a:t>
            </a:r>
            <a:endParaRPr lang="en-US" altLang="ja-JP" dirty="0">
              <a:latin typeface="+mn-ea"/>
            </a:endParaRPr>
          </a:p>
          <a:p>
            <a:pPr>
              <a:lnSpc>
                <a:spcPts val="3700"/>
              </a:lnSpc>
            </a:pPr>
            <a:r>
              <a:rPr lang="ja-JP" altLang="en-US" dirty="0">
                <a:latin typeface="+mn-ea"/>
              </a:rPr>
              <a:t>　現在熊谷農園はレストラン、病院など含め現在</a:t>
            </a:r>
            <a:r>
              <a:rPr lang="en-US" altLang="ja-JP" dirty="0">
                <a:latin typeface="+mn-ea"/>
              </a:rPr>
              <a:t>16</a:t>
            </a:r>
            <a:r>
              <a:rPr lang="ja-JP" altLang="en-US" dirty="0">
                <a:latin typeface="+mn-ea"/>
              </a:rPr>
              <a:t>件取引。</a:t>
            </a:r>
            <a:r>
              <a:rPr lang="ja-JP" altLang="en-US" dirty="0" err="1">
                <a:latin typeface="+mn-ea"/>
              </a:rPr>
              <a:t>障がい</a:t>
            </a:r>
            <a:r>
              <a:rPr lang="ja-JP" altLang="en-US" dirty="0">
                <a:latin typeface="+mn-ea"/>
              </a:rPr>
              <a:t>者の社会参画をアピールし、さらなる就労者の</a:t>
            </a:r>
            <a:endParaRPr lang="en-US" altLang="ja-JP" dirty="0">
              <a:latin typeface="+mn-ea"/>
            </a:endParaRPr>
          </a:p>
          <a:p>
            <a:pPr>
              <a:lnSpc>
                <a:spcPts val="3700"/>
              </a:lnSpc>
            </a:pPr>
            <a:r>
              <a:rPr lang="ja-JP" altLang="en-US" dirty="0">
                <a:latin typeface="+mn-ea"/>
              </a:rPr>
              <a:t>　定着、獲得につながるような取り組みに注力する。</a:t>
            </a:r>
            <a:endParaRPr lang="en-US" altLang="ja-JP" dirty="0">
              <a:latin typeface="+mn-ea"/>
            </a:endParaRPr>
          </a:p>
        </p:txBody>
      </p:sp>
      <p:sp>
        <p:nvSpPr>
          <p:cNvPr id="8" name="タイトル 1">
            <a:extLst>
              <a:ext uri="{FF2B5EF4-FFF2-40B4-BE49-F238E27FC236}">
                <a16:creationId xmlns:a16="http://schemas.microsoft.com/office/drawing/2014/main" id="{9CF00DE0-CA2C-FC22-0475-50A70CCA0430}"/>
              </a:ext>
            </a:extLst>
          </p:cNvPr>
          <p:cNvSpPr>
            <a:spLocks noGrp="1"/>
          </p:cNvSpPr>
          <p:nvPr>
            <p:ph type="title"/>
          </p:nvPr>
        </p:nvSpPr>
        <p:spPr>
          <a:xfrm>
            <a:off x="1097280" y="657748"/>
            <a:ext cx="5606022" cy="420115"/>
          </a:xfrm>
        </p:spPr>
        <p:txBody>
          <a:bodyPr/>
          <a:lstStyle/>
          <a:p>
            <a:r>
              <a:rPr lang="ja-JP" altLang="en-US" dirty="0"/>
              <a:t>５．</a:t>
            </a:r>
            <a:r>
              <a:rPr lang="en-US" altLang="ja-JP" dirty="0"/>
              <a:t>59</a:t>
            </a:r>
            <a:r>
              <a:rPr lang="ja-JP" altLang="en-US" dirty="0"/>
              <a:t>期の取り組み　②やりがいの創造</a:t>
            </a:r>
            <a:endParaRPr kumimoji="1" lang="ja-JP" altLang="en-US" dirty="0"/>
          </a:p>
        </p:txBody>
      </p:sp>
    </p:spTree>
    <p:extLst>
      <p:ext uri="{BB962C8B-B14F-4D97-AF65-F5344CB8AC3E}">
        <p14:creationId xmlns:p14="http://schemas.microsoft.com/office/powerpoint/2010/main" val="301502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EE4B5-E59A-B099-C652-238982B9450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0643361-2AF6-7CCC-37D6-8053822A1514}"/>
              </a:ext>
            </a:extLst>
          </p:cNvPr>
          <p:cNvSpPr txBox="1"/>
          <p:nvPr/>
        </p:nvSpPr>
        <p:spPr>
          <a:xfrm>
            <a:off x="179002" y="1076847"/>
            <a:ext cx="11932486" cy="4787849"/>
          </a:xfrm>
          <a:prstGeom prst="rect">
            <a:avLst/>
          </a:prstGeom>
          <a:noFill/>
        </p:spPr>
        <p:txBody>
          <a:bodyPr wrap="square" rtlCol="0">
            <a:spAutoFit/>
          </a:bodyPr>
          <a:lstStyle/>
          <a:p>
            <a:pPr>
              <a:lnSpc>
                <a:spcPts val="3700"/>
              </a:lnSpc>
            </a:pPr>
            <a:r>
              <a:rPr lang="ja-JP" altLang="en-US" dirty="0">
                <a:latin typeface="+mn-ea"/>
              </a:rPr>
              <a:t>　高品質のベビーリーフを安定生産するため、作業手順書の作成と指導、管理を強化する。</a:t>
            </a:r>
            <a:endParaRPr lang="en-US" altLang="ja-JP" dirty="0">
              <a:latin typeface="+mn-ea"/>
            </a:endParaRPr>
          </a:p>
          <a:p>
            <a:pPr>
              <a:lnSpc>
                <a:spcPts val="3700"/>
              </a:lnSpc>
            </a:pPr>
            <a:r>
              <a:rPr lang="en-US" altLang="ja-JP" dirty="0">
                <a:latin typeface="+mn-ea"/>
              </a:rPr>
              <a:t>【</a:t>
            </a:r>
            <a:r>
              <a:rPr lang="ja-JP" altLang="en-US" dirty="0">
                <a:latin typeface="+mn-ea"/>
              </a:rPr>
              <a:t>背景</a:t>
            </a:r>
            <a:r>
              <a:rPr lang="en-US" altLang="ja-JP" dirty="0">
                <a:latin typeface="+mn-ea"/>
              </a:rPr>
              <a:t>】</a:t>
            </a:r>
          </a:p>
          <a:p>
            <a:pPr>
              <a:lnSpc>
                <a:spcPts val="3700"/>
              </a:lnSpc>
            </a:pPr>
            <a:r>
              <a:rPr lang="ja-JP" altLang="en-US" dirty="0">
                <a:latin typeface="+mn-ea"/>
              </a:rPr>
              <a:t>　①慣れてくると丁寧さよりもスピード重視になり、作業が雑になっている。</a:t>
            </a:r>
            <a:endParaRPr lang="en-US" altLang="ja-JP" dirty="0">
              <a:latin typeface="+mn-ea"/>
            </a:endParaRPr>
          </a:p>
          <a:p>
            <a:pPr>
              <a:lnSpc>
                <a:spcPts val="3700"/>
              </a:lnSpc>
            </a:pPr>
            <a:r>
              <a:rPr lang="ja-JP" altLang="en-US" b="1" dirty="0">
                <a:solidFill>
                  <a:srgbClr val="FF0000"/>
                </a:solidFill>
                <a:latin typeface="+mn-ea"/>
              </a:rPr>
              <a:t>　　→葉の裏を見ないで収穫している、播種の穴が深い、砂洗いの砂の量が少ないなど。</a:t>
            </a:r>
            <a:endParaRPr lang="en-US" altLang="ja-JP" dirty="0">
              <a:latin typeface="+mn-ea"/>
            </a:endParaRPr>
          </a:p>
          <a:p>
            <a:pPr>
              <a:lnSpc>
                <a:spcPts val="3700"/>
              </a:lnSpc>
            </a:pPr>
            <a:r>
              <a:rPr lang="ja-JP" altLang="en-US" dirty="0">
                <a:latin typeface="+mn-ea"/>
              </a:rPr>
              <a:t>　②手順書がこれまで無かったため、管理者や就労者によって作業の仕方が違っていた。</a:t>
            </a:r>
            <a:endParaRPr lang="en-US" altLang="ja-JP" dirty="0">
              <a:latin typeface="+mn-ea"/>
            </a:endParaRPr>
          </a:p>
          <a:p>
            <a:pPr>
              <a:lnSpc>
                <a:spcPts val="3700"/>
              </a:lnSpc>
            </a:pPr>
            <a:r>
              <a:rPr lang="ja-JP" altLang="en-US" dirty="0">
                <a:latin typeface="+mn-ea"/>
              </a:rPr>
              <a:t>　　→砂洗いの砂の取り方、根処理の砂の落とし方、播種の覆土の仕方など。</a:t>
            </a:r>
            <a:endParaRPr lang="en-US" altLang="ja-JP" dirty="0">
              <a:latin typeface="+mn-ea"/>
            </a:endParaRPr>
          </a:p>
          <a:p>
            <a:pPr>
              <a:lnSpc>
                <a:spcPts val="3700"/>
              </a:lnSpc>
            </a:pPr>
            <a:r>
              <a:rPr lang="ja-JP" altLang="en-US" dirty="0">
                <a:latin typeface="+mn-ea"/>
              </a:rPr>
              <a:t>　③担当管理者が変わると作業手順が変わり、管理者と就労者でトラブルになっている。</a:t>
            </a:r>
            <a:endParaRPr lang="en-US" altLang="ja-JP" dirty="0">
              <a:latin typeface="+mn-ea"/>
            </a:endParaRPr>
          </a:p>
          <a:p>
            <a:pPr>
              <a:lnSpc>
                <a:spcPts val="3700"/>
              </a:lnSpc>
            </a:pPr>
            <a:r>
              <a:rPr lang="ja-JP" altLang="en-US" dirty="0">
                <a:latin typeface="+mn-ea"/>
              </a:rPr>
              <a:t>　　→管理者の言う事を聞かない、前任の管理者のやり方に固執する、新人管理者が定着しない。</a:t>
            </a:r>
            <a:endParaRPr lang="en-US" altLang="ja-JP" dirty="0">
              <a:latin typeface="+mn-ea"/>
            </a:endParaRPr>
          </a:p>
          <a:p>
            <a:pPr>
              <a:lnSpc>
                <a:spcPts val="3700"/>
              </a:lnSpc>
            </a:pPr>
            <a:r>
              <a:rPr lang="ja-JP" altLang="en-US" b="1" dirty="0">
                <a:solidFill>
                  <a:srgbClr val="FF0000"/>
                </a:solidFill>
                <a:latin typeface="+mn-ea"/>
              </a:rPr>
              <a:t>　</a:t>
            </a:r>
            <a:r>
              <a:rPr lang="ja-JP" altLang="en-US" dirty="0">
                <a:latin typeface="+mn-ea"/>
              </a:rPr>
              <a:t>④農業指導員がベビーリーフに注力できず、巡回、農園管理が疎かになっている。</a:t>
            </a:r>
            <a:endParaRPr lang="en-US" altLang="ja-JP" dirty="0">
              <a:latin typeface="+mn-ea"/>
            </a:endParaRPr>
          </a:p>
          <a:p>
            <a:pPr>
              <a:lnSpc>
                <a:spcPts val="3700"/>
              </a:lnSpc>
            </a:pPr>
            <a:r>
              <a:rPr lang="ja-JP" altLang="en-US" dirty="0">
                <a:latin typeface="+mn-ea"/>
              </a:rPr>
              <a:t>　　→トマトやいちごに工数が取られている。</a:t>
            </a:r>
            <a:endParaRPr lang="en-US" altLang="ja-JP" dirty="0">
              <a:latin typeface="+mn-ea"/>
            </a:endParaRPr>
          </a:p>
        </p:txBody>
      </p:sp>
      <p:sp>
        <p:nvSpPr>
          <p:cNvPr id="8" name="タイトル 1">
            <a:extLst>
              <a:ext uri="{FF2B5EF4-FFF2-40B4-BE49-F238E27FC236}">
                <a16:creationId xmlns:a16="http://schemas.microsoft.com/office/drawing/2014/main" id="{90B78A56-13F5-BE15-C5BD-1D3EB8E46B2F}"/>
              </a:ext>
            </a:extLst>
          </p:cNvPr>
          <p:cNvSpPr>
            <a:spLocks noGrp="1"/>
          </p:cNvSpPr>
          <p:nvPr>
            <p:ph type="title"/>
          </p:nvPr>
        </p:nvSpPr>
        <p:spPr>
          <a:xfrm>
            <a:off x="1097280" y="657748"/>
            <a:ext cx="8318303" cy="420115"/>
          </a:xfrm>
        </p:spPr>
        <p:txBody>
          <a:bodyPr/>
          <a:lstStyle/>
          <a:p>
            <a:r>
              <a:rPr lang="ja-JP" altLang="en-US" dirty="0"/>
              <a:t>５．</a:t>
            </a:r>
            <a:r>
              <a:rPr lang="en-US" altLang="ja-JP" dirty="0"/>
              <a:t>59</a:t>
            </a:r>
            <a:r>
              <a:rPr lang="ja-JP" altLang="en-US" dirty="0"/>
              <a:t>期の取り組み　③</a:t>
            </a:r>
            <a:r>
              <a:rPr lang="ja-JP" altLang="en-US" sz="2400" dirty="0"/>
              <a:t>高品質を目指した作業手順書と指導</a:t>
            </a:r>
            <a:endParaRPr kumimoji="1" lang="ja-JP" altLang="en-US" dirty="0"/>
          </a:p>
        </p:txBody>
      </p:sp>
      <p:sp>
        <p:nvSpPr>
          <p:cNvPr id="4" name="テキスト ボックス 3">
            <a:extLst>
              <a:ext uri="{FF2B5EF4-FFF2-40B4-BE49-F238E27FC236}">
                <a16:creationId xmlns:a16="http://schemas.microsoft.com/office/drawing/2014/main" id="{BFB65250-D81A-ADD0-AB53-8A84EB04F332}"/>
              </a:ext>
            </a:extLst>
          </p:cNvPr>
          <p:cNvSpPr txBox="1"/>
          <p:nvPr/>
        </p:nvSpPr>
        <p:spPr>
          <a:xfrm>
            <a:off x="5851950" y="6200252"/>
            <a:ext cx="588179" cy="564342"/>
          </a:xfrm>
          <a:prstGeom prst="rect">
            <a:avLst/>
          </a:prstGeom>
          <a:solidFill>
            <a:schemeClr val="bg1"/>
          </a:solidFill>
        </p:spPr>
        <p:txBody>
          <a:bodyPr wrap="square" rtlCol="0">
            <a:spAutoFit/>
          </a:bodyPr>
          <a:lstStyle/>
          <a:p>
            <a:endParaRPr kumimoji="1" lang="ja-JP" altLang="en-US" dirty="0"/>
          </a:p>
        </p:txBody>
      </p:sp>
      <p:sp>
        <p:nvSpPr>
          <p:cNvPr id="2" name="テキスト ボックス 1">
            <a:extLst>
              <a:ext uri="{FF2B5EF4-FFF2-40B4-BE49-F238E27FC236}">
                <a16:creationId xmlns:a16="http://schemas.microsoft.com/office/drawing/2014/main" id="{197CC681-C480-9F60-CE2A-F7F426F8D336}"/>
              </a:ext>
            </a:extLst>
          </p:cNvPr>
          <p:cNvSpPr txBox="1"/>
          <p:nvPr/>
        </p:nvSpPr>
        <p:spPr>
          <a:xfrm>
            <a:off x="914398" y="6061513"/>
            <a:ext cx="6695768" cy="523220"/>
          </a:xfrm>
          <a:prstGeom prst="rect">
            <a:avLst/>
          </a:prstGeom>
          <a:solidFill>
            <a:schemeClr val="bg1"/>
          </a:solidFill>
          <a:ln>
            <a:noFill/>
          </a:ln>
        </p:spPr>
        <p:txBody>
          <a:bodyPr wrap="square" rtlCol="0">
            <a:spAutoFit/>
          </a:bodyPr>
          <a:lstStyle/>
          <a:p>
            <a:pPr algn="ctr"/>
            <a:r>
              <a:rPr lang="ja-JP" altLang="en-US" sz="2800" dirty="0">
                <a:solidFill>
                  <a:srgbClr val="FF0000"/>
                </a:solidFill>
              </a:rPr>
              <a:t>マニュアル</a:t>
            </a:r>
            <a:r>
              <a:rPr kumimoji="1" lang="ja-JP" altLang="en-US" sz="2800" dirty="0">
                <a:solidFill>
                  <a:srgbClr val="FF0000"/>
                </a:solidFill>
              </a:rPr>
              <a:t>作成→指導→習得のチェック</a:t>
            </a:r>
          </a:p>
        </p:txBody>
      </p:sp>
      <p:sp>
        <p:nvSpPr>
          <p:cNvPr id="5" name="テキスト ボックス 4">
            <a:extLst>
              <a:ext uri="{FF2B5EF4-FFF2-40B4-BE49-F238E27FC236}">
                <a16:creationId xmlns:a16="http://schemas.microsoft.com/office/drawing/2014/main" id="{E13681F3-3AC3-C176-91F1-E00FA378A6BB}"/>
              </a:ext>
            </a:extLst>
          </p:cNvPr>
          <p:cNvSpPr txBox="1"/>
          <p:nvPr/>
        </p:nvSpPr>
        <p:spPr>
          <a:xfrm>
            <a:off x="7610166" y="5992689"/>
            <a:ext cx="4404853" cy="646331"/>
          </a:xfrm>
          <a:prstGeom prst="rect">
            <a:avLst/>
          </a:prstGeom>
          <a:solidFill>
            <a:schemeClr val="bg1"/>
          </a:solidFill>
          <a:ln>
            <a:solidFill>
              <a:schemeClr val="tx1"/>
            </a:solidFill>
          </a:ln>
        </p:spPr>
        <p:txBody>
          <a:bodyPr wrap="square" rtlCol="0">
            <a:spAutoFit/>
          </a:bodyPr>
          <a:lstStyle/>
          <a:p>
            <a:pPr algn="ctr"/>
            <a:r>
              <a:rPr lang="ja-JP" altLang="en-US" dirty="0"/>
              <a:t>工数がかかっている研究会のトマト、いちごを休止し、ベビーリーフに注力する。</a:t>
            </a:r>
            <a:endParaRPr kumimoji="1" lang="ja-JP" altLang="en-US" dirty="0"/>
          </a:p>
        </p:txBody>
      </p:sp>
    </p:spTree>
    <p:extLst>
      <p:ext uri="{BB962C8B-B14F-4D97-AF65-F5344CB8AC3E}">
        <p14:creationId xmlns:p14="http://schemas.microsoft.com/office/powerpoint/2010/main" val="2483183797"/>
      </p:ext>
    </p:extLst>
  </p:cSld>
  <p:clrMapOvr>
    <a:masterClrMapping/>
  </p:clrMapOvr>
</p:sld>
</file>

<file path=ppt/theme/theme1.xml><?xml version="1.0" encoding="utf-8"?>
<a:theme xmlns:a="http://schemas.openxmlformats.org/drawingml/2006/main" name="レトロスペク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11234</TotalTime>
  <Words>2315</Words>
  <Application>Microsoft Office PowerPoint</Application>
  <PresentationFormat>ワイド画面</PresentationFormat>
  <Paragraphs>206</Paragraphs>
  <Slides>25</Slides>
  <Notes>25</Notes>
  <HiddenSlides>0</HiddenSlides>
  <MMClips>0</MMClips>
  <ScaleCrop>false</ScaleCrop>
  <HeadingPairs>
    <vt:vector size="6" baseType="variant">
      <vt:variant>
        <vt:lpstr>使用されているフォント</vt:lpstr>
      </vt:variant>
      <vt:variant>
        <vt:i4>5</vt:i4>
      </vt:variant>
      <vt:variant>
        <vt:lpstr>テーマ</vt:lpstr>
      </vt:variant>
      <vt:variant>
        <vt:i4>4</vt:i4>
      </vt:variant>
      <vt:variant>
        <vt:lpstr>スライド タイトル</vt:lpstr>
      </vt:variant>
      <vt:variant>
        <vt:i4>25</vt:i4>
      </vt:variant>
    </vt:vector>
  </HeadingPairs>
  <TitlesOfParts>
    <vt:vector size="34" baseType="lpstr">
      <vt:lpstr>メイリオ</vt:lpstr>
      <vt:lpstr>游ゴシック</vt:lpstr>
      <vt:lpstr>游ゴシック Light</vt:lpstr>
      <vt:lpstr>Arial</vt:lpstr>
      <vt:lpstr>Calibri</vt:lpstr>
      <vt:lpstr>レトロスペクト</vt:lpstr>
      <vt:lpstr>2_デザインの設定</vt:lpstr>
      <vt:lpstr>1_デザインの設定</vt:lpstr>
      <vt:lpstr>デザインの設定</vt:lpstr>
      <vt:lpstr>PowerPoint プレゼンテーション</vt:lpstr>
      <vt:lpstr>報告内容　目次</vt:lpstr>
      <vt:lpstr>１．農業技術研究会 栽培試験の目的　</vt:lpstr>
      <vt:lpstr>２．栽培品種・栽培方法・生育温度</vt:lpstr>
      <vt:lpstr>3．栽培スケジュール</vt:lpstr>
      <vt:lpstr>PowerPoint プレゼンテーション</vt:lpstr>
      <vt:lpstr>PowerPoint プレゼンテーション</vt:lpstr>
      <vt:lpstr>PowerPoint プレゼンテーション</vt:lpstr>
      <vt:lpstr>４．進捗・課題・対策：① トマト</vt:lpstr>
      <vt:lpstr>② いちご </vt:lpstr>
      <vt:lpstr>４．現状の課題・対策：②いちご </vt:lpstr>
      <vt:lpstr>４．現状の課題・対策：②いちご </vt:lpstr>
      <vt:lpstr>４．現状の課題・対策：②いちご </vt:lpstr>
      <vt:lpstr>４．現状の課題・対策：②いちご </vt:lpstr>
      <vt:lpstr>４．現状の課題・対策：②いちご </vt:lpstr>
      <vt:lpstr>４．現状の課題・対策：②いちご </vt:lpstr>
      <vt:lpstr>４．現状の課題・対策：②いちご </vt:lpstr>
      <vt:lpstr>③ベビーリーフ</vt:lpstr>
      <vt:lpstr>４．現状の課題・対策：③ベビーリーフ</vt:lpstr>
      <vt:lpstr>４．現状の課題・対策：③ベビーリーフ</vt:lpstr>
      <vt:lpstr>４．現状の課題・対策：③ベビーリーフ</vt:lpstr>
      <vt:lpstr> 59期の取り組み </vt:lpstr>
      <vt:lpstr>５．59期の取り組み　①高回転高単価の模索 </vt:lpstr>
      <vt:lpstr>５．59期の取り組み　②やりがいの創造</vt:lpstr>
      <vt:lpstr>５．59期の取り組み　③高品質を目指した作業手順書と指導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50期第２四半期 ハウス備品事業本部戦略会議  製品開発戦略① 　システムオフィス『ファーストクラス』</dc:title>
  <dc:creator>19970063</dc:creator>
  <cp:lastModifiedBy>松岡　徹平</cp:lastModifiedBy>
  <cp:revision>1646</cp:revision>
  <cp:lastPrinted>2022-06-01T02:31:02Z</cp:lastPrinted>
  <dcterms:created xsi:type="dcterms:W3CDTF">2017-04-25T07:31:20Z</dcterms:created>
  <dcterms:modified xsi:type="dcterms:W3CDTF">2025-09-09T01:43:47Z</dcterms:modified>
</cp:coreProperties>
</file>