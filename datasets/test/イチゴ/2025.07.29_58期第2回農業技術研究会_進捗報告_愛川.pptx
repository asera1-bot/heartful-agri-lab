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012" r:id="rId2"/>
    <p:sldId id="1209" r:id="rId3"/>
    <p:sldId id="1211" r:id="rId4"/>
    <p:sldId id="1210" r:id="rId5"/>
    <p:sldId id="1212" r:id="rId6"/>
    <p:sldId id="1213" r:id="rId7"/>
    <p:sldId id="1214" r:id="rId8"/>
    <p:sldId id="1216" r:id="rId9"/>
    <p:sldId id="1218" r:id="rId10"/>
    <p:sldId id="1215" r:id="rId11"/>
    <p:sldId id="1217" r:id="rId12"/>
    <p:sldId id="1225" r:id="rId13"/>
    <p:sldId id="1219" r:id="rId14"/>
    <p:sldId id="1220" r:id="rId15"/>
    <p:sldId id="1221" r:id="rId16"/>
    <p:sldId id="1222" r:id="rId17"/>
    <p:sldId id="1224" r:id="rId18"/>
    <p:sldId id="122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収穫量グラフ!$B$4</c:f>
              <c:strCache>
                <c:ptCount val="1"/>
                <c:pt idx="0">
                  <c:v>収穫量平均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8.333333333333337E-2"/>
                </c:manualLayout>
              </c:layout>
              <c:tx>
                <c:rich>
                  <a:bodyPr/>
                  <a:lstStyle/>
                  <a:p>
                    <a:r>
                      <a:rPr lang="en-US" altLang="ja-JP"/>
                      <a:t>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E6F-45FA-B471-F995FC10E1DF}"/>
                </c:ext>
              </c:extLst>
            </c:dLbl>
            <c:dLbl>
              <c:idx val="1"/>
              <c:layout>
                <c:manualLayout>
                  <c:x val="-5.0925337632079971E-17"/>
                  <c:y val="-9.2592592592592587E-2"/>
                </c:manualLayout>
              </c:layout>
              <c:tx>
                <c:rich>
                  <a:bodyPr/>
                  <a:lstStyle/>
                  <a:p>
                    <a:r>
                      <a:rPr lang="ja-JP" altLang="en-US"/>
                      <a:t>ｂ</a:t>
                    </a:r>
                    <a:endParaRPr lang="en-US" altLang="ja-JP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E6F-45FA-B471-F995FC10E1DF}"/>
                </c:ext>
              </c:extLst>
            </c:dLbl>
            <c:dLbl>
              <c:idx val="2"/>
              <c:layout>
                <c:manualLayout>
                  <c:x val="0"/>
                  <c:y val="-8.7962962962962979E-2"/>
                </c:manualLayout>
              </c:layout>
              <c:tx>
                <c:rich>
                  <a:bodyPr/>
                  <a:lstStyle/>
                  <a:p>
                    <a:r>
                      <a:rPr lang="ja-JP" altLang="en-US"/>
                      <a:t>ｃ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E6F-45FA-B471-F995FC10E1DF}"/>
                </c:ext>
              </c:extLst>
            </c:dLbl>
            <c:dLbl>
              <c:idx val="3"/>
              <c:layout>
                <c:manualLayout>
                  <c:x val="-1.0185067526415994E-16"/>
                  <c:y val="-3.7037037037037125E-2"/>
                </c:manualLayout>
              </c:layout>
              <c:tx>
                <c:rich>
                  <a:bodyPr/>
                  <a:lstStyle/>
                  <a:p>
                    <a:r>
                      <a:rPr lang="ja-JP" altLang="en-US"/>
                      <a:t>ｄ</a:t>
                    </a:r>
                    <a:endParaRPr lang="en-US" altLang="ja-JP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6F-45FA-B471-F995FC10E1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44450" cap="flat" cmpd="sng" algn="ctr">
                      <a:solidFill>
                        <a:srgbClr val="FF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cust"/>
            <c:noEndCap val="0"/>
            <c:plus>
              <c:numRef>
                <c:f>収穫量グラフ!$C$5:$F$5</c:f>
                <c:numCache>
                  <c:formatCode>General</c:formatCode>
                  <c:ptCount val="4"/>
                  <c:pt idx="0">
                    <c:v>83.673492000851482</c:v>
                  </c:pt>
                  <c:pt idx="1">
                    <c:v>95.650131555929747</c:v>
                  </c:pt>
                  <c:pt idx="2">
                    <c:v>53.61792926183027</c:v>
                  </c:pt>
                  <c:pt idx="3">
                    <c:v>31.335542516679794</c:v>
                  </c:pt>
                </c:numCache>
              </c:numRef>
            </c:plus>
            <c:minus>
              <c:numRef>
                <c:f>収穫量グラフ!$C$5:$F$5</c:f>
                <c:numCache>
                  <c:formatCode>General</c:formatCode>
                  <c:ptCount val="4"/>
                  <c:pt idx="0">
                    <c:v>83.673492000851482</c:v>
                  </c:pt>
                  <c:pt idx="1">
                    <c:v>95.650131555929747</c:v>
                  </c:pt>
                  <c:pt idx="2">
                    <c:v>53.61792926183027</c:v>
                  </c:pt>
                  <c:pt idx="3">
                    <c:v>31.335542516679794</c:v>
                  </c:pt>
                </c:numCache>
              </c:numRef>
            </c:minus>
            <c:spPr>
              <a:noFill/>
              <a:ln w="41275" cap="flat" cmpd="sng" algn="ctr">
                <a:solidFill>
                  <a:srgbClr val="FF0000"/>
                </a:solidFill>
                <a:round/>
              </a:ln>
              <a:effectLst/>
            </c:spPr>
          </c:errBars>
          <c:cat>
            <c:strRef>
              <c:f>収穫量グラフ!$C$3:$F$3</c:f>
              <c:strCache>
                <c:ptCount val="4"/>
                <c:pt idx="0">
                  <c:v>かおり野</c:v>
                </c:pt>
                <c:pt idx="1">
                  <c:v>よつぼし</c:v>
                </c:pt>
                <c:pt idx="2">
                  <c:v>やよいひめ</c:v>
                </c:pt>
                <c:pt idx="3">
                  <c:v>紅ほっぺ</c:v>
                </c:pt>
              </c:strCache>
            </c:strRef>
          </c:cat>
          <c:val>
            <c:numRef>
              <c:f>収穫量グラフ!$C$4:$F$4</c:f>
              <c:numCache>
                <c:formatCode>General</c:formatCode>
                <c:ptCount val="4"/>
                <c:pt idx="0">
                  <c:v>1452.5098039215686</c:v>
                </c:pt>
                <c:pt idx="1">
                  <c:v>1684</c:v>
                </c:pt>
                <c:pt idx="2">
                  <c:v>1623.7391304347825</c:v>
                </c:pt>
                <c:pt idx="3">
                  <c:v>1175.3614457831325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6F-45FA-B471-F995FC10E1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3390143"/>
        <c:axId val="393394463"/>
      </c:barChart>
      <c:catAx>
        <c:axId val="39339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93394463"/>
        <c:crosses val="autoZero"/>
        <c:auto val="1"/>
        <c:lblAlgn val="ctr"/>
        <c:lblOffset val="100"/>
        <c:noMultiLvlLbl val="0"/>
      </c:catAx>
      <c:valAx>
        <c:axId val="393394463"/>
        <c:scaling>
          <c:orientation val="minMax"/>
          <c:max val="1800"/>
          <c:min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93390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Sheet3!$C$3</c:f>
              <c:strCache>
                <c:ptCount val="1"/>
                <c:pt idx="0">
                  <c:v>かおり野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Sheet3!$D$2:$J$2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Sheet3!$D$3:$J$3</c:f>
              <c:numCache>
                <c:formatCode>General</c:formatCode>
                <c:ptCount val="7"/>
                <c:pt idx="0">
                  <c:v>0.24</c:v>
                </c:pt>
                <c:pt idx="1">
                  <c:v>14.07</c:v>
                </c:pt>
                <c:pt idx="2">
                  <c:v>14.07</c:v>
                </c:pt>
                <c:pt idx="3">
                  <c:v>8.64</c:v>
                </c:pt>
                <c:pt idx="4">
                  <c:v>3.78</c:v>
                </c:pt>
                <c:pt idx="5">
                  <c:v>17.07</c:v>
                </c:pt>
                <c:pt idx="6">
                  <c:v>17.57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EA-4DD9-B400-112B8295EDC4}"/>
            </c:ext>
          </c:extLst>
        </c:ser>
        <c:ser>
          <c:idx val="1"/>
          <c:order val="1"/>
          <c:tx>
            <c:strRef>
              <c:f>Sheet3!$C$4</c:f>
              <c:strCache>
                <c:ptCount val="1"/>
                <c:pt idx="0">
                  <c:v>よつぼし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Sheet3!$D$2:$J$2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Sheet3!$D$4:$J$4</c:f>
              <c:numCache>
                <c:formatCode>General</c:formatCode>
                <c:ptCount val="7"/>
                <c:pt idx="0">
                  <c:v>0</c:v>
                </c:pt>
                <c:pt idx="1">
                  <c:v>3.16</c:v>
                </c:pt>
                <c:pt idx="2">
                  <c:v>11.29</c:v>
                </c:pt>
                <c:pt idx="3">
                  <c:v>13.56</c:v>
                </c:pt>
                <c:pt idx="4">
                  <c:v>12.13</c:v>
                </c:pt>
                <c:pt idx="5">
                  <c:v>8.01</c:v>
                </c:pt>
                <c:pt idx="6">
                  <c:v>30.14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EA-4DD9-B400-112B8295EDC4}"/>
            </c:ext>
          </c:extLst>
        </c:ser>
        <c:ser>
          <c:idx val="2"/>
          <c:order val="2"/>
          <c:tx>
            <c:strRef>
              <c:f>Sheet3!$C$5</c:f>
              <c:strCache>
                <c:ptCount val="1"/>
                <c:pt idx="0">
                  <c:v>やよいひめ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Sheet3!$D$2:$J$2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Sheet3!$D$5:$J$5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5.88</c:v>
                </c:pt>
                <c:pt idx="3">
                  <c:v>19.36</c:v>
                </c:pt>
                <c:pt idx="4">
                  <c:v>14.95</c:v>
                </c:pt>
                <c:pt idx="5">
                  <c:v>36.78</c:v>
                </c:pt>
                <c:pt idx="6">
                  <c:v>30.45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EA-4DD9-B400-112B8295EDC4}"/>
            </c:ext>
          </c:extLst>
        </c:ser>
        <c:ser>
          <c:idx val="3"/>
          <c:order val="3"/>
          <c:tx>
            <c:strRef>
              <c:f>Sheet3!$C$6</c:f>
              <c:strCache>
                <c:ptCount val="1"/>
                <c:pt idx="0">
                  <c:v>紅ほっぺ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Sheet3!$D$2:$J$2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Sheet3!$D$6:$J$6</c:f>
              <c:numCache>
                <c:formatCode>General</c:formatCode>
                <c:ptCount val="7"/>
                <c:pt idx="0">
                  <c:v>1.54</c:v>
                </c:pt>
                <c:pt idx="1">
                  <c:v>2.02</c:v>
                </c:pt>
                <c:pt idx="2">
                  <c:v>61.18</c:v>
                </c:pt>
                <c:pt idx="3">
                  <c:v>64.010000000000005</c:v>
                </c:pt>
                <c:pt idx="4">
                  <c:v>37.22</c:v>
                </c:pt>
                <c:pt idx="5">
                  <c:v>32.85</c:v>
                </c:pt>
                <c:pt idx="6">
                  <c:v>74.5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EA-4DD9-B400-112B8295EDC4}"/>
            </c:ext>
          </c:extLst>
        </c:ser>
        <c:ser>
          <c:idx val="4"/>
          <c:order val="4"/>
          <c:tx>
            <c:strRef>
              <c:f>Sheet3!$C$7</c:f>
              <c:strCache>
                <c:ptCount val="1"/>
                <c:pt idx="0">
                  <c:v>平均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Sheet3!$D$2:$J$2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Sheet3!$D$7:$J$7</c:f>
              <c:numCache>
                <c:formatCode>General</c:formatCode>
                <c:ptCount val="7"/>
                <c:pt idx="0">
                  <c:v>0.44500000000000001</c:v>
                </c:pt>
                <c:pt idx="1">
                  <c:v>4.8125</c:v>
                </c:pt>
                <c:pt idx="2">
                  <c:v>23.105</c:v>
                </c:pt>
                <c:pt idx="3">
                  <c:v>26.392500000000002</c:v>
                </c:pt>
                <c:pt idx="4">
                  <c:v>17.02</c:v>
                </c:pt>
                <c:pt idx="5">
                  <c:v>23.677500000000002</c:v>
                </c:pt>
                <c:pt idx="6">
                  <c:v>38.164999999999999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DEA-4DD9-B400-112B8295ED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2820767"/>
        <c:axId val="1142823167"/>
      </c:lineChart>
      <c:catAx>
        <c:axId val="114282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42823167"/>
        <c:crosses val="autoZero"/>
        <c:auto val="1"/>
        <c:lblAlgn val="ctr"/>
        <c:lblOffset val="100"/>
        <c:noMultiLvlLbl val="0"/>
      </c:catAx>
      <c:valAx>
        <c:axId val="1142823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4282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ja-JP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Sheet3!$L$3</c:f>
              <c:strCache>
                <c:ptCount val="1"/>
                <c:pt idx="0">
                  <c:v>かおり野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Sheet3!$M$2:$S$2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Sheet3!$M$3:$S$3</c:f>
              <c:numCache>
                <c:formatCode>General</c:formatCode>
                <c:ptCount val="7"/>
                <c:pt idx="0">
                  <c:v>0.24</c:v>
                </c:pt>
                <c:pt idx="1">
                  <c:v>14.07</c:v>
                </c:pt>
                <c:pt idx="2">
                  <c:v>14.07</c:v>
                </c:pt>
                <c:pt idx="3">
                  <c:v>8.64</c:v>
                </c:pt>
                <c:pt idx="4">
                  <c:v>3.78</c:v>
                </c:pt>
                <c:pt idx="5">
                  <c:v>17.07</c:v>
                </c:pt>
                <c:pt idx="6">
                  <c:v>17.57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90-4672-AB24-43AE00EE9193}"/>
            </c:ext>
          </c:extLst>
        </c:ser>
        <c:ser>
          <c:idx val="1"/>
          <c:order val="1"/>
          <c:tx>
            <c:strRef>
              <c:f>Sheet3!$L$4</c:f>
              <c:strCache>
                <c:ptCount val="1"/>
                <c:pt idx="0">
                  <c:v>よつぼし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Sheet3!$M$2:$S$2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Sheet3!$M$4:$S$4</c:f>
              <c:numCache>
                <c:formatCode>General</c:formatCode>
                <c:ptCount val="7"/>
                <c:pt idx="0">
                  <c:v>0</c:v>
                </c:pt>
                <c:pt idx="1">
                  <c:v>3.16</c:v>
                </c:pt>
                <c:pt idx="2">
                  <c:v>11.29</c:v>
                </c:pt>
                <c:pt idx="3">
                  <c:v>13.56</c:v>
                </c:pt>
                <c:pt idx="4">
                  <c:v>12.13</c:v>
                </c:pt>
                <c:pt idx="5">
                  <c:v>8.01</c:v>
                </c:pt>
                <c:pt idx="6">
                  <c:v>30.14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90-4672-AB24-43AE00EE9193}"/>
            </c:ext>
          </c:extLst>
        </c:ser>
        <c:ser>
          <c:idx val="2"/>
          <c:order val="2"/>
          <c:tx>
            <c:strRef>
              <c:f>Sheet3!$L$5</c:f>
              <c:strCache>
                <c:ptCount val="1"/>
                <c:pt idx="0">
                  <c:v>やよいひめ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Sheet3!$M$2:$S$2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Sheet3!$M$5:$S$5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5.88</c:v>
                </c:pt>
                <c:pt idx="3">
                  <c:v>19.36</c:v>
                </c:pt>
                <c:pt idx="4">
                  <c:v>14.95</c:v>
                </c:pt>
                <c:pt idx="5">
                  <c:v>36.78</c:v>
                </c:pt>
                <c:pt idx="6">
                  <c:v>30.45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F90-4672-AB24-43AE00EE9193}"/>
            </c:ext>
          </c:extLst>
        </c:ser>
        <c:ser>
          <c:idx val="3"/>
          <c:order val="3"/>
          <c:tx>
            <c:strRef>
              <c:f>Sheet3!$L$6</c:f>
              <c:strCache>
                <c:ptCount val="1"/>
                <c:pt idx="0">
                  <c:v>平均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Sheet3!$M$2:$S$2</c:f>
              <c:strCache>
                <c:ptCount val="7"/>
                <c:pt idx="0">
                  <c:v>11月</c:v>
                </c:pt>
                <c:pt idx="1">
                  <c:v>12月</c:v>
                </c:pt>
                <c:pt idx="2">
                  <c:v>1月</c:v>
                </c:pt>
                <c:pt idx="3">
                  <c:v>2月</c:v>
                </c:pt>
                <c:pt idx="4">
                  <c:v>3月</c:v>
                </c:pt>
                <c:pt idx="5">
                  <c:v>4月</c:v>
                </c:pt>
                <c:pt idx="6">
                  <c:v>5月</c:v>
                </c:pt>
              </c:strCache>
            </c:strRef>
          </c:cat>
          <c:val>
            <c:numRef>
              <c:f>Sheet3!$M$6:$S$6</c:f>
              <c:numCache>
                <c:formatCode>General</c:formatCode>
                <c:ptCount val="7"/>
                <c:pt idx="0">
                  <c:v>0.08</c:v>
                </c:pt>
                <c:pt idx="1">
                  <c:v>5.7433333333333332</c:v>
                </c:pt>
                <c:pt idx="2">
                  <c:v>10.413333333333332</c:v>
                </c:pt>
                <c:pt idx="3">
                  <c:v>13.853333333333333</c:v>
                </c:pt>
                <c:pt idx="4">
                  <c:v>10.286666666666667</c:v>
                </c:pt>
                <c:pt idx="5">
                  <c:v>20.62</c:v>
                </c:pt>
                <c:pt idx="6">
                  <c:v>26.053333333333331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F90-4672-AB24-43AE00EE91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2796767"/>
        <c:axId val="1142817887"/>
      </c:lineChart>
      <c:catAx>
        <c:axId val="1142796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42817887"/>
        <c:crosses val="autoZero"/>
        <c:auto val="1"/>
        <c:lblAlgn val="ctr"/>
        <c:lblOffset val="100"/>
        <c:noMultiLvlLbl val="0"/>
      </c:catAx>
      <c:valAx>
        <c:axId val="114281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42796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ja-JP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149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04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70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49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44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4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779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50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32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04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744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C9E31-9BED-47E9-8886-05681D36B86E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6778F-4506-4EA9-8626-E9F0E679AE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411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D1B26F0-D87D-4404-A567-F1E1B4857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0" y="0"/>
            <a:ext cx="12192000" cy="8150642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1EEF73A-9DE1-4279-874B-41708D2E1C8B}"/>
              </a:ext>
            </a:extLst>
          </p:cNvPr>
          <p:cNvSpPr txBox="1"/>
          <p:nvPr/>
        </p:nvSpPr>
        <p:spPr>
          <a:xfrm>
            <a:off x="1361641" y="2044006"/>
            <a:ext cx="6420718" cy="3139321"/>
          </a:xfrm>
          <a:prstGeom prst="rect">
            <a:avLst/>
          </a:prstGeom>
          <a:solidFill>
            <a:schemeClr val="lt1">
              <a:alpha val="6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ja-JP" altLang="en-US" sz="5400" dirty="0">
                <a:solidFill>
                  <a:schemeClr val="tx1"/>
                </a:solidFill>
                <a:latin typeface="+mn-ea"/>
              </a:rPr>
              <a:t>農業技術研究会案</a:t>
            </a:r>
            <a:endParaRPr lang="en-US" altLang="ja-JP" sz="5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Agricultural Technology Research Association</a:t>
            </a:r>
          </a:p>
          <a:p>
            <a:pPr algn="ctr"/>
            <a:r>
              <a:rPr lang="ja-JP" altLang="en-US" sz="9600" dirty="0">
                <a:solidFill>
                  <a:schemeClr val="tx1"/>
                </a:solidFill>
                <a:latin typeface="ＭＳ Ｐ明朝" panose="02020600040205080304" pitchFamily="18" charset="-128"/>
                <a:ea typeface="ＭＳ Ｐ明朝" panose="02020600040205080304" pitchFamily="18" charset="-128"/>
              </a:rPr>
              <a:t>愛川農園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4D20DB-2E3E-4958-B490-6A49737A11C6}"/>
              </a:ext>
            </a:extLst>
          </p:cNvPr>
          <p:cNvSpPr txBox="1"/>
          <p:nvPr/>
        </p:nvSpPr>
        <p:spPr>
          <a:xfrm>
            <a:off x="8401279" y="6228609"/>
            <a:ext cx="814647" cy="369332"/>
          </a:xfrm>
          <a:prstGeom prst="rect">
            <a:avLst/>
          </a:prstGeom>
          <a:solidFill>
            <a:schemeClr val="lt1">
              <a:alpha val="6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ja-JP" dirty="0">
                <a:latin typeface="ＭＳ Ｐ明朝" panose="02020600040205080304" pitchFamily="18" charset="-128"/>
                <a:ea typeface="ＭＳ Ｐ明朝" panose="02020600040205080304" pitchFamily="18" charset="-128"/>
              </a:rPr>
              <a:t>, 2024</a:t>
            </a:r>
            <a:endParaRPr lang="en-US" altLang="ja-JP" sz="5400" dirty="0">
              <a:solidFill>
                <a:schemeClr val="tx1"/>
              </a:solidFill>
              <a:latin typeface="ＭＳ Ｐ明朝" panose="02020600040205080304" pitchFamily="18" charset="-128"/>
              <a:ea typeface="ＭＳ Ｐ明朝" panose="02020600040205080304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6C48BF8-5792-46ED-BF04-8157BE3E76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480" y="119711"/>
            <a:ext cx="1317932" cy="11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6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925A6E-1BA3-1770-4343-A39070C1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５９期　計画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93032B-0F92-6DC1-A943-AABFB6CBA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b="1" dirty="0"/>
              <a:t>５８期の結果と考察</a:t>
            </a:r>
            <a:endParaRPr kumimoji="1" lang="en-US" altLang="ja-JP" b="1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成功要因をモデル化（要因の考察）</a:t>
            </a:r>
            <a:endParaRPr kumimoji="1"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↓↓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kumimoji="1" lang="ja-JP" altLang="en-US" b="1" dirty="0"/>
              <a:t>５８期から引き続き実験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品種選抜（品種間収量と収穫期）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多段栽培（安全性、定員増加、多品種栽培）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b="1" dirty="0"/>
              <a:t>５９期取り組み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夏イチゴ生育実験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523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B35FE2-3166-C704-901B-5B225F95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５８期：イチゴ結果まとめ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9ABF0F-A584-754B-CE2F-1667C0169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kumimoji="1" lang="ja-JP" altLang="en-US" dirty="0"/>
              <a:t>収穫期間：</a:t>
            </a:r>
            <a:r>
              <a:rPr lang="ja-JP" altLang="en-US" dirty="0"/>
              <a:t>１０</a:t>
            </a:r>
            <a:r>
              <a:rPr lang="en-US" altLang="ja-JP" dirty="0"/>
              <a:t>/</a:t>
            </a:r>
            <a:r>
              <a:rPr lang="ja-JP" altLang="en-US" dirty="0"/>
              <a:t>２５～６</a:t>
            </a:r>
            <a:r>
              <a:rPr lang="en-US" altLang="ja-JP" dirty="0"/>
              <a:t>/</a:t>
            </a:r>
            <a:r>
              <a:rPr lang="ja-JP" altLang="en-US" dirty="0"/>
              <a:t>１１</a:t>
            </a:r>
            <a:endParaRPr lang="en-US" altLang="ja-JP" dirty="0"/>
          </a:p>
          <a:p>
            <a:pPr>
              <a:lnSpc>
                <a:spcPct val="100000"/>
              </a:lnSpc>
            </a:pPr>
            <a:r>
              <a:rPr lang="ja-JP" altLang="en-US" dirty="0"/>
              <a:t>株数：３２５０株</a:t>
            </a:r>
            <a:endParaRPr lang="en-US" altLang="ja-JP" dirty="0"/>
          </a:p>
          <a:p>
            <a:pPr>
              <a:lnSpc>
                <a:spcPct val="100000"/>
              </a:lnSpc>
            </a:pPr>
            <a:r>
              <a:rPr kumimoji="1" lang="ja-JP" altLang="en-US" dirty="0">
                <a:highlight>
                  <a:srgbClr val="FFFF00"/>
                </a:highlight>
              </a:rPr>
              <a:t>収穫量：５６８ｋｇ</a:t>
            </a:r>
            <a:endParaRPr kumimoji="1" lang="en-US" altLang="ja-JP" dirty="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ja-JP" altLang="en-US" dirty="0"/>
              <a:t>正規品：３４０ｋｇ</a:t>
            </a:r>
            <a:endParaRPr lang="en-US" altLang="ja-JP" dirty="0"/>
          </a:p>
          <a:p>
            <a:pPr>
              <a:lnSpc>
                <a:spcPct val="100000"/>
              </a:lnSpc>
            </a:pPr>
            <a:r>
              <a:rPr kumimoji="1" lang="ja-JP" altLang="en-US" dirty="0"/>
              <a:t>加工品：２２８ｋｇ</a:t>
            </a:r>
            <a:endParaRPr kumimoji="1" lang="en-US" altLang="ja-JP" dirty="0"/>
          </a:p>
          <a:p>
            <a:pPr>
              <a:lnSpc>
                <a:spcPct val="100000"/>
              </a:lnSpc>
            </a:pPr>
            <a:r>
              <a:rPr lang="ja-JP" altLang="en-US" dirty="0">
                <a:highlight>
                  <a:srgbClr val="FFFF00"/>
                </a:highlight>
              </a:rPr>
              <a:t>販売個数：２３９９</a:t>
            </a:r>
            <a:r>
              <a:rPr lang="en-US" altLang="ja-JP" dirty="0">
                <a:highlight>
                  <a:srgbClr val="FFFF00"/>
                </a:highlight>
              </a:rPr>
              <a:t>P</a:t>
            </a:r>
          </a:p>
          <a:p>
            <a:pPr>
              <a:lnSpc>
                <a:spcPct val="100000"/>
              </a:lnSpc>
            </a:pPr>
            <a:r>
              <a:rPr kumimoji="1" lang="ja-JP" altLang="en-US" dirty="0"/>
              <a:t>概算売上：６０～</a:t>
            </a:r>
            <a:r>
              <a:rPr lang="ja-JP" altLang="en-US" dirty="0"/>
              <a:t>７２万円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（単価２５０～３００円）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8345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761C95-5343-9BB9-A64D-459CDA3B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５８期の結果</a:t>
            </a:r>
            <a:r>
              <a:rPr lang="ja-JP" altLang="en-US" dirty="0"/>
              <a:t>と考察から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41DD03-3A40-67B6-AE7C-88FEBFA35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b="1" dirty="0"/>
              <a:t>成功要因をモデル化（要因の考察）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 dirty="0"/>
              <a:t>★目標値：砂栽培イチゴ１株収量２５０ｇ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※</a:t>
            </a:r>
            <a:r>
              <a:rPr kumimoji="1" lang="ja-JP" altLang="en-US" dirty="0"/>
              <a:t>２５０～３００ｇ標準（良好４００ｇ）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↓↓</a:t>
            </a:r>
            <a:endParaRPr lang="en-US" altLang="ja-JP" dirty="0"/>
          </a:p>
          <a:p>
            <a:pPr marL="0" indent="0" algn="ctr">
              <a:buNone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品種（かおり野、よつぼし、やよいひめ、　紅ほっぺ）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管理能力（作業レベル、人数、栽培環境は同じ）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7860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D47259-EA0D-8866-6348-7CBDABF51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５８期：品種間データ</a:t>
            </a:r>
          </a:p>
        </p:txBody>
      </p:sp>
      <p:graphicFrame>
        <p:nvGraphicFramePr>
          <p:cNvPr id="10" name="コンテンツ プレースホルダー 9">
            <a:extLst>
              <a:ext uri="{FF2B5EF4-FFF2-40B4-BE49-F238E27FC236}">
                <a16:creationId xmlns:a16="http://schemas.microsoft.com/office/drawing/2014/main" id="{5F18839E-233F-CE9D-7882-FB4504C40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607952"/>
              </p:ext>
            </p:extLst>
          </p:nvPr>
        </p:nvGraphicFramePr>
        <p:xfrm>
          <a:off x="0" y="1690688"/>
          <a:ext cx="9144000" cy="4307772"/>
        </p:xfrm>
        <a:graphic>
          <a:graphicData uri="http://schemas.openxmlformats.org/drawingml/2006/table">
            <a:tbl>
              <a:tblPr/>
              <a:tblGrid>
                <a:gridCol w="1133708">
                  <a:extLst>
                    <a:ext uri="{9D8B030D-6E8A-4147-A177-3AD203B41FA5}">
                      <a16:colId xmlns:a16="http://schemas.microsoft.com/office/drawing/2014/main" val="659230616"/>
                    </a:ext>
                  </a:extLst>
                </a:gridCol>
                <a:gridCol w="1505414">
                  <a:extLst>
                    <a:ext uri="{9D8B030D-6E8A-4147-A177-3AD203B41FA5}">
                      <a16:colId xmlns:a16="http://schemas.microsoft.com/office/drawing/2014/main" val="1437223555"/>
                    </a:ext>
                  </a:extLst>
                </a:gridCol>
                <a:gridCol w="1505414">
                  <a:extLst>
                    <a:ext uri="{9D8B030D-6E8A-4147-A177-3AD203B41FA5}">
                      <a16:colId xmlns:a16="http://schemas.microsoft.com/office/drawing/2014/main" val="3216494441"/>
                    </a:ext>
                  </a:extLst>
                </a:gridCol>
                <a:gridCol w="1505414">
                  <a:extLst>
                    <a:ext uri="{9D8B030D-6E8A-4147-A177-3AD203B41FA5}">
                      <a16:colId xmlns:a16="http://schemas.microsoft.com/office/drawing/2014/main" val="3513810384"/>
                    </a:ext>
                  </a:extLst>
                </a:gridCol>
                <a:gridCol w="1598342">
                  <a:extLst>
                    <a:ext uri="{9D8B030D-6E8A-4147-A177-3AD203B41FA5}">
                      <a16:colId xmlns:a16="http://schemas.microsoft.com/office/drawing/2014/main" val="2127243778"/>
                    </a:ext>
                  </a:extLst>
                </a:gridCol>
                <a:gridCol w="947854">
                  <a:extLst>
                    <a:ext uri="{9D8B030D-6E8A-4147-A177-3AD203B41FA5}">
                      <a16:colId xmlns:a16="http://schemas.microsoft.com/office/drawing/2014/main" val="1987283982"/>
                    </a:ext>
                  </a:extLst>
                </a:gridCol>
                <a:gridCol w="947854">
                  <a:extLst>
                    <a:ext uri="{9D8B030D-6E8A-4147-A177-3AD203B41FA5}">
                      <a16:colId xmlns:a16="http://schemas.microsoft.com/office/drawing/2014/main" val="2434160769"/>
                    </a:ext>
                  </a:extLst>
                </a:gridCol>
              </a:tblGrid>
              <a:tr h="615396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品種名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正規品（</a:t>
                      </a:r>
                      <a:r>
                        <a:rPr lang="en-US" altLang="zh-TW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k</a:t>
                      </a:r>
                      <a:r>
                        <a:rPr lang="zh-TW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ｇ）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収穫量（</a:t>
                      </a:r>
                      <a:r>
                        <a:rPr lang="en-US" altLang="zh-TW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k</a:t>
                      </a:r>
                      <a:r>
                        <a:rPr lang="zh-TW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ｇ）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</a:t>
                      </a:r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株収量（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ｇ）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歩留まり（％）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パック数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株数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205254"/>
                  </a:ext>
                </a:extLst>
              </a:tr>
              <a:tr h="615396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かおり野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42.16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61.09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32964"/>
                  </a:ext>
                </a:extLst>
              </a:tr>
              <a:tr h="615396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よつぼし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45.15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85.88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239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574516"/>
                  </a:ext>
                </a:extLst>
              </a:tr>
              <a:tr h="615396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やよいひめ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65.67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112.04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700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07190"/>
                  </a:ext>
                </a:extLst>
              </a:tr>
              <a:tr h="615396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紅ほっぺ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181.15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292.67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1,231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1,830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094744"/>
                  </a:ext>
                </a:extLst>
              </a:tr>
              <a:tr h="615396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平均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83.53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137.92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182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044669"/>
                  </a:ext>
                </a:extLst>
              </a:tr>
              <a:tr h="615396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中央値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55.41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98.96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188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57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3E4339-54EB-70CF-8E4D-244E9242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品種間データから考察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C642B5-1AEB-E9BB-C32A-2C483DD6C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ja-JP" altLang="en-US" dirty="0"/>
              <a:t>かおり野</a:t>
            </a:r>
            <a:r>
              <a:rPr kumimoji="1" lang="ja-JP" altLang="en-US" dirty="0"/>
              <a:t>：歩留まりは良いが低収量</a:t>
            </a:r>
            <a:endParaRPr lang="en-US" altLang="ja-JP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ja-JP" altLang="en-US" dirty="0"/>
              <a:t>→</a:t>
            </a:r>
            <a:r>
              <a:rPr kumimoji="1" lang="en-US" altLang="ja-JP" dirty="0"/>
              <a:t>【</a:t>
            </a:r>
            <a:r>
              <a:rPr kumimoji="1" lang="ja-JP" altLang="en-US" dirty="0"/>
              <a:t>品質重視</a:t>
            </a:r>
            <a:r>
              <a:rPr kumimoji="1" lang="en-US" altLang="ja-JP" dirty="0"/>
              <a:t>】</a:t>
            </a:r>
          </a:p>
          <a:p>
            <a:pPr>
              <a:lnSpc>
                <a:spcPct val="150000"/>
              </a:lnSpc>
            </a:pPr>
            <a:r>
              <a:rPr lang="ja-JP" altLang="en-US" dirty="0"/>
              <a:t>よつぼし：</a:t>
            </a:r>
            <a:r>
              <a:rPr lang="en-US" altLang="ja-JP" dirty="0"/>
              <a:t>1</a:t>
            </a:r>
            <a:r>
              <a:rPr lang="ja-JP" altLang="en-US" dirty="0"/>
              <a:t>株収量は高いが低い歩留まり</a:t>
            </a:r>
            <a:endParaRPr lang="en-US" altLang="ja-JP" dirty="0"/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dirty="0"/>
              <a:t>→</a:t>
            </a:r>
            <a:r>
              <a:rPr lang="en-US" altLang="ja-JP" dirty="0"/>
              <a:t>【</a:t>
            </a:r>
            <a:r>
              <a:rPr lang="ja-JP" altLang="en-US" dirty="0"/>
              <a:t>収量重視</a:t>
            </a:r>
            <a:r>
              <a:rPr lang="en-US" altLang="ja-JP" dirty="0"/>
              <a:t>】</a:t>
            </a:r>
          </a:p>
          <a:p>
            <a:pPr>
              <a:lnSpc>
                <a:spcPct val="150000"/>
              </a:lnSpc>
            </a:pPr>
            <a:r>
              <a:rPr lang="ja-JP" altLang="en-US" dirty="0"/>
              <a:t>他</a:t>
            </a:r>
            <a:r>
              <a:rPr lang="en-US" altLang="ja-JP" dirty="0"/>
              <a:t>2</a:t>
            </a:r>
            <a:r>
              <a:rPr lang="ja-JP" altLang="en-US" dirty="0"/>
              <a:t>品種：可も不可もない</a:t>
            </a:r>
            <a:endParaRPr lang="en-US" altLang="ja-JP" dirty="0"/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dirty="0">
                <a:solidFill>
                  <a:srgbClr val="FF0000"/>
                </a:solidFill>
              </a:rPr>
              <a:t>上記の点で有意差があるか判定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519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353B0-0012-C83D-87A9-0C1613FD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品種間データ</a:t>
            </a:r>
            <a:r>
              <a:rPr lang="ja-JP" altLang="en-US" dirty="0"/>
              <a:t>：収穫量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18161011-4137-D9EC-7A76-843BF8E8D2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648330"/>
              </p:ext>
            </p:extLst>
          </p:nvPr>
        </p:nvGraphicFramePr>
        <p:xfrm>
          <a:off x="0" y="1472184"/>
          <a:ext cx="9144000" cy="5385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タイトル 1">
            <a:extLst>
              <a:ext uri="{FF2B5EF4-FFF2-40B4-BE49-F238E27FC236}">
                <a16:creationId xmlns:a16="http://schemas.microsoft.com/office/drawing/2014/main" id="{32F440D5-2D3E-7022-5D4E-EB47867418E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highlight>
                  <a:srgbClr val="FFFF00"/>
                </a:highlight>
              </a:rPr>
              <a:t>Tukey</a:t>
            </a:r>
            <a:r>
              <a:rPr lang="ja-JP" altLang="en-US" dirty="0">
                <a:highlight>
                  <a:srgbClr val="FFFF00"/>
                </a:highlight>
              </a:rPr>
              <a:t>の多重比較検定により、　　すべての品種間で収穫量に有意差が認められました（</a:t>
            </a:r>
            <a:r>
              <a:rPr lang="en-US" altLang="ja-JP" dirty="0">
                <a:highlight>
                  <a:srgbClr val="FFFF00"/>
                </a:highlight>
              </a:rPr>
              <a:t>p &lt; 0.01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9969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72A3F-9C30-8A8F-1D71-130BCFF4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65126"/>
            <a:ext cx="8167878" cy="1325563"/>
          </a:xfrm>
        </p:spPr>
        <p:txBody>
          <a:bodyPr/>
          <a:lstStyle/>
          <a:p>
            <a:r>
              <a:rPr kumimoji="1" lang="ja-JP" altLang="en-US" dirty="0"/>
              <a:t>月別データ（品種間収穫量㎏）</a:t>
            </a:r>
          </a:p>
        </p:txBody>
      </p:sp>
      <p:graphicFrame>
        <p:nvGraphicFramePr>
          <p:cNvPr id="8" name="コンテンツ プレースホルダー 7">
            <a:extLst>
              <a:ext uri="{FF2B5EF4-FFF2-40B4-BE49-F238E27FC236}">
                <a16:creationId xmlns:a16="http://schemas.microsoft.com/office/drawing/2014/main" id="{425CD9B2-C1D3-1B19-54FE-A846E020C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63806"/>
              </p:ext>
            </p:extLst>
          </p:nvPr>
        </p:nvGraphicFramePr>
        <p:xfrm>
          <a:off x="0" y="1380744"/>
          <a:ext cx="9144000" cy="5477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7467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8C5AA-C312-FC3E-38D6-2E068FCD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月別データ（紅ほっぺ抜き）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4F3D32BA-0477-AB45-3E9E-FC5B73E333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291089"/>
              </p:ext>
            </p:extLst>
          </p:nvPr>
        </p:nvGraphicFramePr>
        <p:xfrm>
          <a:off x="0" y="1690690"/>
          <a:ext cx="9144000" cy="5167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71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C3264-8A6B-25CF-2EF2-1FDC1998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企業間データ</a:t>
            </a:r>
          </a:p>
        </p:txBody>
      </p:sp>
      <p:graphicFrame>
        <p:nvGraphicFramePr>
          <p:cNvPr id="10" name="コンテンツ プレースホルダー 9">
            <a:extLst>
              <a:ext uri="{FF2B5EF4-FFF2-40B4-BE49-F238E27FC236}">
                <a16:creationId xmlns:a16="http://schemas.microsoft.com/office/drawing/2014/main" id="{494CC8C7-BA59-63AC-564C-95A521B4AE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23686"/>
              </p:ext>
            </p:extLst>
          </p:nvPr>
        </p:nvGraphicFramePr>
        <p:xfrm>
          <a:off x="0" y="1690689"/>
          <a:ext cx="9143998" cy="5167314"/>
        </p:xfrm>
        <a:graphic>
          <a:graphicData uri="http://schemas.openxmlformats.org/drawingml/2006/table">
            <a:tbl>
              <a:tblPr/>
              <a:tblGrid>
                <a:gridCol w="1319018">
                  <a:extLst>
                    <a:ext uri="{9D8B030D-6E8A-4147-A177-3AD203B41FA5}">
                      <a16:colId xmlns:a16="http://schemas.microsoft.com/office/drawing/2014/main" val="3856753344"/>
                    </a:ext>
                  </a:extLst>
                </a:gridCol>
                <a:gridCol w="1532912">
                  <a:extLst>
                    <a:ext uri="{9D8B030D-6E8A-4147-A177-3AD203B41FA5}">
                      <a16:colId xmlns:a16="http://schemas.microsoft.com/office/drawing/2014/main" val="1914537478"/>
                    </a:ext>
                  </a:extLst>
                </a:gridCol>
                <a:gridCol w="1532912">
                  <a:extLst>
                    <a:ext uri="{9D8B030D-6E8A-4147-A177-3AD203B41FA5}">
                      <a16:colId xmlns:a16="http://schemas.microsoft.com/office/drawing/2014/main" val="1522455122"/>
                    </a:ext>
                  </a:extLst>
                </a:gridCol>
                <a:gridCol w="1532912">
                  <a:extLst>
                    <a:ext uri="{9D8B030D-6E8A-4147-A177-3AD203B41FA5}">
                      <a16:colId xmlns:a16="http://schemas.microsoft.com/office/drawing/2014/main" val="467213363"/>
                    </a:ext>
                  </a:extLst>
                </a:gridCol>
                <a:gridCol w="1532912">
                  <a:extLst>
                    <a:ext uri="{9D8B030D-6E8A-4147-A177-3AD203B41FA5}">
                      <a16:colId xmlns:a16="http://schemas.microsoft.com/office/drawing/2014/main" val="3136858515"/>
                    </a:ext>
                  </a:extLst>
                </a:gridCol>
                <a:gridCol w="909052">
                  <a:extLst>
                    <a:ext uri="{9D8B030D-6E8A-4147-A177-3AD203B41FA5}">
                      <a16:colId xmlns:a16="http://schemas.microsoft.com/office/drawing/2014/main" val="1752322987"/>
                    </a:ext>
                  </a:extLst>
                </a:gridCol>
                <a:gridCol w="784280">
                  <a:extLst>
                    <a:ext uri="{9D8B030D-6E8A-4147-A177-3AD203B41FA5}">
                      <a16:colId xmlns:a16="http://schemas.microsoft.com/office/drawing/2014/main" val="2591923429"/>
                    </a:ext>
                  </a:extLst>
                </a:gridCol>
              </a:tblGrid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企業名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正規品（ｋｇ）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収穫量（ｋｇ）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１株収量（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ｇ）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歩留まり（％）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パック数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株数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674636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マルテー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393334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三和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016502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QB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949475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東レ（計）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506928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Adobe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191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994914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バリュ（計）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935057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ソリトン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736499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NaITO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014344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岡部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102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856093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ケイアイ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355655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富士機械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267605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慈誠会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139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366248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富士機材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41379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昭和女子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598306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日建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261736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平均値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824392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中央値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317868"/>
                  </a:ext>
                </a:extLst>
              </a:tr>
            </a:tbl>
          </a:graphicData>
        </a:graphic>
      </p:graphicFrame>
      <p:sp>
        <p:nvSpPr>
          <p:cNvPr id="11" name="タイトル 1">
            <a:extLst>
              <a:ext uri="{FF2B5EF4-FFF2-40B4-BE49-F238E27FC236}">
                <a16:creationId xmlns:a16="http://schemas.microsoft.com/office/drawing/2014/main" id="{78594E4F-7CAD-8145-F5A3-D2A0F3DC54E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highlight>
                  <a:srgbClr val="FFFF00"/>
                </a:highlight>
              </a:rPr>
              <a:t>黄色のマーク：収量が高い</a:t>
            </a:r>
            <a:endParaRPr lang="en-US" altLang="ja-JP" dirty="0">
              <a:highlight>
                <a:srgbClr val="FFFF00"/>
              </a:highlight>
            </a:endParaRPr>
          </a:p>
          <a:p>
            <a:r>
              <a:rPr lang="ja-JP" altLang="en-US" dirty="0">
                <a:highlight>
                  <a:srgbClr val="FFFF00"/>
                </a:highlight>
              </a:rPr>
              <a:t>水色のマーク：収量が低い</a:t>
            </a:r>
          </a:p>
        </p:txBody>
      </p:sp>
    </p:spTree>
    <p:extLst>
      <p:ext uri="{BB962C8B-B14F-4D97-AF65-F5344CB8AC3E}">
        <p14:creationId xmlns:p14="http://schemas.microsoft.com/office/powerpoint/2010/main" val="280179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76B60C-036F-7FEB-0736-2DE93950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データの分析結果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34EA6D-B484-A4BA-AB91-BD60B6415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kumimoji="1" lang="ja-JP" altLang="en-US" dirty="0"/>
              <a:t>品種選抜：収量</a:t>
            </a:r>
            <a:r>
              <a:rPr lang="ja-JP" altLang="en-US" dirty="0"/>
              <a:t>＝</a:t>
            </a:r>
            <a:r>
              <a:rPr kumimoji="1" lang="ja-JP" altLang="en-US" dirty="0"/>
              <a:t>よつぼし・品質＝かおり野</a:t>
            </a:r>
            <a:endParaRPr kumimoji="1" lang="en-US" altLang="ja-JP" dirty="0"/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dirty="0"/>
              <a:t>月別→３月までに多収がよい（やよいひめ</a:t>
            </a:r>
            <a:r>
              <a:rPr lang="en-US" altLang="ja-JP" dirty="0"/>
              <a:t>×</a:t>
            </a:r>
            <a:r>
              <a:rPr lang="ja-JP" altLang="en-US" dirty="0"/>
              <a:t>）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選択すべき品種はかおり野とよつぼし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>
              <a:lnSpc>
                <a:spcPct val="100000"/>
              </a:lnSpc>
            </a:pPr>
            <a:r>
              <a:rPr lang="ja-JP" altLang="en-US" dirty="0"/>
              <a:t>生育環境と栽培管理（溶液）に差はないので、</a:t>
            </a:r>
            <a:endParaRPr lang="en-US" altLang="ja-JP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ja-JP" dirty="0"/>
              <a:t>1</a:t>
            </a:r>
            <a:r>
              <a:rPr lang="ja-JP" altLang="en-US" dirty="0"/>
              <a:t>株収量の高い企業をモデルに横展開が正解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→作業指示</a:t>
            </a:r>
            <a:r>
              <a:rPr kumimoji="1" lang="en-US" altLang="ja-JP" dirty="0"/>
              <a:t>/</a:t>
            </a:r>
            <a:r>
              <a:rPr kumimoji="1" lang="ja-JP" altLang="en-US" dirty="0"/>
              <a:t>個人別作業レベルが要因？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9929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DF0F8F-68B2-DC9E-4824-9F0825B0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企業が学ぶ作業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35602C5-3C17-659B-7A62-AE866912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754709"/>
            <a:ext cx="7616953" cy="502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82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AF94D-4832-6CBD-AEBF-6B5C85A77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考察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94A3B0-0929-1AD9-6BB4-36F23B91B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59</a:t>
            </a:r>
            <a:r>
              <a:rPr kumimoji="1" lang="ja-JP" altLang="en-US" dirty="0"/>
              <a:t>期も同様に栽培管理の条件は変更なし　　</a:t>
            </a:r>
            <a:r>
              <a:rPr lang="ja-JP" altLang="en-US" dirty="0"/>
              <a:t>品種と企業の</a:t>
            </a:r>
            <a:r>
              <a:rPr lang="en-US" altLang="ja-JP" dirty="0"/>
              <a:t>2</a:t>
            </a:r>
            <a:r>
              <a:rPr lang="ja-JP" altLang="en-US" dirty="0"/>
              <a:t>軸でデータを取得する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全体の平均が上がれば企業レベルが、収量と品質の決定要因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品種間データが</a:t>
            </a:r>
            <a:r>
              <a:rPr lang="en-US" altLang="ja-JP" dirty="0"/>
              <a:t>58</a:t>
            </a:r>
            <a:r>
              <a:rPr lang="ja-JP" altLang="en-US" dirty="0"/>
              <a:t>期と差がなければ品種の特徴と関連付けられる（ばらつきの差）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75745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B51BE7-0617-AC9D-E4FB-FA77FC07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多段栽培：安全性、定員増加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73357A8-AE8B-2604-84AE-374AD9E7F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8377"/>
          <a:stretch/>
        </p:blipFill>
        <p:spPr>
          <a:xfrm>
            <a:off x="3205" y="2305206"/>
            <a:ext cx="9134742" cy="3327498"/>
          </a:xfr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57C880A-D69D-1F27-8C1B-ACABA05A4E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65498" y="2073964"/>
            <a:ext cx="5255902" cy="394192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3256CCA-837B-0376-8B59-0FE1419FD6C1}"/>
              </a:ext>
            </a:extLst>
          </p:cNvPr>
          <p:cNvSpPr/>
          <p:nvPr/>
        </p:nvSpPr>
        <p:spPr>
          <a:xfrm>
            <a:off x="6094382" y="3739896"/>
            <a:ext cx="1777754" cy="4594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1F4FA8B-08DC-5579-76A1-8D17CE267944}"/>
              </a:ext>
            </a:extLst>
          </p:cNvPr>
          <p:cNvCxnSpPr/>
          <p:nvPr/>
        </p:nvCxnSpPr>
        <p:spPr>
          <a:xfrm>
            <a:off x="6119645" y="4192657"/>
            <a:ext cx="0" cy="127172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C1C1643-2F2F-DA89-CF57-6A95A09FBD0F}"/>
              </a:ext>
            </a:extLst>
          </p:cNvPr>
          <p:cNvSpPr/>
          <p:nvPr/>
        </p:nvSpPr>
        <p:spPr>
          <a:xfrm>
            <a:off x="6067490" y="2474829"/>
            <a:ext cx="584815" cy="4594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8AB19E2-271C-385D-383C-59987499FF54}"/>
              </a:ext>
            </a:extLst>
          </p:cNvPr>
          <p:cNvSpPr/>
          <p:nvPr/>
        </p:nvSpPr>
        <p:spPr>
          <a:xfrm>
            <a:off x="6362670" y="3010817"/>
            <a:ext cx="352888" cy="3262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37466E1-8065-FD31-7BA3-E7D45D6FF168}"/>
              </a:ext>
            </a:extLst>
          </p:cNvPr>
          <p:cNvCxnSpPr>
            <a:cxnSpLocks/>
          </p:cNvCxnSpPr>
          <p:nvPr/>
        </p:nvCxnSpPr>
        <p:spPr>
          <a:xfrm>
            <a:off x="5494878" y="4036188"/>
            <a:ext cx="285195" cy="66249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C92B3272-A77A-C0DE-3C8D-53D345D66DB4}"/>
              </a:ext>
            </a:extLst>
          </p:cNvPr>
          <p:cNvSpPr/>
          <p:nvPr/>
        </p:nvSpPr>
        <p:spPr>
          <a:xfrm rot="3472727">
            <a:off x="5613659" y="2977391"/>
            <a:ext cx="519261" cy="124633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F19F948-A6D6-916A-39D7-DABFF4F101B9}"/>
              </a:ext>
            </a:extLst>
          </p:cNvPr>
          <p:cNvCxnSpPr>
            <a:cxnSpLocks/>
          </p:cNvCxnSpPr>
          <p:nvPr/>
        </p:nvCxnSpPr>
        <p:spPr>
          <a:xfrm>
            <a:off x="5776645" y="4698685"/>
            <a:ext cx="28691" cy="69911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C7C5AAA-D57C-DE1D-E96B-4E9A5CA1CE3C}"/>
              </a:ext>
            </a:extLst>
          </p:cNvPr>
          <p:cNvCxnSpPr>
            <a:cxnSpLocks/>
          </p:cNvCxnSpPr>
          <p:nvPr/>
        </p:nvCxnSpPr>
        <p:spPr>
          <a:xfrm>
            <a:off x="6156166" y="3452149"/>
            <a:ext cx="559392" cy="13068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6B4E12F-5CDF-6DAD-A313-0E62CB823847}"/>
              </a:ext>
            </a:extLst>
          </p:cNvPr>
          <p:cNvCxnSpPr>
            <a:cxnSpLocks/>
          </p:cNvCxnSpPr>
          <p:nvPr/>
        </p:nvCxnSpPr>
        <p:spPr>
          <a:xfrm>
            <a:off x="6715558" y="3593899"/>
            <a:ext cx="480862" cy="4816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涙形 24">
            <a:extLst>
              <a:ext uri="{FF2B5EF4-FFF2-40B4-BE49-F238E27FC236}">
                <a16:creationId xmlns:a16="http://schemas.microsoft.com/office/drawing/2014/main" id="{9F3431A9-E784-1615-7960-3D5AEBA029F7}"/>
              </a:ext>
            </a:extLst>
          </p:cNvPr>
          <p:cNvSpPr/>
          <p:nvPr/>
        </p:nvSpPr>
        <p:spPr>
          <a:xfrm rot="8143825">
            <a:off x="7311371" y="3336795"/>
            <a:ext cx="352888" cy="326255"/>
          </a:xfrm>
          <a:prstGeom prst="teardrop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02463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3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3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3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4098A4-F45C-246E-B631-487DE0E1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多段栽培：安全性、定員増加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D31662B-C43B-BED9-CE2C-A7CB07842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2124"/>
          <a:stretch/>
        </p:blipFill>
        <p:spPr>
          <a:xfrm>
            <a:off x="-1" y="1834952"/>
            <a:ext cx="9157511" cy="309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99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2C912-C569-C358-D198-198D52D6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多段栽培：多品種栽培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255690-425E-7A98-DE9E-0FAD0BA85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BL</a:t>
            </a:r>
            <a:r>
              <a:rPr kumimoji="1" lang="ja-JP" altLang="en-US" dirty="0"/>
              <a:t>に適用する農薬が少ない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イチゴとの栽培のカギは防除</a:t>
            </a:r>
            <a:endParaRPr lang="en-US" altLang="ja-JP" dirty="0"/>
          </a:p>
          <a:p>
            <a:r>
              <a:rPr lang="ja-JP" altLang="en-US" dirty="0"/>
              <a:t>有機</a:t>
            </a:r>
            <a:r>
              <a:rPr lang="en-US" altLang="ja-JP" dirty="0"/>
              <a:t>JAS</a:t>
            </a:r>
            <a:r>
              <a:rPr lang="ja-JP" altLang="en-US" dirty="0"/>
              <a:t>資材と捕虫を手の多さでまかなう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農薬に頼らないイチゴ栽培を売りにする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9063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D7EAC3-2187-31FB-210F-BEE2A8A6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備品費用</a:t>
            </a:r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06262F40-E9DF-EF51-7D7E-824E3037F3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8440953"/>
              </p:ext>
            </p:extLst>
          </p:nvPr>
        </p:nvGraphicFramePr>
        <p:xfrm>
          <a:off x="384047" y="1536193"/>
          <a:ext cx="8385049" cy="5311641"/>
        </p:xfrm>
        <a:graphic>
          <a:graphicData uri="http://schemas.openxmlformats.org/drawingml/2006/table">
            <a:tbl>
              <a:tblPr/>
              <a:tblGrid>
                <a:gridCol w="1336215">
                  <a:extLst>
                    <a:ext uri="{9D8B030D-6E8A-4147-A177-3AD203B41FA5}">
                      <a16:colId xmlns:a16="http://schemas.microsoft.com/office/drawing/2014/main" val="2807993169"/>
                    </a:ext>
                  </a:extLst>
                </a:gridCol>
                <a:gridCol w="3113746">
                  <a:extLst>
                    <a:ext uri="{9D8B030D-6E8A-4147-A177-3AD203B41FA5}">
                      <a16:colId xmlns:a16="http://schemas.microsoft.com/office/drawing/2014/main" val="4155739799"/>
                    </a:ext>
                  </a:extLst>
                </a:gridCol>
                <a:gridCol w="441318">
                  <a:extLst>
                    <a:ext uri="{9D8B030D-6E8A-4147-A177-3AD203B41FA5}">
                      <a16:colId xmlns:a16="http://schemas.microsoft.com/office/drawing/2014/main" val="271191681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1755537350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4047797131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4014822148"/>
                    </a:ext>
                  </a:extLst>
                </a:gridCol>
              </a:tblGrid>
              <a:tr h="45255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備品名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規格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本数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価格（千円）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備考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経費（千円）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655295"/>
                  </a:ext>
                </a:extLst>
              </a:tr>
              <a:tr h="366592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単管パイプ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2.5m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54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0.0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052063"/>
                  </a:ext>
                </a:extLst>
              </a:tr>
              <a:tr h="366592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2m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40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0.0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342997"/>
                  </a:ext>
                </a:extLst>
              </a:tr>
              <a:tr h="366592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1m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30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0.0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761616"/>
                  </a:ext>
                </a:extLst>
              </a:tr>
              <a:tr h="366592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直交クランプ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234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0.0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826066"/>
                  </a:ext>
                </a:extLst>
              </a:tr>
              <a:tr h="45255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メッシュネット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45㎝×60㎝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215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6.5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５枚入り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279.4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71768"/>
                  </a:ext>
                </a:extLst>
              </a:tr>
              <a:tr h="366592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　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1.0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１枚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1.0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733553"/>
                  </a:ext>
                </a:extLst>
              </a:tr>
              <a:tr h="45255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結束バンド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300㎜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432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2.7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１００本入り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11.7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71160"/>
                  </a:ext>
                </a:extLst>
              </a:tr>
              <a:tr h="570252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スリット鉢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高さ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(mm)158 </a:t>
                      </a:r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容量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(L)2.5 </a:t>
                      </a:r>
                      <a:b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</a:br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外径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(Φmm)180 </a:t>
                      </a:r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底径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(Φmm)145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492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0.2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１個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97.9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535836"/>
                  </a:ext>
                </a:extLst>
              </a:tr>
              <a:tr h="45255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ガーデンラック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約幅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66cm×</a:t>
                      </a:r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奥行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43.5cm×</a:t>
                      </a:r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高さ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17.5cm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216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3.2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１個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690.8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152489"/>
                  </a:ext>
                </a:extLst>
              </a:tr>
              <a:tr h="568057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トレイ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幅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W×</a:t>
                      </a:r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奥行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D×</a:t>
                      </a:r>
                      <a:r>
                        <a:rPr lang="ja-JP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高さ</a:t>
                      </a:r>
                      <a:r>
                        <a:rPr lang="en-US" altLang="ja-JP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H(mm)</a:t>
                      </a:r>
                      <a:r>
                        <a:rPr lang="en-US" altLang="ja-JP" sz="16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Yu Gothic" panose="020B0400000000000000" pitchFamily="50" charset="-128"/>
                        </a:rPr>
                        <a:t>445×325×70</a:t>
                      </a:r>
                      <a:endParaRPr lang="ja-JP" altLang="en-US" sz="16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Yu Gothic" panose="020B0400000000000000" pitchFamily="50" charset="-128"/>
                      </a:endParaRP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216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1.5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１個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331.6</a:t>
                      </a:r>
                    </a:p>
                  </a:txBody>
                  <a:tcPr marL="5765" marR="5765" marT="5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475790"/>
                  </a:ext>
                </a:extLst>
              </a:tr>
              <a:tr h="366592">
                <a:tc>
                  <a:txBody>
                    <a:bodyPr/>
                    <a:lstStyle/>
                    <a:p>
                      <a:pPr algn="l" fontAlgn="ctr"/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Yu Gothic" panose="020B0400000000000000" pitchFamily="50" charset="-128"/>
                        <a:ea typeface="Yu Gothic" panose="020B0400000000000000" pitchFamily="50" charset="-128"/>
                      </a:endParaRPr>
                    </a:p>
                  </a:txBody>
                  <a:tcPr marL="5765" marR="5765" marT="57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Yu Gothic" panose="020B0400000000000000" pitchFamily="50" charset="-128"/>
                        <a:ea typeface="Yu Gothic" panose="020B0400000000000000" pitchFamily="50" charset="-128"/>
                      </a:endParaRPr>
                    </a:p>
                  </a:txBody>
                  <a:tcPr marL="5765" marR="5765" marT="57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Yu Gothic" panose="020B0400000000000000" pitchFamily="50" charset="-128"/>
                        <a:ea typeface="Yu Gothic" panose="020B0400000000000000" pitchFamily="50" charset="-128"/>
                      </a:endParaRPr>
                    </a:p>
                  </a:txBody>
                  <a:tcPr marL="5765" marR="5765" marT="57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600" b="0" i="0" u="none" strike="noStrike">
                        <a:solidFill>
                          <a:srgbClr val="000000"/>
                        </a:solidFill>
                        <a:effectLst/>
                        <a:latin typeface="Yu Gothic" panose="020B0400000000000000" pitchFamily="50" charset="-128"/>
                        <a:ea typeface="Yu Gothic" panose="020B0400000000000000" pitchFamily="50" charset="-128"/>
                      </a:endParaRPr>
                    </a:p>
                  </a:txBody>
                  <a:tcPr marL="5765" marR="5765" marT="57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計</a:t>
                      </a:r>
                    </a:p>
                  </a:txBody>
                  <a:tcPr marL="5765" marR="5765" marT="57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1,412.3</a:t>
                      </a:r>
                    </a:p>
                  </a:txBody>
                  <a:tcPr marL="5765" marR="5765" marT="576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093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275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118AEA-E0EA-3932-E7D1-B410E74B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夏イチゴ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0AD21A-8BC3-DE26-7FBB-CF90A0C72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実験棟で生育調査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３～５月に定植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生育草勢や開花するかなどの調査をする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鈴あかねを予定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84426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479</TotalTime>
  <Words>844</Words>
  <Application>Microsoft Office PowerPoint</Application>
  <PresentationFormat>画面に合わせる (4:3)</PresentationFormat>
  <Paragraphs>327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5" baseType="lpstr">
      <vt:lpstr>ＭＳ Ｐ明朝</vt:lpstr>
      <vt:lpstr>ＭＳ ゴシック</vt:lpstr>
      <vt:lpstr>Yu Gothic</vt:lpstr>
      <vt:lpstr>Aptos</vt:lpstr>
      <vt:lpstr>Aptos Display</vt:lpstr>
      <vt:lpstr>Arial</vt:lpstr>
      <vt:lpstr>Office テーマ</vt:lpstr>
      <vt:lpstr>PowerPoint プレゼンテーション</vt:lpstr>
      <vt:lpstr>５９期　計画</vt:lpstr>
      <vt:lpstr>５８期：イチゴ結果まとめ</vt:lpstr>
      <vt:lpstr>５８期の結果と考察から</vt:lpstr>
      <vt:lpstr>５８期：品種間データ</vt:lpstr>
      <vt:lpstr>品種間データから考察</vt:lpstr>
      <vt:lpstr>品種間データ：収穫量</vt:lpstr>
      <vt:lpstr>月別データ（品種間収穫量㎏）</vt:lpstr>
      <vt:lpstr>月別データ（紅ほっぺ抜き）</vt:lpstr>
      <vt:lpstr>企業間データ</vt:lpstr>
      <vt:lpstr>データの分析結果</vt:lpstr>
      <vt:lpstr>企業が学ぶ作業</vt:lpstr>
      <vt:lpstr>考察</vt:lpstr>
      <vt:lpstr>多段栽培：安全性、定員増加</vt:lpstr>
      <vt:lpstr>多段栽培：安全性、定員増加</vt:lpstr>
      <vt:lpstr>多段栽培：多品種栽培</vt:lpstr>
      <vt:lpstr>備品費用</vt:lpstr>
      <vt:lpstr>夏イチゴ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松岡　徹平</dc:creator>
  <cp:lastModifiedBy>松岡　徹平</cp:lastModifiedBy>
  <cp:revision>64</cp:revision>
  <dcterms:created xsi:type="dcterms:W3CDTF">2025-07-18T23:31:38Z</dcterms:created>
  <dcterms:modified xsi:type="dcterms:W3CDTF">2025-07-23T08:51:26Z</dcterms:modified>
</cp:coreProperties>
</file>